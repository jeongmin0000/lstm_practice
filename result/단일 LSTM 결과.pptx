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515" r:id="rId3"/>
    <p:sldId id="484" r:id="rId4"/>
    <p:sldId id="482" r:id="rId5"/>
    <p:sldId id="500" r:id="rId6"/>
    <p:sldId id="499" r:id="rId7"/>
    <p:sldId id="492" r:id="rId8"/>
    <p:sldId id="487" r:id="rId9"/>
    <p:sldId id="491" r:id="rId10"/>
    <p:sldId id="488" r:id="rId11"/>
    <p:sldId id="490" r:id="rId12"/>
    <p:sldId id="494" r:id="rId13"/>
    <p:sldId id="497" r:id="rId14"/>
    <p:sldId id="512" r:id="rId15"/>
    <p:sldId id="523" r:id="rId16"/>
    <p:sldId id="524" r:id="rId17"/>
    <p:sldId id="525" r:id="rId18"/>
    <p:sldId id="503" r:id="rId19"/>
    <p:sldId id="513" r:id="rId20"/>
    <p:sldId id="521" r:id="rId21"/>
    <p:sldId id="526" r:id="rId22"/>
    <p:sldId id="527" r:id="rId23"/>
    <p:sldId id="506" r:id="rId24"/>
    <p:sldId id="514" r:id="rId25"/>
    <p:sldId id="522" r:id="rId26"/>
    <p:sldId id="528" r:id="rId27"/>
    <p:sldId id="50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367171"/>
            <a:ext cx="458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단일 </a:t>
            </a:r>
            <a:r>
              <a:rPr lang="en-US" altLang="ko-KR" sz="4400" b="1" dirty="0">
                <a:latin typeface="+mj-ea"/>
                <a:ea typeface="+mj-ea"/>
              </a:rPr>
              <a:t>LSTM </a:t>
            </a:r>
            <a:r>
              <a:rPr lang="ko-KR" altLang="en-US" sz="4400" b="1" dirty="0">
                <a:latin typeface="+mj-ea"/>
                <a:ea typeface="+mj-ea"/>
              </a:rPr>
              <a:t>모델 개발 결과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5655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1420</a:t>
            </a:r>
            <a:r>
              <a:rPr lang="ko-KR" altLang="en-US" sz="1600" dirty="0"/>
              <a:t>개 中 </a:t>
            </a:r>
            <a:r>
              <a:rPr lang="en-US" altLang="ko-KR" sz="1600" dirty="0"/>
              <a:t>1412</a:t>
            </a:r>
            <a:r>
              <a:rPr lang="ko-KR" altLang="en-US" sz="1600" dirty="0"/>
              <a:t>개 데이터 파일 학습에 사용 </a:t>
            </a:r>
            <a:r>
              <a:rPr lang="en-US" altLang="ko-KR" sz="1600" dirty="0"/>
              <a:t>( </a:t>
            </a:r>
            <a:r>
              <a:rPr lang="ko-KR" altLang="en-US" sz="1600" dirty="0"/>
              <a:t>결측 </a:t>
            </a:r>
            <a:r>
              <a:rPr lang="en-US" altLang="ko-KR" sz="1600" dirty="0"/>
              <a:t>5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검증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70% ( </a:t>
            </a:r>
            <a:r>
              <a:rPr lang="ko-KR" altLang="en-US" sz="900" b="1" dirty="0">
                <a:latin typeface="+mn-ea"/>
              </a:rPr>
              <a:t>학습 이벤트 순서 섞어서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20%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>
                <a:latin typeface="+mn-ea"/>
              </a:rPr>
              <a:t>나머지 </a:t>
            </a:r>
            <a:r>
              <a:rPr lang="en-US" altLang="ko-KR" sz="900" b="1" dirty="0">
                <a:latin typeface="+mn-ea"/>
              </a:rPr>
              <a:t>( 10% 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3A21F7-081A-4E1C-9226-0971BCE1E3B7}"/>
              </a:ext>
            </a:extLst>
          </p:cNvPr>
          <p:cNvSpPr txBox="1"/>
          <p:nvPr/>
        </p:nvSpPr>
        <p:spPr>
          <a:xfrm>
            <a:off x="8051800" y="126666"/>
            <a:ext cx="4013201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 / MAE / Huber / </a:t>
            </a:r>
            <a:r>
              <a:rPr lang="ko-KR" altLang="en-US" sz="900" b="1" dirty="0">
                <a:latin typeface="+mn-ea"/>
              </a:rPr>
              <a:t>피크에 가중치를 두는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	* ( Huber : </a:t>
            </a:r>
            <a:r>
              <a:rPr lang="ko-KR" altLang="en-US" sz="900" b="1" dirty="0">
                <a:latin typeface="+mn-ea"/>
              </a:rPr>
              <a:t>작은 오차는 </a:t>
            </a:r>
            <a:r>
              <a:rPr lang="en-US" altLang="ko-KR" sz="900" b="1" dirty="0">
                <a:latin typeface="+mn-ea"/>
              </a:rPr>
              <a:t>MSE</a:t>
            </a:r>
            <a:r>
              <a:rPr lang="ko-KR" altLang="en-US" sz="900" b="1" dirty="0">
                <a:latin typeface="+mn-ea"/>
              </a:rPr>
              <a:t>처럼 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큰 오차는 </a:t>
            </a:r>
            <a:r>
              <a:rPr lang="en-US" altLang="ko-KR" sz="900" b="1" dirty="0">
                <a:latin typeface="+mn-ea"/>
              </a:rPr>
              <a:t>MAE</a:t>
            </a:r>
            <a:r>
              <a:rPr lang="ko-KR" altLang="en-US" sz="900" b="1" dirty="0">
                <a:latin typeface="+mn-ea"/>
              </a:rPr>
              <a:t>처럼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	* ( MSE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 err="1">
                <a:latin typeface="+mn-ea"/>
              </a:rPr>
              <a:t>스케일된</a:t>
            </a:r>
            <a:r>
              <a:rPr lang="ko-KR" altLang="en-US" sz="900" b="1" dirty="0">
                <a:latin typeface="+mn-ea"/>
              </a:rPr>
              <a:t> 값이 </a:t>
            </a:r>
            <a:r>
              <a:rPr lang="en-US" altLang="ko-KR" sz="900" b="1" dirty="0">
                <a:latin typeface="+mn-ea"/>
              </a:rPr>
              <a:t>0.7 </a:t>
            </a:r>
            <a:r>
              <a:rPr lang="ko-KR" altLang="en-US" sz="900" b="1" dirty="0">
                <a:latin typeface="+mn-ea"/>
              </a:rPr>
              <a:t>이상이면 가중치를 </a:t>
            </a: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배</a:t>
            </a:r>
            <a:r>
              <a:rPr lang="en-US" altLang="ko-KR" sz="900" b="1" dirty="0">
                <a:latin typeface="+mn-ea"/>
              </a:rPr>
              <a:t> )</a:t>
            </a:r>
            <a:r>
              <a:rPr lang="ko-KR" altLang="en-US" sz="900" b="1" dirty="0">
                <a:latin typeface="+mn-ea"/>
              </a:rPr>
              <a:t> </a:t>
            </a:r>
            <a:endParaRPr lang="en-US" altLang="ko-KR" sz="9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0.0003 /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dropout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0.0 / 0.1 / 0.01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en-US" altLang="ko-KR" sz="900" b="1" dirty="0">
                <a:latin typeface="+mn-ea"/>
              </a:rPr>
              <a:t>   = 36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Dense = 1 / 12 / 36 (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번 처리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이벤트 순서 </a:t>
            </a:r>
            <a:r>
              <a:rPr lang="en-US" altLang="ko-KR" sz="900" b="1" dirty="0">
                <a:latin typeface="+mn-ea"/>
              </a:rPr>
              <a:t>shuffle</a:t>
            </a:r>
          </a:p>
        </p:txBody>
      </p:sp>
    </p:spTree>
    <p:extLst>
      <p:ext uri="{BB962C8B-B14F-4D97-AF65-F5344CB8AC3E}">
        <p14:creationId xmlns:p14="http://schemas.microsoft.com/office/powerpoint/2010/main" val="110825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3044279"/>
            <a:ext cx="4588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Dense 1</a:t>
            </a:r>
            <a:endParaRPr lang="ko-KR" altLang="en-US" sz="4400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7507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2196226" y="2767983"/>
            <a:ext cx="77995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dirty="0"/>
              <a:t>[Test: 2022 5152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.csv]  MSE=0.0492, MAE=0.2044, RMSE=0.2218, R2=-0.2399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[Test: 2023 63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.csv]  MSE=0.0902, MAE=0.2758, RMSE=0.3003, R2=0.6778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[Test: 2025 6061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.csv]  MSE=0.0436, MAE=0.1875, RMSE=0.2087, R2=0.5657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[Test: 2025 70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.csv]  MSE=0.0226, MAE=0.1237, RMSE=0.1503, R2=0.6794</a:t>
            </a:r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05B99-4C81-4CDC-B2BF-BD576B3C1603}"/>
              </a:ext>
            </a:extLst>
          </p:cNvPr>
          <p:cNvSpPr txBox="1"/>
          <p:nvPr/>
        </p:nvSpPr>
        <p:spPr>
          <a:xfrm>
            <a:off x="851637" y="784136"/>
            <a:ext cx="769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</a:rPr>
              <a:t>Dense 1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7646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3044279"/>
            <a:ext cx="4588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Dense 36</a:t>
            </a:r>
            <a:endParaRPr lang="ko-KR" altLang="en-US" sz="4400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6471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CF6868-3A2C-4EA2-AD0D-88BFFA8BF225}"/>
              </a:ext>
            </a:extLst>
          </p:cNvPr>
          <p:cNvSpPr txBox="1"/>
          <p:nvPr/>
        </p:nvSpPr>
        <p:spPr>
          <a:xfrm>
            <a:off x="2196226" y="2767983"/>
            <a:ext cx="77995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dirty="0"/>
              <a:t>[Test: 2022 5152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.csv]  MSE=0.1552, MAE=0.3414, RMSE=0.3939, R2=-2.9108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[Test: 2023 63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.csv]  MSE=0.8603, MAE=0.7644, RMSE=0.9275, R2=-2.0742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[Test: 2025 6061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.csv]  MSE=0.2553, MAE=0.4050, RMSE=0.5052, R2=-1.5445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[Test: 2025 70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.csv]  MSE=0.2323, MAE=0.4194, RMSE=0.4820, R2=-2.2948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A4CE0-5B65-4D28-B1A0-0B4EC6943069}"/>
              </a:ext>
            </a:extLst>
          </p:cNvPr>
          <p:cNvSpPr txBox="1"/>
          <p:nvPr/>
        </p:nvSpPr>
        <p:spPr>
          <a:xfrm>
            <a:off x="851637" y="784136"/>
            <a:ext cx="769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</a:rPr>
              <a:t>Dense  36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3503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091354" y="2705725"/>
            <a:ext cx="80092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chemeClr val="accent5"/>
                </a:solidFill>
                <a:latin typeface="+mj-ea"/>
              </a:rPr>
              <a:t>고정 </a:t>
            </a:r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: Dense 1</a:t>
            </a:r>
          </a:p>
          <a:p>
            <a:pPr algn="ctr"/>
            <a:r>
              <a:rPr lang="ko-KR" altLang="en-US" sz="4400" dirty="0">
                <a:solidFill>
                  <a:schemeClr val="accent5"/>
                </a:solidFill>
                <a:latin typeface="+mj-ea"/>
              </a:rPr>
              <a:t>조정 </a:t>
            </a:r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: learning rate , dropout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F4CA-F12C-4988-B377-12507BF38686}"/>
              </a:ext>
            </a:extLst>
          </p:cNvPr>
          <p:cNvSpPr txBox="1"/>
          <p:nvPr/>
        </p:nvSpPr>
        <p:spPr>
          <a:xfrm>
            <a:off x="8399021" y="326592"/>
            <a:ext cx="3894579" cy="2242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u="sng" dirty="0">
                <a:latin typeface="+mj-ea"/>
              </a:rPr>
              <a:t>learning rate = 3e-4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+mj-ea"/>
              </a:rPr>
              <a:t>“</a:t>
            </a:r>
            <a:r>
              <a:rPr lang="ko-KR" altLang="en-US" sz="1050" dirty="0">
                <a:latin typeface="+mj-ea"/>
              </a:rPr>
              <a:t>한 번에 크게 움직여서 빠르게 맞추는 성격”</a:t>
            </a:r>
            <a:endParaRPr lang="en-US" altLang="ko-KR" sz="105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latin typeface="+mj-ea"/>
              </a:rPr>
              <a:t>장점 </a:t>
            </a:r>
            <a:r>
              <a:rPr lang="en-US" altLang="ko-KR" sz="1050" dirty="0">
                <a:latin typeface="+mj-ea"/>
              </a:rPr>
              <a:t>: </a:t>
            </a:r>
            <a:r>
              <a:rPr lang="ko-KR" altLang="en-US" sz="1050" dirty="0">
                <a:latin typeface="+mj-ea"/>
              </a:rPr>
              <a:t>빠른 수렴 </a:t>
            </a:r>
            <a:r>
              <a:rPr lang="en-US" altLang="ko-KR" sz="1050" dirty="0">
                <a:latin typeface="+mj-ea"/>
              </a:rPr>
              <a:t>, </a:t>
            </a:r>
            <a:r>
              <a:rPr lang="ko-KR" altLang="en-US" sz="1050" dirty="0">
                <a:latin typeface="+mj-ea"/>
              </a:rPr>
              <a:t>급변</a:t>
            </a:r>
            <a:r>
              <a:rPr lang="en-US" altLang="ko-KR" sz="1050" dirty="0">
                <a:latin typeface="+mj-ea"/>
              </a:rPr>
              <a:t>/</a:t>
            </a:r>
            <a:r>
              <a:rPr lang="ko-KR" altLang="en-US" sz="1050" dirty="0">
                <a:latin typeface="+mj-ea"/>
              </a:rPr>
              <a:t>피크 반응 좋음</a:t>
            </a:r>
            <a:endParaRPr lang="en-US" altLang="ko-KR" sz="105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latin typeface="+mj-ea"/>
              </a:rPr>
              <a:t>단점 </a:t>
            </a:r>
            <a:r>
              <a:rPr lang="en-US" altLang="ko-KR" sz="1050" dirty="0">
                <a:latin typeface="+mj-ea"/>
              </a:rPr>
              <a:t>: loss </a:t>
            </a:r>
            <a:r>
              <a:rPr lang="ko-KR" altLang="en-US" sz="1050" dirty="0">
                <a:latin typeface="+mj-ea"/>
              </a:rPr>
              <a:t>설계</a:t>
            </a:r>
            <a:r>
              <a:rPr lang="en-US" altLang="ko-KR" sz="1050" dirty="0">
                <a:latin typeface="+mj-ea"/>
              </a:rPr>
              <a:t>, dropout</a:t>
            </a:r>
            <a:r>
              <a:rPr lang="ko-KR" altLang="en-US" sz="1050" dirty="0">
                <a:latin typeface="+mj-ea"/>
              </a:rPr>
              <a:t>에 민감 </a:t>
            </a:r>
            <a:r>
              <a:rPr lang="en-US" altLang="ko-KR" sz="1050" dirty="0">
                <a:latin typeface="+mj-ea"/>
              </a:rPr>
              <a:t>, </a:t>
            </a:r>
            <a:r>
              <a:rPr lang="ko-KR" altLang="en-US" sz="1050" dirty="0">
                <a:latin typeface="+mj-ea"/>
              </a:rPr>
              <a:t>잘못 걸리면 </a:t>
            </a:r>
            <a:r>
              <a:rPr lang="en-US" altLang="ko-KR" sz="1050" dirty="0">
                <a:latin typeface="+mj-ea"/>
              </a:rPr>
              <a:t>overshoot</a:t>
            </a:r>
          </a:p>
          <a:p>
            <a:pPr>
              <a:lnSpc>
                <a:spcPct val="150000"/>
              </a:lnSpc>
            </a:pPr>
            <a:endParaRPr lang="en-US" altLang="ko-KR" sz="105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050" u="sng" dirty="0">
                <a:latin typeface="+mj-ea"/>
              </a:rPr>
              <a:t>learning rate = 1e-4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+mj-ea"/>
              </a:rPr>
              <a:t>“</a:t>
            </a:r>
            <a:r>
              <a:rPr lang="ko-KR" altLang="en-US" sz="1050" dirty="0">
                <a:latin typeface="+mj-ea"/>
              </a:rPr>
              <a:t>조심스럽게 조금씩 다듬는 성격”</a:t>
            </a:r>
            <a:endParaRPr lang="en-US" altLang="ko-KR" sz="105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latin typeface="+mj-ea"/>
              </a:rPr>
              <a:t>장점 </a:t>
            </a:r>
            <a:r>
              <a:rPr lang="en-US" altLang="ko-KR" sz="1050" dirty="0">
                <a:latin typeface="+mj-ea"/>
              </a:rPr>
              <a:t>: </a:t>
            </a:r>
            <a:r>
              <a:rPr lang="ko-KR" altLang="en-US" sz="1050" dirty="0">
                <a:latin typeface="+mj-ea"/>
              </a:rPr>
              <a:t>일반화 안정 </a:t>
            </a:r>
            <a:r>
              <a:rPr lang="en-US" altLang="ko-KR" sz="1050" dirty="0">
                <a:latin typeface="+mj-ea"/>
              </a:rPr>
              <a:t>, </a:t>
            </a:r>
            <a:r>
              <a:rPr lang="ko-KR" altLang="en-US" sz="1050" dirty="0">
                <a:latin typeface="+mj-ea"/>
              </a:rPr>
              <a:t>재현성 좋음</a:t>
            </a:r>
            <a:endParaRPr lang="en-US" altLang="ko-KR" sz="105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latin typeface="+mj-ea"/>
              </a:rPr>
              <a:t>단점 </a:t>
            </a:r>
            <a:r>
              <a:rPr lang="en-US" altLang="ko-KR" sz="1050" dirty="0">
                <a:latin typeface="+mj-ea"/>
              </a:rPr>
              <a:t>: peak</a:t>
            </a:r>
            <a:r>
              <a:rPr lang="ko-KR" altLang="en-US" sz="1050" dirty="0">
                <a:latin typeface="+mj-ea"/>
              </a:rPr>
              <a:t>를 살짝 깎는 경향학습 오래 걸림</a:t>
            </a:r>
            <a:endParaRPr lang="en-US" altLang="ko-KR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2782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851637" y="784136"/>
            <a:ext cx="7699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</a:rPr>
              <a:t>Dense 1,</a:t>
            </a:r>
          </a:p>
          <a:p>
            <a:r>
              <a:rPr lang="en-US" altLang="ko-KR" dirty="0"/>
              <a:t>learning rate =3e-4, dropout=0.1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F6868-3A2C-4EA2-AD0D-88BFFA8BF225}"/>
              </a:ext>
            </a:extLst>
          </p:cNvPr>
          <p:cNvSpPr txBox="1"/>
          <p:nvPr/>
        </p:nvSpPr>
        <p:spPr>
          <a:xfrm>
            <a:off x="2111559" y="2767983"/>
            <a:ext cx="7799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dirty="0"/>
              <a:t>[ Test : 2022 5152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0.1065, MAE = 0.2893, RMSE = 0.3263, R2 = -1.6833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2023 63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0.1978, MAE = 0.4121, RMSE = 0.4447, R2 = 0.2932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6061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0.1321, MAE = 0.3195, RMSE = 0.3634, R2 = -0.3166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70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0.0231, MAE = 0.1318, RMSE = 0.1519, R2 = 0.6725</a:t>
            </a:r>
          </a:p>
        </p:txBody>
      </p:sp>
    </p:spTree>
    <p:extLst>
      <p:ext uri="{BB962C8B-B14F-4D97-AF65-F5344CB8AC3E}">
        <p14:creationId xmlns:p14="http://schemas.microsoft.com/office/powerpoint/2010/main" val="3277897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851637" y="784136"/>
            <a:ext cx="7699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</a:rPr>
              <a:t>Dense 1,</a:t>
            </a:r>
          </a:p>
          <a:p>
            <a:r>
              <a:rPr lang="en-US" altLang="ko-KR" dirty="0"/>
              <a:t>learning rate</a:t>
            </a:r>
            <a:r>
              <a:rPr lang="ko-KR" altLang="en-US" dirty="0"/>
              <a:t> </a:t>
            </a:r>
            <a:r>
              <a:rPr lang="en-US" altLang="ko-KR" dirty="0"/>
              <a:t>=3e-4, dropout=0.01</a:t>
            </a:r>
            <a:endParaRPr lang="fr-FR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F6868-3A2C-4EA2-AD0D-88BFFA8BF225}"/>
              </a:ext>
            </a:extLst>
          </p:cNvPr>
          <p:cNvSpPr txBox="1"/>
          <p:nvPr/>
        </p:nvSpPr>
        <p:spPr>
          <a:xfrm>
            <a:off x="2196226" y="2767983"/>
            <a:ext cx="7799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dirty="0"/>
              <a:t>[ Test : 2022 5152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0.0422, MAE = 0.1724, RMSE = 0.2054, R2 = -0.0633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2023 63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0.2386, MAE = 0.4074, RMSE = 0.4885, R2 = 0.1474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6061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0.0744, MAE = 0.2213, RMSE = 0.2727, R2 = 0.2586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70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0.0424, MAE = 0.1785, RMSE = 0.2058, R2 = 0.3991</a:t>
            </a:r>
          </a:p>
        </p:txBody>
      </p:sp>
    </p:spTree>
    <p:extLst>
      <p:ext uri="{BB962C8B-B14F-4D97-AF65-F5344CB8AC3E}">
        <p14:creationId xmlns:p14="http://schemas.microsoft.com/office/powerpoint/2010/main" val="209851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851637" y="784136"/>
            <a:ext cx="7699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</a:rPr>
              <a:t>Dense 1,</a:t>
            </a:r>
          </a:p>
          <a:p>
            <a:r>
              <a:rPr lang="en-US" altLang="ko-KR" dirty="0"/>
              <a:t>learning rate</a:t>
            </a:r>
            <a:r>
              <a:rPr lang="ko-KR" altLang="en-US" dirty="0"/>
              <a:t> </a:t>
            </a:r>
            <a:r>
              <a:rPr lang="en-US" altLang="ko-KR" dirty="0"/>
              <a:t>=3e-4, dropout=0.0</a:t>
            </a:r>
            <a:endParaRPr lang="fr-FR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F6868-3A2C-4EA2-AD0D-88BFFA8BF225}"/>
              </a:ext>
            </a:extLst>
          </p:cNvPr>
          <p:cNvSpPr txBox="1"/>
          <p:nvPr/>
        </p:nvSpPr>
        <p:spPr>
          <a:xfrm>
            <a:off x="2196226" y="2767983"/>
            <a:ext cx="7799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dirty="0"/>
              <a:t>[ Test : 2022 5152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0.0492, MAE = 0.2044, RMSE = 0.2218, R2 = -0.2399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2023 63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0.0902, MAE = 0.2758, RMSE = 0.3003, R2 = 0.6778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6061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0.0436, MAE = 0.1875, RMSE = 0.2087, R2 = 0.5657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70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0.0226, MAE = 0.1237, RMSE = 0.1503, R2 = 0.6794</a:t>
            </a:r>
          </a:p>
        </p:txBody>
      </p:sp>
    </p:spTree>
    <p:extLst>
      <p:ext uri="{BB962C8B-B14F-4D97-AF65-F5344CB8AC3E}">
        <p14:creationId xmlns:p14="http://schemas.microsoft.com/office/powerpoint/2010/main" val="2672757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851637" y="784136"/>
            <a:ext cx="7699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</a:rPr>
              <a:t>Dense 1,</a:t>
            </a:r>
          </a:p>
          <a:p>
            <a:r>
              <a:rPr lang="en-US" altLang="ko-KR" dirty="0"/>
              <a:t>learning rate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ko-KR" dirty="0">
                <a:latin typeface="Arial Unicode MS"/>
              </a:rPr>
              <a:t> 1e-4</a:t>
            </a:r>
            <a:r>
              <a:rPr lang="en-US" altLang="ko-KR" dirty="0"/>
              <a:t>, dropout=0.1</a:t>
            </a:r>
            <a:endParaRPr lang="fr-FR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F6868-3A2C-4EA2-AD0D-88BFFA8BF225}"/>
              </a:ext>
            </a:extLst>
          </p:cNvPr>
          <p:cNvSpPr txBox="1"/>
          <p:nvPr/>
        </p:nvSpPr>
        <p:spPr>
          <a:xfrm>
            <a:off x="2196226" y="2767983"/>
            <a:ext cx="7799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dirty="0"/>
              <a:t>[ Test : 2022 5152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0.0422, MAE = 0.1724, RMSE = 0.2054, R2 = -0.0633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2023 63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0.2386, MAE = 0.4074, RMSE = 0.4885, R2 = 0.1474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6061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0.0744, MAE = 0.2213, RMSE = 0.2727, R2 = 0.2586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70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0.0424, MAE = 0.1785, RMSE = 0.2058, R2 = 0.3991</a:t>
            </a:r>
          </a:p>
        </p:txBody>
      </p:sp>
    </p:spTree>
    <p:extLst>
      <p:ext uri="{BB962C8B-B14F-4D97-AF65-F5344CB8AC3E}">
        <p14:creationId xmlns:p14="http://schemas.microsoft.com/office/powerpoint/2010/main" val="335277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851637" y="784136"/>
            <a:ext cx="7699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</a:rPr>
              <a:t>Dense 1,</a:t>
            </a:r>
          </a:p>
          <a:p>
            <a:r>
              <a:rPr lang="en-US" altLang="ko-KR" dirty="0"/>
              <a:t>learning rate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ko-KR" dirty="0">
                <a:latin typeface="Arial Unicode MS"/>
              </a:rPr>
              <a:t> 1e-4</a:t>
            </a:r>
            <a:r>
              <a:rPr lang="en-US" altLang="ko-KR" dirty="0"/>
              <a:t>, dropout=0.0</a:t>
            </a:r>
            <a:endParaRPr lang="fr-FR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F6868-3A2C-4EA2-AD0D-88BFFA8BF225}"/>
              </a:ext>
            </a:extLst>
          </p:cNvPr>
          <p:cNvSpPr txBox="1"/>
          <p:nvPr/>
        </p:nvSpPr>
        <p:spPr>
          <a:xfrm>
            <a:off x="2196226" y="2767983"/>
            <a:ext cx="7799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dirty="0"/>
              <a:t>[ Test : 2022 5152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0.0715, MAE = 0.2518, RMSE = 0.2674, R2 = -0.8026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2023 63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0.1342, MAE = 0.3331, RMSE = 0.3664, R2 = 0.5203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6061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0.0459, MAE = 0.1924, RMSE = 0.2143, R2 = 0.5424</a:t>
            </a:r>
          </a:p>
          <a:p>
            <a:pPr latinLnBrk="1"/>
            <a:endParaRPr lang="en-US" altLang="ko-KR" sz="1200" dirty="0"/>
          </a:p>
          <a:p>
            <a:pPr latinLnBrk="1"/>
            <a:r>
              <a:rPr lang="en-US" altLang="ko-KR" sz="1200" dirty="0"/>
              <a:t>[ Test : 2025 70</a:t>
            </a:r>
            <a:r>
              <a:rPr lang="ko-KR" altLang="en-US" sz="1200" dirty="0"/>
              <a:t>번 강우사상</a:t>
            </a:r>
            <a:r>
              <a:rPr lang="en-US" altLang="ko-KR" sz="1200" dirty="0"/>
              <a:t>.csv ]</a:t>
            </a:r>
          </a:p>
          <a:p>
            <a:pPr latinLnBrk="1"/>
            <a:r>
              <a:rPr lang="en-US" altLang="ko-KR" sz="1200" dirty="0"/>
              <a:t> MSE = 0.0184, MAE = 0.1110, RMSE = 0.1356, R2 = 0.7392</a:t>
            </a:r>
          </a:p>
        </p:txBody>
      </p:sp>
    </p:spTree>
    <p:extLst>
      <p:ext uri="{BB962C8B-B14F-4D97-AF65-F5344CB8AC3E}">
        <p14:creationId xmlns:p14="http://schemas.microsoft.com/office/powerpoint/2010/main" val="102306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9B7B8D-A8AA-49FF-935C-D34014D934F6}"/>
              </a:ext>
            </a:extLst>
          </p:cNvPr>
          <p:cNvSpPr txBox="1"/>
          <p:nvPr/>
        </p:nvSpPr>
        <p:spPr>
          <a:xfrm>
            <a:off x="2091354" y="2367171"/>
            <a:ext cx="80092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Dense 1, </a:t>
            </a:r>
          </a:p>
          <a:p>
            <a:pPr algn="ctr"/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learning rate , dropout, </a:t>
            </a:r>
          </a:p>
          <a:p>
            <a:pPr algn="ctr"/>
            <a:r>
              <a:rPr lang="ko-KR" altLang="en-US" sz="4400" dirty="0">
                <a:solidFill>
                  <a:schemeClr val="accent5"/>
                </a:solidFill>
                <a:latin typeface="+mj-ea"/>
              </a:rPr>
              <a:t>학습 이벤트 파일 단위 </a:t>
            </a:r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shuffle</a:t>
            </a:r>
            <a:endParaRPr lang="ko-KR" altLang="en-US" sz="4400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01464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798F76-11EB-404B-81C2-EC1C238F7B4E}"/>
              </a:ext>
            </a:extLst>
          </p:cNvPr>
          <p:cNvSpPr txBox="1"/>
          <p:nvPr/>
        </p:nvSpPr>
        <p:spPr>
          <a:xfrm>
            <a:off x="7809626" y="1893377"/>
            <a:ext cx="3332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rgbClr val="FF0000"/>
                </a:solidFill>
              </a:rPr>
              <a:t>→ </a:t>
            </a:r>
            <a:r>
              <a:rPr lang="ko-KR" altLang="en-US" sz="1200" b="1" dirty="0">
                <a:solidFill>
                  <a:srgbClr val="FF0000"/>
                </a:solidFill>
              </a:rPr>
              <a:t>전체 평균은 좋지만</a:t>
            </a:r>
            <a:r>
              <a:rPr lang="en-US" altLang="ko-KR" sz="1200" dirty="0">
                <a:solidFill>
                  <a:srgbClr val="FF0000"/>
                </a:solidFill>
              </a:rPr>
              <a:t>, 250716 </a:t>
            </a:r>
            <a:r>
              <a:rPr lang="ko-KR" altLang="en-US" sz="1200" dirty="0">
                <a:solidFill>
                  <a:srgbClr val="FF0000"/>
                </a:solidFill>
              </a:rPr>
              <a:t>이 명확한 약점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FAD28-306D-493F-A29E-0AE4A1629EF6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Dense 1 ( X 36 ) , learning rate =3e-4, dropout=0.0,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학습 전에 </a:t>
            </a:r>
            <a:r>
              <a:rPr lang="en-US" altLang="ko-KR" sz="2000" b="1" dirty="0" err="1">
                <a:latin typeface="+mj-ea"/>
                <a:ea typeface="+mj-ea"/>
              </a:rPr>
              <a:t>train_events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  <a:r>
              <a:rPr lang="ko-KR" altLang="en-US" sz="2000" b="1" dirty="0">
                <a:latin typeface="+mj-ea"/>
                <a:ea typeface="+mj-ea"/>
              </a:rPr>
              <a:t>순서를 섞고</a:t>
            </a:r>
            <a:r>
              <a:rPr lang="en-US" altLang="ko-KR" sz="2000" b="1" dirty="0">
                <a:latin typeface="+mj-ea"/>
                <a:ea typeface="+mj-ea"/>
              </a:rPr>
              <a:t>(</a:t>
            </a:r>
            <a:r>
              <a:rPr lang="ko-KR" altLang="en-US" sz="2000" b="1" dirty="0">
                <a:latin typeface="+mj-ea"/>
                <a:ea typeface="+mj-ea"/>
              </a:rPr>
              <a:t>이벤트 단위</a:t>
            </a:r>
            <a:r>
              <a:rPr lang="en-US" altLang="ko-KR" sz="2000" b="1" dirty="0">
                <a:latin typeface="+mj-ea"/>
                <a:ea typeface="+mj-ea"/>
              </a:rPr>
              <a:t>) </a:t>
            </a:r>
            <a:r>
              <a:rPr lang="ko-KR" altLang="en-US" sz="2000" b="1" dirty="0">
                <a:latin typeface="+mj-ea"/>
                <a:ea typeface="+mj-ea"/>
              </a:rPr>
              <a:t>윈도우 생성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5558BE9-8140-4A1A-B051-9D40448BE3A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0.9379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0.0427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0.0496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0.1420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0.4562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0.0546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0.2336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0.8408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0.1060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29EA9C-F49E-4177-B65A-DBC058C9A4E3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69444BF-F0B7-4889-B147-6F0FD4C2D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128" y="4899412"/>
            <a:ext cx="3035115" cy="108396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A04DB59-C63A-41A7-B771-B58BE5574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7" y="4903065"/>
            <a:ext cx="3010771" cy="107527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F7C7827-FF0C-404A-BE1B-AE1C412F2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0" y="2527982"/>
            <a:ext cx="2993660" cy="106916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8896317-9ABC-422F-8CC7-0F1AF34A94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6" y="2543386"/>
            <a:ext cx="2977423" cy="106336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1210BF3-BD24-4CEB-A37B-22133D18AF85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C22114-3085-4525-B03D-FEFD32AE9725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430A5C-8F24-451F-AC56-9A2CD1616383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E349CF-854A-4EB4-A910-E40754915A7A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B8B52E-4DDD-40BE-9452-A4FC16AB29E3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2B67AB-71AD-408C-A384-70ECBAA44BF8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44490F-29A2-4E2F-8BCB-FFC031F4DA3E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액자 17">
            <a:extLst>
              <a:ext uri="{FF2B5EF4-FFF2-40B4-BE49-F238E27FC236}">
                <a16:creationId xmlns:a16="http://schemas.microsoft.com/office/drawing/2014/main" id="{C50E048C-1ECC-43A4-928D-0D0BBFB331C1}"/>
              </a:ext>
            </a:extLst>
          </p:cNvPr>
          <p:cNvSpPr/>
          <p:nvPr/>
        </p:nvSpPr>
        <p:spPr>
          <a:xfrm>
            <a:off x="554651" y="850612"/>
            <a:ext cx="7353216" cy="1042765"/>
          </a:xfrm>
          <a:prstGeom prst="frame">
            <a:avLst>
              <a:gd name="adj1" fmla="val 400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31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4CE1D1-FD62-4279-BDC1-93C37C76307F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Dense 1( X 36 ) , learning rate =3e-4, dropout=0.0,</a:t>
            </a:r>
          </a:p>
          <a:p>
            <a:r>
              <a:rPr lang="ko-KR" altLang="en-US" sz="2000" b="1" dirty="0">
                <a:latin typeface="+mj-ea"/>
              </a:rPr>
              <a:t>학습 전에 </a:t>
            </a:r>
            <a:r>
              <a:rPr lang="en-US" altLang="ko-KR" sz="2000" b="1" dirty="0" err="1">
                <a:latin typeface="+mj-ea"/>
              </a:rPr>
              <a:t>train_events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순서를 섞고</a:t>
            </a:r>
            <a:r>
              <a:rPr lang="en-US" altLang="ko-KR" sz="2000" b="1" dirty="0">
                <a:latin typeface="+mj-ea"/>
              </a:rPr>
              <a:t>(</a:t>
            </a:r>
            <a:r>
              <a:rPr lang="ko-KR" altLang="en-US" sz="2000" b="1" dirty="0">
                <a:latin typeface="+mj-ea"/>
              </a:rPr>
              <a:t>이벤트 단위</a:t>
            </a:r>
            <a:r>
              <a:rPr lang="en-US" altLang="ko-KR" sz="2000" b="1" dirty="0">
                <a:latin typeface="+mj-ea"/>
              </a:rPr>
              <a:t>) </a:t>
            </a:r>
            <a:r>
              <a:rPr lang="ko-KR" altLang="en-US" sz="2000" b="1" dirty="0">
                <a:latin typeface="+mj-ea"/>
              </a:rPr>
              <a:t>윈도우 생성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5A90E9E-093D-4B85-9B84-CF454E820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078369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0.8927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0.1010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0.1226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0.1942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0.4407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0.8509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0.1702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0.2275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EE85FD-3EC8-42BD-8CF3-D9A19F691D47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1BA0A4D-0681-4735-8D52-62C861621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129" y="4899412"/>
            <a:ext cx="3035112" cy="108396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A3B72D4-4032-4E79-92B5-9BE79F37A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8" y="4903065"/>
            <a:ext cx="3010769" cy="107527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DD51D06-70CF-40E4-AFD1-80B296E9E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1" y="2527982"/>
            <a:ext cx="2993658" cy="10691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8D45CB9-BDCF-4567-A296-8678E59D2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7" y="2543386"/>
            <a:ext cx="2977421" cy="106336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D4B0434-458F-418E-BA1B-2E06E297FEB1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F3FA57-3B0B-4BAD-AD29-7FAC57BE587B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0329AA-DAD9-4AB7-A511-C347EB817E98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FC3E2C-7335-4447-9CA4-8E83AB66010C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EA90F6-74B7-4389-86F6-81C4F00BF722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20482-A5A1-4806-B4B4-AE9554D41719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AACE57A-3BCF-4396-B7C1-FF1E14592627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액자 17">
            <a:extLst>
              <a:ext uri="{FF2B5EF4-FFF2-40B4-BE49-F238E27FC236}">
                <a16:creationId xmlns:a16="http://schemas.microsoft.com/office/drawing/2014/main" id="{AC2A249E-23C6-43CB-9537-E6433E74B7FA}"/>
              </a:ext>
            </a:extLst>
          </p:cNvPr>
          <p:cNvSpPr/>
          <p:nvPr/>
        </p:nvSpPr>
        <p:spPr>
          <a:xfrm>
            <a:off x="554651" y="850612"/>
            <a:ext cx="7353216" cy="1042765"/>
          </a:xfrm>
          <a:prstGeom prst="frame">
            <a:avLst>
              <a:gd name="adj1" fmla="val 400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FEBDCF-8B88-4B00-A033-F3F008195858}"/>
              </a:ext>
            </a:extLst>
          </p:cNvPr>
          <p:cNvSpPr txBox="1"/>
          <p:nvPr/>
        </p:nvSpPr>
        <p:spPr>
          <a:xfrm>
            <a:off x="7809626" y="1893377"/>
            <a:ext cx="3332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chemeClr val="accent5"/>
                </a:solidFill>
              </a:rPr>
              <a:t>→ </a:t>
            </a:r>
            <a:r>
              <a:rPr lang="ko-KR" altLang="en-US" sz="1200" b="1" dirty="0">
                <a:solidFill>
                  <a:schemeClr val="accent5"/>
                </a:solidFill>
              </a:rPr>
              <a:t>전체 평균은 좋지만 </a:t>
            </a:r>
            <a:r>
              <a:rPr lang="en-US" altLang="ko-KR" sz="1200" dirty="0">
                <a:solidFill>
                  <a:schemeClr val="accent5"/>
                </a:solidFill>
              </a:rPr>
              <a:t>, 250716 </a:t>
            </a:r>
            <a:r>
              <a:rPr lang="ko-KR" altLang="en-US" sz="1200" dirty="0">
                <a:solidFill>
                  <a:schemeClr val="accent5"/>
                </a:solidFill>
              </a:rPr>
              <a:t>이 명확한 약점</a:t>
            </a:r>
            <a:endParaRPr lang="en-US" altLang="ko-KR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391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9FAD28-306D-493F-A29E-0AE4A1629EF6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Dense 1 ( X 36 ) , learning rate =1e-4, dropout=0.0,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학습 전에 </a:t>
            </a:r>
            <a:r>
              <a:rPr lang="en-US" altLang="ko-KR" sz="2000" b="1" dirty="0" err="1">
                <a:latin typeface="+mj-ea"/>
                <a:ea typeface="+mj-ea"/>
              </a:rPr>
              <a:t>train_events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  <a:r>
              <a:rPr lang="ko-KR" altLang="en-US" sz="2000" b="1" dirty="0">
                <a:latin typeface="+mj-ea"/>
                <a:ea typeface="+mj-ea"/>
              </a:rPr>
              <a:t>순서를 섞고</a:t>
            </a:r>
            <a:r>
              <a:rPr lang="en-US" altLang="ko-KR" sz="2000" b="1" dirty="0">
                <a:latin typeface="+mj-ea"/>
                <a:ea typeface="+mj-ea"/>
              </a:rPr>
              <a:t>(</a:t>
            </a:r>
            <a:r>
              <a:rPr lang="ko-KR" altLang="en-US" sz="2000" b="1" dirty="0">
                <a:latin typeface="+mj-ea"/>
                <a:ea typeface="+mj-ea"/>
              </a:rPr>
              <a:t>이벤트 단위</a:t>
            </a:r>
            <a:r>
              <a:rPr lang="en-US" altLang="ko-KR" sz="2000" b="1" dirty="0">
                <a:latin typeface="+mj-ea"/>
                <a:ea typeface="+mj-ea"/>
              </a:rPr>
              <a:t>) </a:t>
            </a:r>
            <a:r>
              <a:rPr lang="ko-KR" altLang="en-US" sz="2000" b="1" dirty="0">
                <a:latin typeface="+mj-ea"/>
                <a:ea typeface="+mj-ea"/>
              </a:rPr>
              <a:t>윈도우 생성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5558BE9-8140-4A1A-B051-9D40448BE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758611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0.9438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0.0416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0.0472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0.1006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0.1472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0.4514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0.0550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0.1784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0.2346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0.8207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0.0753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0.1124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29EA9C-F49E-4177-B65A-DBC058C9A4E3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B8B52E-4DDD-40BE-9452-A4FC16AB29E3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2B67AB-71AD-408C-A384-70ECBAA44BF8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44490F-29A2-4E2F-8BCB-FFC031F4DA3E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42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9FAD28-306D-493F-A29E-0AE4A1629EF6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Dense 1 ( X 36 ) , learning rate =1e-4, dropout=0.1,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학습 전에 </a:t>
            </a:r>
            <a:r>
              <a:rPr lang="en-US" altLang="ko-KR" sz="2000" b="1" dirty="0" err="1">
                <a:latin typeface="+mj-ea"/>
                <a:ea typeface="+mj-ea"/>
              </a:rPr>
              <a:t>train_events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  <a:r>
              <a:rPr lang="ko-KR" altLang="en-US" sz="2000" b="1" dirty="0">
                <a:latin typeface="+mj-ea"/>
                <a:ea typeface="+mj-ea"/>
              </a:rPr>
              <a:t>순서를 섞고</a:t>
            </a:r>
            <a:r>
              <a:rPr lang="en-US" altLang="ko-KR" sz="2000" b="1" dirty="0">
                <a:latin typeface="+mj-ea"/>
                <a:ea typeface="+mj-ea"/>
              </a:rPr>
              <a:t>(</a:t>
            </a:r>
            <a:r>
              <a:rPr lang="ko-KR" altLang="en-US" sz="2000" b="1" dirty="0">
                <a:latin typeface="+mj-ea"/>
                <a:ea typeface="+mj-ea"/>
              </a:rPr>
              <a:t>이벤트 단위</a:t>
            </a:r>
            <a:r>
              <a:rPr lang="en-US" altLang="ko-KR" sz="2000" b="1" dirty="0">
                <a:latin typeface="+mj-ea"/>
                <a:ea typeface="+mj-ea"/>
              </a:rPr>
              <a:t>) </a:t>
            </a:r>
            <a:r>
              <a:rPr lang="ko-KR" altLang="en-US" sz="2000" b="1" dirty="0">
                <a:latin typeface="+mj-ea"/>
                <a:ea typeface="+mj-ea"/>
              </a:rPr>
              <a:t>윈도우 생성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5558BE9-8140-4A1A-B051-9D40448BE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838913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0.8642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0.0054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0.0560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0.0734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0.6672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0.0931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0.3052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0.4888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0.0513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0.2265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0.8472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0.1038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29EA9C-F49E-4177-B65A-DBC058C9A4E3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B8B52E-4DDD-40BE-9452-A4FC16AB29E3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2B67AB-71AD-408C-A384-70ECBAA44BF8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44490F-29A2-4E2F-8BCB-FFC031F4DA3E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917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9B7B8D-A8AA-49FF-935C-D34014D934F6}"/>
              </a:ext>
            </a:extLst>
          </p:cNvPr>
          <p:cNvSpPr txBox="1"/>
          <p:nvPr/>
        </p:nvSpPr>
        <p:spPr>
          <a:xfrm>
            <a:off x="2091354" y="2905780"/>
            <a:ext cx="800929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+ </a:t>
            </a:r>
            <a:r>
              <a:rPr lang="en-US" altLang="ko-KR" sz="4400" dirty="0" err="1">
                <a:solidFill>
                  <a:schemeClr val="accent5"/>
                </a:solidFill>
                <a:latin typeface="+mj-ea"/>
              </a:rPr>
              <a:t>loss_function</a:t>
            </a:r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 = Huber</a:t>
            </a:r>
          </a:p>
          <a:p>
            <a:pPr algn="ctr"/>
            <a:r>
              <a:rPr lang="en-US" altLang="ko-KR" dirty="0">
                <a:solidFill>
                  <a:schemeClr val="accent5"/>
                </a:solidFill>
                <a:latin typeface="+mj-ea"/>
              </a:rPr>
              <a:t>(</a:t>
            </a:r>
            <a:r>
              <a:rPr lang="ko-KR" altLang="en-US" dirty="0">
                <a:solidFill>
                  <a:schemeClr val="accent5"/>
                </a:solidFill>
                <a:latin typeface="+mj-ea"/>
              </a:rPr>
              <a:t>작은 오차는 </a:t>
            </a:r>
            <a:r>
              <a:rPr lang="en-US" altLang="ko-KR" dirty="0">
                <a:solidFill>
                  <a:schemeClr val="accent5"/>
                </a:solidFill>
                <a:latin typeface="+mj-ea"/>
              </a:rPr>
              <a:t>MSE</a:t>
            </a:r>
            <a:r>
              <a:rPr lang="ko-KR" altLang="en-US" dirty="0">
                <a:solidFill>
                  <a:schemeClr val="accent5"/>
                </a:solidFill>
                <a:latin typeface="+mj-ea"/>
              </a:rPr>
              <a:t>처럼</a:t>
            </a:r>
            <a:r>
              <a:rPr lang="en-US" altLang="ko-KR" dirty="0">
                <a:solidFill>
                  <a:schemeClr val="accent5"/>
                </a:solidFill>
                <a:latin typeface="+mj-ea"/>
              </a:rPr>
              <a:t>, </a:t>
            </a:r>
            <a:r>
              <a:rPr lang="ko-KR" altLang="en-US" dirty="0">
                <a:solidFill>
                  <a:schemeClr val="accent5"/>
                </a:solidFill>
                <a:latin typeface="+mj-ea"/>
              </a:rPr>
              <a:t>큰 오차는 </a:t>
            </a:r>
            <a:r>
              <a:rPr lang="en-US" altLang="ko-KR" dirty="0">
                <a:solidFill>
                  <a:schemeClr val="accent5"/>
                </a:solidFill>
                <a:latin typeface="+mj-ea"/>
              </a:rPr>
              <a:t>MAE</a:t>
            </a:r>
            <a:r>
              <a:rPr lang="ko-KR" altLang="en-US" dirty="0">
                <a:solidFill>
                  <a:schemeClr val="accent5"/>
                </a:solidFill>
                <a:latin typeface="+mj-ea"/>
              </a:rPr>
              <a:t>처럼 처리</a:t>
            </a:r>
            <a:r>
              <a:rPr lang="en-US" altLang="ko-KR" dirty="0">
                <a:solidFill>
                  <a:schemeClr val="accent5"/>
                </a:solidFill>
                <a:latin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5166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FA46CB-76F7-427C-8BF6-EBAC1BA892B1}"/>
              </a:ext>
            </a:extLst>
          </p:cNvPr>
          <p:cNvSpPr txBox="1"/>
          <p:nvPr/>
        </p:nvSpPr>
        <p:spPr>
          <a:xfrm>
            <a:off x="6798733" y="1591394"/>
            <a:ext cx="4360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rgbClr val="FF0000"/>
                </a:solidFill>
              </a:rPr>
              <a:t>→ 기본 대비 </a:t>
            </a:r>
            <a:r>
              <a:rPr lang="en-US" altLang="ko-KR" sz="1200" dirty="0">
                <a:solidFill>
                  <a:srgbClr val="FF0000"/>
                </a:solidFill>
              </a:rPr>
              <a:t>250716  </a:t>
            </a:r>
            <a:r>
              <a:rPr lang="ko-KR" altLang="en-US" sz="1200" b="1" dirty="0">
                <a:solidFill>
                  <a:srgbClr val="FF0000"/>
                </a:solidFill>
              </a:rPr>
              <a:t>만 소폭 개선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br>
              <a:rPr lang="en-US" altLang="ko-KR" sz="1200" dirty="0">
                <a:solidFill>
                  <a:srgbClr val="FF0000"/>
                </a:solidFill>
              </a:rPr>
            </a:br>
            <a:r>
              <a:rPr lang="en-US" altLang="ko-KR" sz="1200" dirty="0">
                <a:solidFill>
                  <a:srgbClr val="FF0000"/>
                </a:solidFill>
              </a:rPr>
              <a:t>→ </a:t>
            </a:r>
            <a:r>
              <a:rPr lang="ko-KR" altLang="en-US" sz="1200" dirty="0">
                <a:solidFill>
                  <a:srgbClr val="FF0000"/>
                </a:solidFill>
              </a:rPr>
              <a:t>나머지는 거의 동일</a:t>
            </a:r>
            <a:br>
              <a:rPr lang="ko-KR" altLang="en-US" sz="1200" dirty="0">
                <a:solidFill>
                  <a:srgbClr val="FF0000"/>
                </a:solidFill>
              </a:rPr>
            </a:br>
            <a:r>
              <a:rPr lang="ko-KR" altLang="en-US" sz="1200" dirty="0">
                <a:solidFill>
                  <a:srgbClr val="FF0000"/>
                </a:solidFill>
              </a:rPr>
              <a:t>→ </a:t>
            </a:r>
            <a:r>
              <a:rPr lang="ko-KR" altLang="en-US" sz="1200" b="1" dirty="0">
                <a:solidFill>
                  <a:srgbClr val="FF0000"/>
                </a:solidFill>
              </a:rPr>
              <a:t>“</a:t>
            </a:r>
            <a:r>
              <a:rPr lang="ko-KR" altLang="en-US" sz="1200" b="1" dirty="0" err="1">
                <a:solidFill>
                  <a:srgbClr val="FF0000"/>
                </a:solidFill>
              </a:rPr>
              <a:t>안정화”는</a:t>
            </a:r>
            <a:r>
              <a:rPr lang="ko-KR" altLang="en-US" sz="1200" b="1" dirty="0">
                <a:solidFill>
                  <a:srgbClr val="FF0000"/>
                </a:solidFill>
              </a:rPr>
              <a:t> 됐지만 방향성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피크</a:t>
            </a:r>
            <a:r>
              <a:rPr lang="en-US" altLang="ko-KR" sz="1200" b="1" dirty="0">
                <a:solidFill>
                  <a:srgbClr val="FF0000"/>
                </a:solidFill>
              </a:rPr>
              <a:t>/</a:t>
            </a:r>
            <a:r>
              <a:rPr lang="ko-KR" altLang="en-US" sz="1200" b="1" dirty="0">
                <a:solidFill>
                  <a:srgbClr val="FF0000"/>
                </a:solidFill>
              </a:rPr>
              <a:t>홍수구간 성능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r>
              <a:rPr lang="ko-KR" altLang="en-US" sz="1200" b="1" dirty="0">
                <a:solidFill>
                  <a:srgbClr val="FF0000"/>
                </a:solidFill>
              </a:rPr>
              <a:t> 개선은 약함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03A3D1-82B7-432C-89C0-3049E41E56D6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  <a:endParaRPr lang="ko-KR" altLang="en-US" sz="2000" b="1" dirty="0">
              <a:latin typeface="+mj-ea"/>
              <a:ea typeface="+mj-ea"/>
            </a:endParaRPr>
          </a:p>
          <a:p>
            <a:r>
              <a:rPr lang="en-US" altLang="ko-KR" sz="2000" b="1" dirty="0" err="1">
                <a:latin typeface="+mj-ea"/>
                <a:ea typeface="+mj-ea"/>
              </a:rPr>
              <a:t>loss_function</a:t>
            </a:r>
            <a:r>
              <a:rPr lang="en-US" altLang="ko-KR" sz="2000" b="1" dirty="0">
                <a:latin typeface="+mj-ea"/>
                <a:ea typeface="+mj-ea"/>
              </a:rPr>
              <a:t> = Huber ( delta=0.1 )</a:t>
            </a: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1A9C74D-3A02-4EE2-82EE-B9AA4467C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29067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0.9384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0.0429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0.0494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0.9284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0.1416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0.4649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0.2317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0.7937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0.0218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0.0945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B5CAE2-AC29-41AC-A619-17C47727B802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4A4973-F6B7-4D92-A3AE-B45C54F54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128" y="4899412"/>
            <a:ext cx="3035115" cy="108396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4EB2E6-6C84-4443-A701-408D49692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7" y="4903065"/>
            <a:ext cx="3010771" cy="10752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07A38DC-7471-4290-9CB3-75AF56D450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0" y="2527982"/>
            <a:ext cx="2993660" cy="10691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7BADDCF-F2CB-42B9-BFCD-B57C7BB60E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6" y="2543386"/>
            <a:ext cx="2977423" cy="10633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C22FE3-85CB-4877-A73C-53A7B1C736D8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46BEA9-7663-4C03-91B4-9DF6435B7DD7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2896C2-AB4D-41C5-B3F1-D4D3B4F8178F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20194E-EC73-470A-8CC4-F197503ACCB8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CB7A44-DB4F-453F-A69A-5CF832F234AF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F9692B-1271-46A5-9114-120FC8F1D393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7AECFB1-CD4C-4BB8-8B8D-2A726B9658CA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액자 25">
            <a:extLst>
              <a:ext uri="{FF2B5EF4-FFF2-40B4-BE49-F238E27FC236}">
                <a16:creationId xmlns:a16="http://schemas.microsoft.com/office/drawing/2014/main" id="{1CE89D70-BA88-469A-BA7B-DE6544AA0C8A}"/>
              </a:ext>
            </a:extLst>
          </p:cNvPr>
          <p:cNvSpPr/>
          <p:nvPr/>
        </p:nvSpPr>
        <p:spPr>
          <a:xfrm>
            <a:off x="622385" y="850612"/>
            <a:ext cx="4432215" cy="1079447"/>
          </a:xfrm>
          <a:prstGeom prst="frame">
            <a:avLst>
              <a:gd name="adj1" fmla="val 400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529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03A3D1-82B7-432C-89C0-3049E41E56D6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  <a:endParaRPr lang="ko-KR" altLang="en-US" sz="2000" b="1" dirty="0">
              <a:latin typeface="+mj-ea"/>
              <a:ea typeface="+mj-ea"/>
            </a:endParaRPr>
          </a:p>
          <a:p>
            <a:r>
              <a:rPr lang="en-US" altLang="ko-KR" sz="2000" b="1" dirty="0" err="1">
                <a:latin typeface="+mj-ea"/>
                <a:ea typeface="+mj-ea"/>
              </a:rPr>
              <a:t>loss_function</a:t>
            </a:r>
            <a:r>
              <a:rPr lang="en-US" altLang="ko-KR" sz="2000" b="1" dirty="0">
                <a:latin typeface="+mj-ea"/>
                <a:ea typeface="+mj-ea"/>
              </a:rPr>
              <a:t> = Huber ( delta=0.1 )</a:t>
            </a: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DC0CCD7-4E62-4816-BF15-4F91B402A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450300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0.8995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0.0981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0.1186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0.7741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0.2056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0.3429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0.4534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0.8689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0.2461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0.8555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0.0502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0.1670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0.2240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028F05E-833D-45EA-9D5E-A1BC5A2D221F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2B2187A-0442-4B41-AFF2-B832A8F6A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128" y="4899412"/>
            <a:ext cx="3035115" cy="10839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E7E3FF2-8D2A-4084-9892-7F11A1DEF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7" y="4903065"/>
            <a:ext cx="3010771" cy="10752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476D886-30CA-481A-A8FE-0FA6D150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0" y="2527982"/>
            <a:ext cx="2993660" cy="10691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E9E3AA0-4C6D-4E1A-BD9D-4D070EFE93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6" y="2543386"/>
            <a:ext cx="2977423" cy="10633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B9424B-88C2-4397-BB02-BD7F3261856D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309D74-B566-4C7F-830B-2E9F4AA79855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99C54F-5FA9-4E6F-94EA-A1562E3F7BC9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CBE09-0976-442A-98D7-E51751F3D375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06977A-78C4-469D-8F38-9F580657BCD4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7501C2-2D7E-40DC-AE1E-605AA93901FA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F53C93B-52D5-4718-B1D4-8F0F94D19660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52FF54-AAD4-4BE6-A732-08E37CAE533A}"/>
              </a:ext>
            </a:extLst>
          </p:cNvPr>
          <p:cNvSpPr txBox="1"/>
          <p:nvPr/>
        </p:nvSpPr>
        <p:spPr>
          <a:xfrm>
            <a:off x="6798733" y="1591394"/>
            <a:ext cx="4360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chemeClr val="accent5"/>
                </a:solidFill>
              </a:rPr>
              <a:t>→ 기본 대비 </a:t>
            </a:r>
            <a:r>
              <a:rPr lang="en-US" altLang="ko-KR" sz="1200" dirty="0">
                <a:solidFill>
                  <a:schemeClr val="accent5"/>
                </a:solidFill>
              </a:rPr>
              <a:t>250716  </a:t>
            </a:r>
            <a:r>
              <a:rPr lang="ko-KR" altLang="en-US" sz="1200" b="1" dirty="0">
                <a:solidFill>
                  <a:schemeClr val="accent5"/>
                </a:solidFill>
              </a:rPr>
              <a:t>만 </a:t>
            </a:r>
            <a:r>
              <a:rPr lang="en-US" altLang="ko-KR" sz="1200" b="1" dirty="0">
                <a:solidFill>
                  <a:schemeClr val="accent5"/>
                </a:solidFill>
              </a:rPr>
              <a:t>+ 0.0120 </a:t>
            </a:r>
            <a:r>
              <a:rPr lang="ko-KR" altLang="en-US" sz="1200" b="1" dirty="0">
                <a:solidFill>
                  <a:schemeClr val="accent5"/>
                </a:solidFill>
              </a:rPr>
              <a:t>개선 </a:t>
            </a:r>
            <a:r>
              <a:rPr lang="en-US" altLang="ko-KR" sz="1200" dirty="0">
                <a:solidFill>
                  <a:schemeClr val="accent5"/>
                </a:solidFill>
              </a:rPr>
              <a:t>( 0.4562 → 0.4682 )</a:t>
            </a:r>
            <a:br>
              <a:rPr lang="en-US" altLang="ko-KR" sz="1200" dirty="0">
                <a:solidFill>
                  <a:schemeClr val="accent5"/>
                </a:solidFill>
              </a:rPr>
            </a:br>
            <a:r>
              <a:rPr lang="en-US" altLang="ko-KR" sz="1200" dirty="0">
                <a:solidFill>
                  <a:schemeClr val="accent5"/>
                </a:solidFill>
              </a:rPr>
              <a:t>→ </a:t>
            </a:r>
            <a:r>
              <a:rPr lang="ko-KR" altLang="en-US" sz="1200" dirty="0">
                <a:solidFill>
                  <a:schemeClr val="accent5"/>
                </a:solidFill>
              </a:rPr>
              <a:t>나머지는 거의 동일</a:t>
            </a:r>
            <a:br>
              <a:rPr lang="ko-KR" altLang="en-US" sz="1200" dirty="0">
                <a:solidFill>
                  <a:schemeClr val="accent5"/>
                </a:solidFill>
              </a:rPr>
            </a:br>
            <a:r>
              <a:rPr lang="ko-KR" altLang="en-US" sz="1200" dirty="0">
                <a:solidFill>
                  <a:schemeClr val="accent5"/>
                </a:solidFill>
              </a:rPr>
              <a:t>→ </a:t>
            </a:r>
            <a:r>
              <a:rPr lang="ko-KR" altLang="en-US" sz="1200" b="1" dirty="0">
                <a:solidFill>
                  <a:schemeClr val="accent5"/>
                </a:solidFill>
              </a:rPr>
              <a:t>“</a:t>
            </a:r>
            <a:r>
              <a:rPr lang="ko-KR" altLang="en-US" sz="1200" b="1" dirty="0" err="1">
                <a:solidFill>
                  <a:schemeClr val="accent5"/>
                </a:solidFill>
              </a:rPr>
              <a:t>안정화”는</a:t>
            </a:r>
            <a:r>
              <a:rPr lang="ko-KR" altLang="en-US" sz="1200" b="1" dirty="0">
                <a:solidFill>
                  <a:schemeClr val="accent5"/>
                </a:solidFill>
              </a:rPr>
              <a:t> 됐지만 방향성</a:t>
            </a:r>
            <a:r>
              <a:rPr lang="en-US" altLang="ko-KR" sz="1200" b="1" dirty="0">
                <a:solidFill>
                  <a:schemeClr val="accent5"/>
                </a:solidFill>
              </a:rPr>
              <a:t>(</a:t>
            </a:r>
            <a:r>
              <a:rPr lang="ko-KR" altLang="en-US" sz="1200" b="1" dirty="0">
                <a:solidFill>
                  <a:schemeClr val="accent5"/>
                </a:solidFill>
              </a:rPr>
              <a:t>피크</a:t>
            </a:r>
            <a:r>
              <a:rPr lang="en-US" altLang="ko-KR" sz="1200" b="1" dirty="0">
                <a:solidFill>
                  <a:schemeClr val="accent5"/>
                </a:solidFill>
              </a:rPr>
              <a:t>/</a:t>
            </a:r>
            <a:r>
              <a:rPr lang="ko-KR" altLang="en-US" sz="1200" b="1" dirty="0">
                <a:solidFill>
                  <a:schemeClr val="accent5"/>
                </a:solidFill>
              </a:rPr>
              <a:t>홍수구간 성능</a:t>
            </a:r>
            <a:r>
              <a:rPr lang="en-US" altLang="ko-KR" sz="1200" b="1" dirty="0">
                <a:solidFill>
                  <a:schemeClr val="accent5"/>
                </a:solidFill>
              </a:rPr>
              <a:t>)</a:t>
            </a:r>
            <a:r>
              <a:rPr lang="ko-KR" altLang="en-US" sz="1200" b="1" dirty="0">
                <a:solidFill>
                  <a:schemeClr val="accent5"/>
                </a:solidFill>
              </a:rPr>
              <a:t> 개선은 약함</a:t>
            </a:r>
            <a:endParaRPr lang="en-US" altLang="ko-KR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319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224AEBD-6AC7-44CB-BFD5-2294685E39ED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  <a:endParaRPr lang="ko-KR" altLang="en-US" sz="2000" b="1" dirty="0">
              <a:latin typeface="+mj-ea"/>
              <a:ea typeface="+mj-ea"/>
            </a:endParaRPr>
          </a:p>
          <a:p>
            <a:r>
              <a:rPr lang="en-US" altLang="ko-KR" sz="2000" b="1" dirty="0" err="1">
                <a:latin typeface="+mj-ea"/>
                <a:ea typeface="+mj-ea"/>
              </a:rPr>
              <a:t>loss_function</a:t>
            </a:r>
            <a:r>
              <a:rPr lang="en-US" altLang="ko-KR" sz="2000" b="1" dirty="0">
                <a:latin typeface="+mj-ea"/>
                <a:ea typeface="+mj-ea"/>
              </a:rPr>
              <a:t> = Huber ( delta=0.1 ) + </a:t>
            </a:r>
            <a:r>
              <a:rPr lang="en-US" altLang="ko-KR" sz="2000" b="1" dirty="0" err="1">
                <a:latin typeface="+mj-ea"/>
                <a:ea typeface="+mj-ea"/>
              </a:rPr>
              <a:t>testdata</a:t>
            </a:r>
            <a:r>
              <a:rPr lang="ko-KR" altLang="en-US" sz="2000" b="1" dirty="0">
                <a:latin typeface="+mj-ea"/>
                <a:ea typeface="+mj-ea"/>
              </a:rPr>
              <a:t>증강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7EC487C-1521-4BFB-96A0-FB6BA58CB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659860"/>
              </p:ext>
            </p:extLst>
          </p:nvPr>
        </p:nvGraphicFramePr>
        <p:xfrm>
          <a:off x="7553155" y="457862"/>
          <a:ext cx="3814454" cy="60401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testdata_200803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0.6102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0.0256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0.1539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0.1600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0.0419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0.0487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0.0950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0.1472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-0.2411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0.0678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0.0920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0.4605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0.2326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2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0.8707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0.0758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463721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2ECC2A-7AE4-4E17-8983-186311F4F49D}"/>
              </a:ext>
            </a:extLst>
          </p:cNvPr>
          <p:cNvSpPr/>
          <p:nvPr/>
        </p:nvSpPr>
        <p:spPr>
          <a:xfrm>
            <a:off x="8993812" y="457861"/>
            <a:ext cx="2373798" cy="6040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B90692-2E78-467D-88A1-50D1980CF4FA}"/>
              </a:ext>
            </a:extLst>
          </p:cNvPr>
          <p:cNvSpPr txBox="1"/>
          <p:nvPr/>
        </p:nvSpPr>
        <p:spPr>
          <a:xfrm>
            <a:off x="6786113" y="330880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AEEBEA-49F2-4D2E-A9DE-69EA9EDE9F2B}"/>
              </a:ext>
            </a:extLst>
          </p:cNvPr>
          <p:cNvSpPr txBox="1"/>
          <p:nvPr/>
        </p:nvSpPr>
        <p:spPr>
          <a:xfrm>
            <a:off x="6786113" y="377668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B7ED1A4-F5CA-47B1-8F47-711E36615399}"/>
              </a:ext>
            </a:extLst>
          </p:cNvPr>
          <p:cNvCxnSpPr/>
          <p:nvPr/>
        </p:nvCxnSpPr>
        <p:spPr>
          <a:xfrm flipH="1">
            <a:off x="6752318" y="366502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490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5558BE9-8140-4A1A-B051-9D40448BE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196506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0.9248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0.0030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0.0417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0.0546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0.9282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0.1417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0.4247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0.0577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0.1812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0.2402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0.8453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0.1044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29EA9C-F49E-4177-B65A-DBC058C9A4E3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B8B52E-4DDD-40BE-9452-A4FC16AB29E3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2B67AB-71AD-408C-A384-70ECBAA44BF8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44490F-29A2-4E2F-8BCB-FFC031F4DA3E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24AEBD-6AC7-44CB-BFD5-2294685E39ED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  <a:endParaRPr lang="ko-KR" altLang="en-US" sz="2000" b="1" dirty="0">
              <a:latin typeface="+mj-ea"/>
              <a:ea typeface="+mj-ea"/>
            </a:endParaRPr>
          </a:p>
          <a:p>
            <a:r>
              <a:rPr lang="en-US" altLang="ko-KR" sz="2000" b="1" dirty="0" err="1">
                <a:latin typeface="+mj-ea"/>
                <a:ea typeface="+mj-ea"/>
              </a:rPr>
              <a:t>loss_function</a:t>
            </a:r>
            <a:r>
              <a:rPr lang="en-US" altLang="ko-KR" sz="2000" b="1" dirty="0">
                <a:latin typeface="+mj-ea"/>
                <a:ea typeface="+mj-ea"/>
              </a:rPr>
              <a:t> = Huber ( delta=0.01 ) + </a:t>
            </a:r>
            <a:r>
              <a:rPr lang="en-US" altLang="ko-KR" sz="2000" b="1" dirty="0" err="1">
                <a:latin typeface="+mj-ea"/>
                <a:ea typeface="+mj-ea"/>
              </a:rPr>
              <a:t>testdata</a:t>
            </a:r>
            <a:r>
              <a:rPr lang="ko-KR" altLang="en-US" sz="2000" b="1" dirty="0">
                <a:latin typeface="+mj-ea"/>
                <a:ea typeface="+mj-ea"/>
              </a:rPr>
              <a:t>증강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40949C3-201B-43BF-AC0D-98517F208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143825"/>
              </p:ext>
            </p:extLst>
          </p:nvPr>
        </p:nvGraphicFramePr>
        <p:xfrm>
          <a:off x="7553155" y="457862"/>
          <a:ext cx="3814454" cy="60401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testdata_200803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0.6767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0.1386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0.1457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0.9320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0.0394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0.0520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0.9202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0.1000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0.1494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-0.4019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0.0770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0.0978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0.4209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0.0581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0.2410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2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0.1047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463721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0BF9E0-ACE0-4E24-AE4E-AB1F7CEA53CA}"/>
              </a:ext>
            </a:extLst>
          </p:cNvPr>
          <p:cNvSpPr/>
          <p:nvPr/>
        </p:nvSpPr>
        <p:spPr>
          <a:xfrm>
            <a:off x="8993812" y="457861"/>
            <a:ext cx="2373798" cy="6040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E6D8B7-92FA-433F-B9DD-5F96F54B67F7}"/>
              </a:ext>
            </a:extLst>
          </p:cNvPr>
          <p:cNvSpPr txBox="1"/>
          <p:nvPr/>
        </p:nvSpPr>
        <p:spPr>
          <a:xfrm>
            <a:off x="6786113" y="330880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3B72FA-7D5C-45ED-B580-AF34D8AC30A2}"/>
              </a:ext>
            </a:extLst>
          </p:cNvPr>
          <p:cNvSpPr txBox="1"/>
          <p:nvPr/>
        </p:nvSpPr>
        <p:spPr>
          <a:xfrm>
            <a:off x="6786113" y="377668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972DC4B-EF19-4512-BA8E-9662E3835550}"/>
              </a:ext>
            </a:extLst>
          </p:cNvPr>
          <p:cNvCxnSpPr/>
          <p:nvPr/>
        </p:nvCxnSpPr>
        <p:spPr>
          <a:xfrm flipH="1">
            <a:off x="6752318" y="366502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494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9B7B8D-A8AA-49FF-935C-D34014D934F6}"/>
              </a:ext>
            </a:extLst>
          </p:cNvPr>
          <p:cNvSpPr txBox="1"/>
          <p:nvPr/>
        </p:nvSpPr>
        <p:spPr>
          <a:xfrm>
            <a:off x="2091354" y="2582614"/>
            <a:ext cx="80092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+ </a:t>
            </a:r>
            <a:r>
              <a:rPr lang="en-US" altLang="ko-KR" sz="4400" dirty="0" err="1">
                <a:solidFill>
                  <a:schemeClr val="accent5"/>
                </a:solidFill>
                <a:latin typeface="+mj-ea"/>
              </a:rPr>
              <a:t>loss_function</a:t>
            </a:r>
            <a:r>
              <a:rPr lang="en-US" altLang="ko-KR" sz="4400" dirty="0">
                <a:solidFill>
                  <a:schemeClr val="accent5"/>
                </a:solidFill>
                <a:latin typeface="+mj-ea"/>
              </a:rPr>
              <a:t> = </a:t>
            </a:r>
          </a:p>
          <a:p>
            <a:pPr algn="ctr"/>
            <a:r>
              <a:rPr lang="ko-KR" altLang="en-US" sz="4400" dirty="0">
                <a:solidFill>
                  <a:schemeClr val="accent5"/>
                </a:solidFill>
                <a:latin typeface="+mj-ea"/>
              </a:rPr>
              <a:t>큰 수위 구간에 가중치</a:t>
            </a:r>
            <a:endParaRPr lang="en-US" altLang="ko-KR" sz="4400" dirty="0">
              <a:solidFill>
                <a:schemeClr val="accent5"/>
              </a:solidFill>
              <a:latin typeface="+mj-ea"/>
            </a:endParaRPr>
          </a:p>
          <a:p>
            <a:pPr algn="ctr"/>
            <a:r>
              <a:rPr lang="en-US" altLang="ko-KR" sz="1600" dirty="0">
                <a:solidFill>
                  <a:schemeClr val="accent5"/>
                </a:solidFill>
                <a:latin typeface="+mj-ea"/>
              </a:rPr>
              <a:t>(</a:t>
            </a:r>
            <a:r>
              <a:rPr lang="ko-KR" altLang="en-US" sz="1600" dirty="0">
                <a:solidFill>
                  <a:schemeClr val="accent5"/>
                </a:solidFill>
                <a:latin typeface="+mj-ea"/>
              </a:rPr>
              <a:t>특정 구간만 과소추정</a:t>
            </a:r>
            <a:r>
              <a:rPr lang="en-US" altLang="ko-KR" sz="1600" dirty="0">
                <a:solidFill>
                  <a:schemeClr val="accent5"/>
                </a:solidFill>
                <a:latin typeface="+mj-ea"/>
              </a:rPr>
              <a:t>/ </a:t>
            </a:r>
            <a:r>
              <a:rPr lang="ko-KR" altLang="en-US" sz="1600" dirty="0">
                <a:solidFill>
                  <a:schemeClr val="accent5"/>
                </a:solidFill>
                <a:latin typeface="+mj-ea"/>
              </a:rPr>
              <a:t>과대적합 을 잡을 때 가장 직관적</a:t>
            </a:r>
            <a:r>
              <a:rPr lang="en-US" altLang="ko-KR" sz="1600" dirty="0">
                <a:solidFill>
                  <a:schemeClr val="accent5"/>
                </a:solidFill>
                <a:latin typeface="+mj-ea"/>
              </a:rPr>
              <a:t>)</a:t>
            </a:r>
            <a:endParaRPr lang="ko-KR" altLang="en-US" sz="1600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15163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4CE1D1-FD62-4279-BDC1-93C37C76307F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</a:p>
          <a:p>
            <a:r>
              <a:rPr lang="ko-KR" altLang="en-US" sz="2000" b="1" dirty="0">
                <a:latin typeface="+mj-ea"/>
              </a:rPr>
              <a:t>고수위 구간에 가중치를 더 주는 </a:t>
            </a:r>
            <a:r>
              <a:rPr lang="en-US" altLang="ko-KR" sz="2000" b="1" dirty="0">
                <a:latin typeface="+mj-ea"/>
              </a:rPr>
              <a:t>MSE </a:t>
            </a: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B0E3FF3-343E-4FB6-B62C-F61CDF35C1C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0.9442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0.0415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0.0471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0.1482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0.4650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0.2317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0.8604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0.0992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0C16F4-39ED-4D0C-9A56-3C9A66922F5E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ADAC1E-A18E-421B-B565-8812C1F20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028" y="4899412"/>
            <a:ext cx="3025313" cy="108396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27CD13E-2201-4277-BED0-678455B5F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8" y="4903065"/>
            <a:ext cx="3010769" cy="10752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4E6D24B-D6D5-4064-905A-0B13D7751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1" y="2527982"/>
            <a:ext cx="2993658" cy="10691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CB906D4-CD1E-4197-B0C7-EFD0B7599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7" y="2543386"/>
            <a:ext cx="2977421" cy="10633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DF7D060-FCA6-43AD-9DAF-586B02F5B8CC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B96AE5-7BD2-4D86-AE12-E881C7327688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386943-4A80-4A10-9CE3-C293643732FA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A6320D-F449-477D-A268-B6910E2E32EF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FC46FD-B0E1-4361-891F-562715785F4C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4B724D-F149-43D5-8C8C-4EE8E0768DF4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0C7C6BB-947A-4FC6-9D44-5EEC0C9C1340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액자 25">
            <a:extLst>
              <a:ext uri="{FF2B5EF4-FFF2-40B4-BE49-F238E27FC236}">
                <a16:creationId xmlns:a16="http://schemas.microsoft.com/office/drawing/2014/main" id="{498FBD5F-3246-4AC9-B430-10476D932343}"/>
              </a:ext>
            </a:extLst>
          </p:cNvPr>
          <p:cNvSpPr/>
          <p:nvPr/>
        </p:nvSpPr>
        <p:spPr>
          <a:xfrm>
            <a:off x="622386" y="850612"/>
            <a:ext cx="4457614" cy="1079447"/>
          </a:xfrm>
          <a:prstGeom prst="frame">
            <a:avLst>
              <a:gd name="adj1" fmla="val 400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5C444B-52FA-4F69-B7F8-E19581F7BAB6}"/>
              </a:ext>
            </a:extLst>
          </p:cNvPr>
          <p:cNvSpPr txBox="1"/>
          <p:nvPr/>
        </p:nvSpPr>
        <p:spPr>
          <a:xfrm>
            <a:off x="7826559" y="1422698"/>
            <a:ext cx="3332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rgbClr val="FF0000"/>
                </a:solidFill>
              </a:rPr>
              <a:t>→  최고 </a:t>
            </a:r>
            <a:r>
              <a:rPr lang="en-US" altLang="ko-KR" sz="1200" dirty="0">
                <a:solidFill>
                  <a:srgbClr val="FF0000"/>
                </a:solidFill>
              </a:rPr>
              <a:t>R2 ( 220712 , 250814 )</a:t>
            </a:r>
            <a:br>
              <a:rPr lang="en-US" altLang="ko-KR" sz="1200" dirty="0">
                <a:solidFill>
                  <a:srgbClr val="FF0000"/>
                </a:solidFill>
              </a:rPr>
            </a:br>
            <a:r>
              <a:rPr lang="en-US" altLang="ko-KR" sz="1200" dirty="0">
                <a:solidFill>
                  <a:srgbClr val="FF0000"/>
                </a:solidFill>
              </a:rPr>
              <a:t>→  </a:t>
            </a:r>
            <a:r>
              <a:rPr lang="ko-KR" altLang="en-US" sz="1200" dirty="0">
                <a:solidFill>
                  <a:srgbClr val="FF0000"/>
                </a:solidFill>
              </a:rPr>
              <a:t>피크 성능 가장 좋음</a:t>
            </a:r>
            <a:br>
              <a:rPr lang="ko-KR" altLang="en-US" sz="1200" dirty="0">
                <a:solidFill>
                  <a:srgbClr val="FF0000"/>
                </a:solidFill>
              </a:rPr>
            </a:br>
            <a:r>
              <a:rPr lang="ko-KR" altLang="en-US" sz="1200" dirty="0">
                <a:solidFill>
                  <a:srgbClr val="FF0000"/>
                </a:solidFill>
              </a:rPr>
              <a:t>→ </a:t>
            </a:r>
            <a:r>
              <a:rPr lang="en-US" altLang="ko-KR" sz="1200" dirty="0">
                <a:solidFill>
                  <a:srgbClr val="FF0000"/>
                </a:solidFill>
              </a:rPr>
              <a:t>250716 </a:t>
            </a:r>
            <a:r>
              <a:rPr lang="ko-KR" altLang="en-US" sz="1200" dirty="0">
                <a:solidFill>
                  <a:srgbClr val="FF0000"/>
                </a:solidFill>
              </a:rPr>
              <a:t>번은 아직 약점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295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4CE1D1-FD62-4279-BDC1-93C37C76307F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</a:p>
          <a:p>
            <a:r>
              <a:rPr lang="ko-KR" altLang="en-US" sz="2000" b="1" dirty="0">
                <a:latin typeface="+mj-ea"/>
              </a:rPr>
              <a:t>고수위 구간에 가중치를 더 주는 </a:t>
            </a:r>
            <a:r>
              <a:rPr lang="en-US" altLang="ko-KR" sz="2000" b="1" dirty="0">
                <a:latin typeface="+mj-ea"/>
              </a:rPr>
              <a:t>MSE </a:t>
            </a: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5A90E9E-093D-4B85-9B84-CF454E820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72529"/>
              </p:ext>
            </p:extLst>
          </p:nvPr>
        </p:nvGraphicFramePr>
        <p:xfrm>
          <a:off x="960744" y="2188770"/>
          <a:ext cx="3814454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0.9121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0.0924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0.1109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0.7603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0.2182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0.3618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0.4671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0.8780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0.2373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0.8497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0.2284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EE85FD-3EC8-42BD-8CF3-D9A19F691D47}"/>
              </a:ext>
            </a:extLst>
          </p:cNvPr>
          <p:cNvSpPr/>
          <p:nvPr/>
        </p:nvSpPr>
        <p:spPr>
          <a:xfrm>
            <a:off x="2401401" y="2188770"/>
            <a:ext cx="2373798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1BA0A4D-0681-4735-8D52-62C861621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028" y="4899412"/>
            <a:ext cx="3025313" cy="108396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A3B72D4-4032-4E79-92B5-9BE79F37A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58" y="4903065"/>
            <a:ext cx="3010769" cy="107527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DD51D06-70CF-40E4-AFD1-80B296E9E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641" y="2527982"/>
            <a:ext cx="2993658" cy="10691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8D45CB9-BDCF-4567-A296-8678E59D2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117" y="2543386"/>
            <a:ext cx="2977421" cy="106336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D4B0434-458F-418E-BA1B-2E06E297FEB1}"/>
              </a:ext>
            </a:extLst>
          </p:cNvPr>
          <p:cNvSpPr txBox="1"/>
          <p:nvPr/>
        </p:nvSpPr>
        <p:spPr>
          <a:xfrm>
            <a:off x="6209476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F3FA57-3B0B-4BAD-AD29-7FAC57BE587B}"/>
              </a:ext>
            </a:extLst>
          </p:cNvPr>
          <p:cNvSpPr txBox="1"/>
          <p:nvPr/>
        </p:nvSpPr>
        <p:spPr>
          <a:xfrm>
            <a:off x="9357618" y="3904493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0329AA-DAD9-4AB7-A511-C347EB817E98}"/>
              </a:ext>
            </a:extLst>
          </p:cNvPr>
          <p:cNvSpPr txBox="1"/>
          <p:nvPr/>
        </p:nvSpPr>
        <p:spPr>
          <a:xfrm>
            <a:off x="6209476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FC3E2C-7335-4447-9CA4-8E83AB66010C}"/>
              </a:ext>
            </a:extLst>
          </p:cNvPr>
          <p:cNvSpPr txBox="1"/>
          <p:nvPr/>
        </p:nvSpPr>
        <p:spPr>
          <a:xfrm>
            <a:off x="9365833" y="6339130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EA90F6-74B7-4389-86F6-81C4F00BF722}"/>
              </a:ext>
            </a:extLst>
          </p:cNvPr>
          <p:cNvSpPr txBox="1"/>
          <p:nvPr/>
        </p:nvSpPr>
        <p:spPr>
          <a:xfrm>
            <a:off x="193701" y="409144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20482-A5A1-4806-B4B4-AE9554D41719}"/>
              </a:ext>
            </a:extLst>
          </p:cNvPr>
          <p:cNvSpPr txBox="1"/>
          <p:nvPr/>
        </p:nvSpPr>
        <p:spPr>
          <a:xfrm>
            <a:off x="193701" y="455932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AACE57A-3BCF-4396-B7C1-FF1E14592627}"/>
              </a:ext>
            </a:extLst>
          </p:cNvPr>
          <p:cNvCxnSpPr/>
          <p:nvPr/>
        </p:nvCxnSpPr>
        <p:spPr>
          <a:xfrm flipH="1">
            <a:off x="159906" y="444766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액자 15">
            <a:extLst>
              <a:ext uri="{FF2B5EF4-FFF2-40B4-BE49-F238E27FC236}">
                <a16:creationId xmlns:a16="http://schemas.microsoft.com/office/drawing/2014/main" id="{D8029489-E95C-4AF0-88DE-0E1366E2B02E}"/>
              </a:ext>
            </a:extLst>
          </p:cNvPr>
          <p:cNvSpPr/>
          <p:nvPr/>
        </p:nvSpPr>
        <p:spPr>
          <a:xfrm>
            <a:off x="622385" y="850612"/>
            <a:ext cx="4466081" cy="1079447"/>
          </a:xfrm>
          <a:prstGeom prst="frame">
            <a:avLst>
              <a:gd name="adj1" fmla="val 400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60434-DD39-4841-878A-380C7A1A93C3}"/>
              </a:ext>
            </a:extLst>
          </p:cNvPr>
          <p:cNvSpPr txBox="1"/>
          <p:nvPr/>
        </p:nvSpPr>
        <p:spPr>
          <a:xfrm>
            <a:off x="7826559" y="1422698"/>
            <a:ext cx="3332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dirty="0">
                <a:solidFill>
                  <a:schemeClr val="accent5"/>
                </a:solidFill>
              </a:rPr>
              <a:t>→  최고 </a:t>
            </a:r>
            <a:r>
              <a:rPr lang="en-US" altLang="ko-KR" sz="1200" dirty="0">
                <a:solidFill>
                  <a:schemeClr val="accent5"/>
                </a:solidFill>
              </a:rPr>
              <a:t>R2 ( 220712 , 250814 )</a:t>
            </a:r>
            <a:br>
              <a:rPr lang="ko-KR" altLang="en-US" sz="1200" dirty="0">
                <a:solidFill>
                  <a:schemeClr val="accent5"/>
                </a:solidFill>
              </a:rPr>
            </a:br>
            <a:r>
              <a:rPr lang="ko-KR" altLang="en-US" sz="1200" dirty="0">
                <a:solidFill>
                  <a:schemeClr val="accent5"/>
                </a:solidFill>
              </a:rPr>
              <a:t>→ </a:t>
            </a:r>
            <a:r>
              <a:rPr lang="en-US" altLang="ko-KR" sz="1200" dirty="0">
                <a:solidFill>
                  <a:schemeClr val="accent5"/>
                </a:solidFill>
              </a:rPr>
              <a:t>250814 </a:t>
            </a:r>
            <a:r>
              <a:rPr lang="ko-KR" altLang="en-US" sz="1200" dirty="0">
                <a:solidFill>
                  <a:schemeClr val="accent5"/>
                </a:solidFill>
              </a:rPr>
              <a:t> 개선 폭이 가장 좋음</a:t>
            </a:r>
            <a:br>
              <a:rPr lang="ko-KR" altLang="en-US" sz="1200" dirty="0">
                <a:solidFill>
                  <a:schemeClr val="accent5"/>
                </a:solidFill>
              </a:rPr>
            </a:br>
            <a:r>
              <a:rPr lang="ko-KR" altLang="en-US" sz="1200" dirty="0">
                <a:solidFill>
                  <a:schemeClr val="accent5"/>
                </a:solidFill>
              </a:rPr>
              <a:t>→ </a:t>
            </a:r>
            <a:r>
              <a:rPr lang="en-US" altLang="ko-KR" sz="1200" dirty="0">
                <a:solidFill>
                  <a:schemeClr val="accent5"/>
                </a:solidFill>
              </a:rPr>
              <a:t>250716 </a:t>
            </a:r>
            <a:r>
              <a:rPr lang="ko-KR" altLang="en-US" sz="1200" dirty="0">
                <a:solidFill>
                  <a:schemeClr val="accent5"/>
                </a:solidFill>
              </a:rPr>
              <a:t>은 아직 약점</a:t>
            </a:r>
            <a:endParaRPr lang="en-US" altLang="ko-KR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647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224AEBD-6AC7-44CB-BFD5-2294685E39ED}"/>
              </a:ext>
            </a:extLst>
          </p:cNvPr>
          <p:cNvSpPr txBox="1"/>
          <p:nvPr/>
        </p:nvSpPr>
        <p:spPr>
          <a:xfrm>
            <a:off x="622385" y="850612"/>
            <a:ext cx="7471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+ </a:t>
            </a:r>
            <a:endParaRPr lang="ko-KR" altLang="en-US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</a:rPr>
              <a:t>큰 수위 구간에 가중치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  <a:ea typeface="+mj-ea"/>
              </a:rPr>
              <a:t>+ </a:t>
            </a:r>
            <a:r>
              <a:rPr lang="en-US" altLang="ko-KR" sz="2000" b="1" dirty="0" err="1">
                <a:latin typeface="+mj-ea"/>
                <a:ea typeface="+mj-ea"/>
              </a:rPr>
              <a:t>testdata</a:t>
            </a:r>
            <a:r>
              <a:rPr lang="ko-KR" altLang="en-US" sz="2000" b="1" dirty="0">
                <a:latin typeface="+mj-ea"/>
                <a:ea typeface="+mj-ea"/>
              </a:rPr>
              <a:t>증강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D4B77BF-D901-4214-A2BB-87C2013BA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988225"/>
              </p:ext>
            </p:extLst>
          </p:nvPr>
        </p:nvGraphicFramePr>
        <p:xfrm>
          <a:off x="7553155" y="457862"/>
          <a:ext cx="3814454" cy="60401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37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37066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testdata_200803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0.5517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0.1648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0.9409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0.0023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0.0484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0.9249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0.1449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-0.3107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0.0089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0.0706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0.0945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0.4689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0.0533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0.1790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0.2308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2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0.0979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463721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C7F5DA-7144-4420-A87E-B6BAE25BAA16}"/>
              </a:ext>
            </a:extLst>
          </p:cNvPr>
          <p:cNvSpPr/>
          <p:nvPr/>
        </p:nvSpPr>
        <p:spPr>
          <a:xfrm>
            <a:off x="8993812" y="457861"/>
            <a:ext cx="2373798" cy="6040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3C26F2-1694-47D7-8AE1-CA30561D5BBC}"/>
              </a:ext>
            </a:extLst>
          </p:cNvPr>
          <p:cNvSpPr txBox="1"/>
          <p:nvPr/>
        </p:nvSpPr>
        <p:spPr>
          <a:xfrm>
            <a:off x="6786113" y="330880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1F5E8D-065E-47C4-B480-EC608EEE2BF9}"/>
              </a:ext>
            </a:extLst>
          </p:cNvPr>
          <p:cNvSpPr txBox="1"/>
          <p:nvPr/>
        </p:nvSpPr>
        <p:spPr>
          <a:xfrm>
            <a:off x="6786113" y="377668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90A879C-F989-45AC-9D33-E481921846EF}"/>
              </a:ext>
            </a:extLst>
          </p:cNvPr>
          <p:cNvCxnSpPr/>
          <p:nvPr/>
        </p:nvCxnSpPr>
        <p:spPr>
          <a:xfrm flipH="1">
            <a:off x="6752318" y="3665022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895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7395A1-DEC6-4A28-9116-83302EB3BEBE}"/>
              </a:ext>
            </a:extLst>
          </p:cNvPr>
          <p:cNvSpPr txBox="1"/>
          <p:nvPr/>
        </p:nvSpPr>
        <p:spPr>
          <a:xfrm>
            <a:off x="622386" y="850612"/>
            <a:ext cx="151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결론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83AAC-0802-4149-8A8D-E13B883955B7}"/>
              </a:ext>
            </a:extLst>
          </p:cNvPr>
          <p:cNvSpPr txBox="1"/>
          <p:nvPr/>
        </p:nvSpPr>
        <p:spPr>
          <a:xfrm>
            <a:off x="3122082" y="3429000"/>
            <a:ext cx="59478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ko-KR" sz="2000" b="1" dirty="0">
                <a:latin typeface="+mj-ea"/>
              </a:rPr>
              <a:t>Parallel LSTM </a:t>
            </a:r>
            <a:r>
              <a:rPr lang="ko-KR" altLang="en-US" sz="2000" b="1" dirty="0">
                <a:latin typeface="+mj-ea"/>
              </a:rPr>
              <a:t>에 비해 높은 성능</a:t>
            </a:r>
            <a:r>
              <a:rPr lang="en-US" altLang="ko-KR" sz="2000" b="1" dirty="0">
                <a:latin typeface="+mj-ea"/>
              </a:rPr>
              <a:t>,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2000" b="1" dirty="0">
                <a:latin typeface="+mj-ea"/>
              </a:rPr>
              <a:t>궁내교는 </a:t>
            </a:r>
            <a:r>
              <a:rPr lang="en-US" altLang="ko-KR" sz="2000" dirty="0"/>
              <a:t>250716</a:t>
            </a:r>
            <a:r>
              <a:rPr lang="ko-KR" altLang="en-US" sz="2000" b="1" dirty="0">
                <a:latin typeface="+mj-ea"/>
              </a:rPr>
              <a:t>이 명확한 약점</a:t>
            </a:r>
            <a:r>
              <a:rPr lang="en-US" altLang="ko-KR" sz="2000" b="1" dirty="0">
                <a:latin typeface="+mj-ea"/>
              </a:rPr>
              <a:t>,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2000" b="1" dirty="0">
                <a:latin typeface="+mj-ea"/>
              </a:rPr>
              <a:t>대곡교는 </a:t>
            </a:r>
            <a:r>
              <a:rPr lang="en-US" altLang="ko-KR" sz="2000" dirty="0"/>
              <a:t>230711</a:t>
            </a:r>
            <a:r>
              <a:rPr lang="ko-KR" altLang="en-US" sz="2000" b="1" dirty="0">
                <a:latin typeface="+mj-ea"/>
              </a:rPr>
              <a:t>이 명확한 약점</a:t>
            </a:r>
            <a:endParaRPr lang="en-US" altLang="ko-KR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6350215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5213</TotalTime>
  <Words>2440</Words>
  <Application>Microsoft Office PowerPoint</Application>
  <PresentationFormat>와이드스크린</PresentationFormat>
  <Paragraphs>527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Arial Unicode MS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634</cp:revision>
  <dcterms:created xsi:type="dcterms:W3CDTF">2025-11-18T00:02:37Z</dcterms:created>
  <dcterms:modified xsi:type="dcterms:W3CDTF">2026-01-09T01:09:25Z</dcterms:modified>
</cp:coreProperties>
</file>