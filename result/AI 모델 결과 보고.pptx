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1" r:id="rId3"/>
    <p:sldId id="510" r:id="rId4"/>
    <p:sldId id="513" r:id="rId5"/>
    <p:sldId id="432" r:id="rId6"/>
    <p:sldId id="528" r:id="rId7"/>
    <p:sldId id="518" r:id="rId8"/>
    <p:sldId id="480" r:id="rId9"/>
    <p:sldId id="529" r:id="rId10"/>
    <p:sldId id="527" r:id="rId11"/>
    <p:sldId id="509" r:id="rId12"/>
    <p:sldId id="515" r:id="rId13"/>
    <p:sldId id="524" r:id="rId14"/>
    <p:sldId id="525" r:id="rId15"/>
    <p:sldId id="514" r:id="rId16"/>
    <p:sldId id="522" r:id="rId17"/>
    <p:sldId id="51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6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목차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6760721" y="3266112"/>
            <a:ext cx="4838614" cy="2571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altLang="ko-KR" sz="2000" b="1" dirty="0">
                <a:latin typeface="+mj-ea"/>
              </a:rPr>
              <a:t>Parallel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LSTM </a:t>
            </a:r>
            <a:r>
              <a:rPr lang="ko-KR" altLang="en-US" sz="2000" b="1" dirty="0">
                <a:latin typeface="+mj-ea"/>
              </a:rPr>
              <a:t>성능 개선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</a:rPr>
              <a:t>단일 </a:t>
            </a:r>
            <a:r>
              <a:rPr lang="en-US" altLang="ko-KR" sz="2000" b="1" dirty="0">
                <a:latin typeface="+mj-ea"/>
              </a:rPr>
              <a:t>LSTM </a:t>
            </a:r>
            <a:r>
              <a:rPr lang="ko-KR" altLang="en-US" sz="2000" b="1" dirty="0">
                <a:latin typeface="+mj-ea"/>
              </a:rPr>
              <a:t>개발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</a:rPr>
              <a:t>결론</a:t>
            </a:r>
            <a:endParaRPr lang="en-US" altLang="ko-KR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6721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705725"/>
            <a:ext cx="458858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Parallel</a:t>
            </a:r>
            <a:r>
              <a:rPr lang="ko-KR" altLang="en-US" sz="4400" b="1" dirty="0">
                <a:latin typeface="+mj-ea"/>
                <a:ea typeface="+mj-ea"/>
              </a:rPr>
              <a:t> </a:t>
            </a:r>
            <a:r>
              <a:rPr lang="en-US" altLang="ko-KR" sz="4400" b="1" dirty="0">
                <a:latin typeface="+mj-ea"/>
                <a:ea typeface="+mj-ea"/>
              </a:rPr>
              <a:t>LSTM </a:t>
            </a:r>
            <a:r>
              <a:rPr lang="ko-KR" altLang="en-US" sz="4400" b="1" dirty="0">
                <a:latin typeface="+mj-ea"/>
                <a:ea typeface="+mj-ea"/>
              </a:rPr>
              <a:t>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1412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검증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~ 2022 68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96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0.0003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/ MAPE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solidFill>
                  <a:srgbClr val="FF0000"/>
                </a:solidFill>
                <a:latin typeface="+mn-ea"/>
              </a:rPr>
              <a:t>36</a:t>
            </a:r>
            <a:r>
              <a:rPr lang="en-US" altLang="ko-KR" sz="900" b="1" dirty="0">
                <a:latin typeface="+mn-ea"/>
              </a:rPr>
              <a:t>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/ 48 / 60 / 72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6 / 12 (</a:t>
            </a:r>
            <a:r>
              <a:rPr lang="ko-KR" altLang="en-US" sz="900" b="1" dirty="0">
                <a:latin typeface="+mn-ea"/>
              </a:rPr>
              <a:t> 각 </a:t>
            </a:r>
            <a:r>
              <a:rPr lang="en-US" altLang="ko-KR" sz="900" b="1" dirty="0">
                <a:latin typeface="+mn-ea"/>
              </a:rPr>
              <a:t>LSTM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</a:t>
            </a:r>
            <a:r>
              <a:rPr lang="ko-KR" altLang="en-US" sz="900" b="1" dirty="0">
                <a:latin typeface="+mn-ea"/>
              </a:rPr>
              <a:t>개 처리 </a:t>
            </a:r>
            <a:r>
              <a:rPr lang="en-US" altLang="ko-KR" sz="900" b="1" dirty="0">
                <a:latin typeface="+mn-ea"/>
              </a:rPr>
              <a:t>) / 18 / 36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영향 없는 관측소 및 컬럼 제외 </a:t>
            </a:r>
            <a:r>
              <a:rPr lang="en-US" altLang="ko-KR" sz="900" b="1" dirty="0">
                <a:latin typeface="+mn-ea"/>
              </a:rPr>
              <a:t>/ </a:t>
            </a:r>
            <a:r>
              <a:rPr lang="ko-KR" altLang="en-US" sz="900" b="1" dirty="0">
                <a:solidFill>
                  <a:srgbClr val="FF0000"/>
                </a:solidFill>
                <a:latin typeface="+mn-ea"/>
              </a:rPr>
              <a:t>전체 강우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386464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-0.2437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0.1828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0.2048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0.1052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38524"/>
            <a:ext cx="3035115" cy="160775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2019" y="4338731"/>
            <a:ext cx="3059566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0948"/>
            <a:ext cx="2993660" cy="158524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77329"/>
            <a:ext cx="2977423" cy="159749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057CE8F-56A8-4A0F-BD3D-532182644401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59754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4196056-BB79-4D14-ADCA-8FFA99577F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35947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0.4649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0.0749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0.2530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0.2737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0.6025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0.3617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0.3919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0.6014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0.0998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0.3159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0.6523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0.1206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0.3473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6E2E844-091A-49B4-BC3E-70A0595B2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38524"/>
            <a:ext cx="3029151" cy="160775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9374747-68DC-496A-AAC9-C882AE574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38731"/>
            <a:ext cx="3029270" cy="16059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E2FA94E-7B17-466B-AE68-69E95BD9B4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0948"/>
            <a:ext cx="2985079" cy="158524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4A99877-9487-4654-9C42-C141505104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2006316"/>
            <a:ext cx="2977423" cy="1539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05B2C0-8EF7-41B4-AB3C-BCDEAD98637D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ED07FF-6B14-4DE1-9C4D-D0EE8E2A5B5B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757C12-A4C2-411D-B087-B8C397EC2824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9C68C5-F4E2-4FCB-B716-E0A7EFE9114F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465536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152708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0.7886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0.07876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0.0915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0.6794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0.0896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0.2994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0.0960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0.1211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0.7326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887" y="4348846"/>
            <a:ext cx="3035115" cy="158711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416" y="4338731"/>
            <a:ext cx="3010771" cy="16059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4700"/>
            <a:ext cx="2993660" cy="157773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82819"/>
            <a:ext cx="2977423" cy="158650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 , </a:t>
            </a:r>
            <a:r>
              <a:rPr lang="en-US" altLang="ko-KR" sz="2000" b="1" dirty="0" err="1">
                <a:latin typeface="+mj-ea"/>
                <a:ea typeface="+mj-ea"/>
              </a:rPr>
              <a:t>loss_function</a:t>
            </a:r>
            <a:r>
              <a:rPr lang="en-US" altLang="ko-KR" sz="2000" b="1" dirty="0">
                <a:latin typeface="+mj-ea"/>
                <a:ea typeface="+mj-ea"/>
              </a:rPr>
              <a:t> = MAE, </a:t>
            </a:r>
            <a:r>
              <a:rPr lang="en-US" altLang="ko-KR" sz="2000" b="1" dirty="0" err="1">
                <a:latin typeface="+mj-ea"/>
                <a:ea typeface="+mj-ea"/>
              </a:rPr>
              <a:t>learning_rate</a:t>
            </a:r>
            <a:r>
              <a:rPr lang="en-US" altLang="ko-KR" sz="2000" b="1" dirty="0">
                <a:latin typeface="+mj-ea"/>
                <a:ea typeface="+mj-ea"/>
              </a:rPr>
              <a:t> = 0.0005  </a:t>
            </a:r>
          </a:p>
          <a:p>
            <a:r>
              <a:rPr lang="en-US" altLang="ko-KR" sz="2000" b="1" dirty="0">
                <a:latin typeface="+mj-ea"/>
                <a:ea typeface="+mj-ea"/>
              </a:rPr>
              <a:t> </a:t>
            </a:r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8663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65A6128-F671-488A-B725-D8FE81F5C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0839000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0.5988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0.0561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0.1851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0.2370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0.6995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0.2734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0.4393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0.5229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0.1692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0.2164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0.6443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0.1234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0.2827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15C8347-4427-434D-B5DF-732CAF98B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586" y="4342368"/>
            <a:ext cx="3029716" cy="160006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C322E94-D588-407C-BC30-BFC818A899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143" y="4331287"/>
            <a:ext cx="3087318" cy="162084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AB98D6-4D7B-4475-ADE8-0249AD610F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950" y="1974868"/>
            <a:ext cx="2990558" cy="15774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0CE8EA7-DB91-45CD-B0B7-895B2582E3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5827" y="1990718"/>
            <a:ext cx="3015518" cy="15707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F65CAC3-189B-4520-92AF-759C40170BE7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70984A-6BC1-4FDC-8121-95FCFE0B9A94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40992-293D-49CE-BB2D-0A090D788F4A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5E3A12-5140-46EE-91C9-23AA19E0DB22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200400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638513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0.6571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0.1920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0.2550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0.3688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0.5049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0.1884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869" y="4351440"/>
            <a:ext cx="3029151" cy="158192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67" y="4344367"/>
            <a:ext cx="3029270" cy="159468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689" y="1973037"/>
            <a:ext cx="2985079" cy="158106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393" y="2006316"/>
            <a:ext cx="2942386" cy="153951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4AFE95-2DED-42BC-A1CA-CCD46CBA4F68}"/>
              </a:ext>
            </a:extLst>
          </p:cNvPr>
          <p:cNvSpPr txBox="1"/>
          <p:nvPr/>
        </p:nvSpPr>
        <p:spPr>
          <a:xfrm>
            <a:off x="33795" y="379245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878C64-9135-48B4-AD37-DDB91950CAEC}"/>
              </a:ext>
            </a:extLst>
          </p:cNvPr>
          <p:cNvSpPr txBox="1"/>
          <p:nvPr/>
        </p:nvSpPr>
        <p:spPr>
          <a:xfrm>
            <a:off x="33795" y="426032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05E4055-07E8-4C56-93F5-5CE2B0B1AE01}"/>
              </a:ext>
            </a:extLst>
          </p:cNvPr>
          <p:cNvCxnSpPr/>
          <p:nvPr/>
        </p:nvCxnSpPr>
        <p:spPr>
          <a:xfrm flipH="1">
            <a:off x="0" y="4148667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79500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=12</a:t>
            </a:r>
            <a:r>
              <a:rPr lang="en-US" altLang="ko-KR" sz="2000" b="1" dirty="0">
                <a:latin typeface="+mj-ea"/>
              </a:rPr>
              <a:t>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</a:t>
            </a:r>
            <a:r>
              <a:rPr lang="en-US" altLang="ko-KR" sz="2000" b="1" dirty="0">
                <a:latin typeface="+mj-ea"/>
                <a:ea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073421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2987674" y="3429000"/>
            <a:ext cx="621665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전체적으로 기존 모델에 비해 전체적으로 낮은 성능</a:t>
            </a:r>
            <a:r>
              <a:rPr lang="en-US" altLang="ko-KR" sz="2000" b="1" dirty="0">
                <a:latin typeface="+mj-ea"/>
              </a:rPr>
              <a:t>,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altLang="ko-KR" sz="2000" dirty="0"/>
              <a:t>220712</a:t>
            </a:r>
            <a:r>
              <a:rPr lang="ko-KR" altLang="en-US" sz="2000" b="1" dirty="0">
                <a:latin typeface="+mj-ea"/>
              </a:rPr>
              <a:t>이 명확한 약점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901731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705725"/>
            <a:ext cx="458858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단일 </a:t>
            </a:r>
            <a:r>
              <a:rPr lang="en-US" altLang="ko-KR" sz="4400" b="1" dirty="0">
                <a:latin typeface="+mj-ea"/>
                <a:ea typeface="+mj-ea"/>
              </a:rPr>
              <a:t>LSTM</a:t>
            </a: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개발 결과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63511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1420</a:t>
            </a:r>
            <a:r>
              <a:rPr lang="ko-KR" altLang="en-US" sz="1600" dirty="0"/>
              <a:t>개 中 </a:t>
            </a:r>
            <a:r>
              <a:rPr lang="en-US" altLang="ko-KR" sz="1600" dirty="0"/>
              <a:t>1412</a:t>
            </a:r>
            <a:r>
              <a:rPr lang="ko-KR" altLang="en-US" sz="1600" dirty="0"/>
              <a:t>개 데이터 파일 학습에 사용 </a:t>
            </a:r>
            <a:r>
              <a:rPr lang="en-US" altLang="ko-KR" sz="1600" dirty="0"/>
              <a:t>( </a:t>
            </a:r>
            <a:r>
              <a:rPr lang="ko-KR" altLang="en-US" sz="1600" dirty="0"/>
              <a:t>결측 </a:t>
            </a:r>
            <a:r>
              <a:rPr lang="en-US" altLang="ko-KR" sz="1600" dirty="0"/>
              <a:t>5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검증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3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70% ( </a:t>
            </a:r>
            <a:r>
              <a:rPr lang="ko-KR" altLang="en-US" sz="900" b="1" dirty="0">
                <a:latin typeface="+mn-ea"/>
              </a:rPr>
              <a:t>학습 이벤트 순서 섞어서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20%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>
                <a:latin typeface="+mn-ea"/>
              </a:rPr>
              <a:t>나머지 </a:t>
            </a:r>
            <a:r>
              <a:rPr lang="en-US" altLang="ko-KR" sz="900" b="1" dirty="0">
                <a:latin typeface="+mn-ea"/>
              </a:rPr>
              <a:t>( 10% 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051800" y="126666"/>
            <a:ext cx="4013201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/ Huber / </a:t>
            </a:r>
            <a:r>
              <a:rPr lang="ko-KR" altLang="en-US" sz="900" b="1" dirty="0">
                <a:latin typeface="+mn-ea"/>
              </a:rPr>
              <a:t>피크에 가중치를 두는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	* ( Huber : </a:t>
            </a:r>
            <a:r>
              <a:rPr lang="ko-KR" altLang="en-US" sz="900" b="1" dirty="0">
                <a:latin typeface="+mn-ea"/>
              </a:rPr>
              <a:t>작은 오차는 </a:t>
            </a:r>
            <a:r>
              <a:rPr lang="en-US" altLang="ko-KR" sz="900" b="1" dirty="0">
                <a:latin typeface="+mn-ea"/>
              </a:rPr>
              <a:t>MSE</a:t>
            </a:r>
            <a:r>
              <a:rPr lang="ko-KR" altLang="en-US" sz="900" b="1" dirty="0">
                <a:latin typeface="+mn-ea"/>
              </a:rPr>
              <a:t>처럼 </a:t>
            </a:r>
            <a:r>
              <a:rPr lang="en-US" altLang="ko-KR" sz="900" b="1" dirty="0">
                <a:latin typeface="+mn-ea"/>
              </a:rPr>
              <a:t>, </a:t>
            </a:r>
            <a:r>
              <a:rPr lang="ko-KR" altLang="en-US" sz="900" b="1" dirty="0">
                <a:latin typeface="+mn-ea"/>
              </a:rPr>
              <a:t>큰 오차는 </a:t>
            </a:r>
            <a:r>
              <a:rPr lang="en-US" altLang="ko-KR" sz="900" b="1" dirty="0">
                <a:latin typeface="+mn-ea"/>
              </a:rPr>
              <a:t>MAE</a:t>
            </a:r>
            <a:r>
              <a:rPr lang="ko-KR" altLang="en-US" sz="900" b="1" dirty="0">
                <a:latin typeface="+mn-ea"/>
              </a:rPr>
              <a:t>처럼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	* ( MSE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, </a:t>
            </a:r>
            <a:r>
              <a:rPr lang="ko-KR" altLang="en-US" sz="900" b="1" dirty="0" err="1">
                <a:latin typeface="+mn-ea"/>
              </a:rPr>
              <a:t>스케일된</a:t>
            </a:r>
            <a:r>
              <a:rPr lang="ko-KR" altLang="en-US" sz="900" b="1" dirty="0">
                <a:latin typeface="+mn-ea"/>
              </a:rPr>
              <a:t> 값이 </a:t>
            </a:r>
            <a:r>
              <a:rPr lang="en-US" altLang="ko-KR" sz="900" b="1" dirty="0">
                <a:latin typeface="+mn-ea"/>
              </a:rPr>
              <a:t>0.7 </a:t>
            </a:r>
            <a:r>
              <a:rPr lang="ko-KR" altLang="en-US" sz="900" b="1" dirty="0">
                <a:latin typeface="+mn-ea"/>
              </a:rPr>
              <a:t>이상이면 가중치를 </a:t>
            </a:r>
            <a:r>
              <a:rPr lang="en-US" altLang="ko-KR" sz="900" b="1" dirty="0">
                <a:latin typeface="+mn-ea"/>
              </a:rPr>
              <a:t>3</a:t>
            </a:r>
            <a:r>
              <a:rPr lang="ko-KR" altLang="en-US" sz="900" b="1" dirty="0">
                <a:latin typeface="+mn-ea"/>
              </a:rPr>
              <a:t>배</a:t>
            </a:r>
            <a:r>
              <a:rPr lang="en-US" altLang="ko-KR" sz="900" b="1" dirty="0">
                <a:latin typeface="+mn-ea"/>
              </a:rPr>
              <a:t> )</a:t>
            </a:r>
            <a:r>
              <a:rPr lang="ko-KR" altLang="en-US" sz="900" b="1" dirty="0">
                <a:latin typeface="+mn-ea"/>
              </a:rPr>
              <a:t> </a:t>
            </a:r>
            <a:endParaRPr lang="en-US" altLang="ko-KR" sz="9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</a:t>
            </a:r>
            <a:r>
              <a:rPr lang="en-US" altLang="ko-KR" sz="900" b="1" dirty="0">
                <a:solidFill>
                  <a:srgbClr val="FF0000"/>
                </a:solidFill>
                <a:latin typeface="+mn-ea"/>
              </a:rPr>
              <a:t>0.0003</a:t>
            </a:r>
            <a:r>
              <a:rPr lang="en-US" altLang="ko-KR" sz="900" b="1" dirty="0">
                <a:latin typeface="+mn-ea"/>
              </a:rPr>
              <a:t> /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dropout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solidFill>
                  <a:srgbClr val="FF0000"/>
                </a:solidFill>
                <a:latin typeface="+mn-ea"/>
              </a:rPr>
              <a:t>0.0</a:t>
            </a:r>
            <a:r>
              <a:rPr lang="en-US" altLang="ko-KR" sz="900" b="1" dirty="0">
                <a:latin typeface="+mn-ea"/>
              </a:rPr>
              <a:t> / 0.1 / 0.01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en-US" altLang="ko-KR" sz="900" b="1" dirty="0">
                <a:latin typeface="+mn-ea"/>
              </a:rPr>
              <a:t>   = </a:t>
            </a:r>
            <a:r>
              <a:rPr lang="en-US" altLang="ko-KR" sz="900" b="1" dirty="0">
                <a:solidFill>
                  <a:srgbClr val="FF0000"/>
                </a:solidFill>
                <a:latin typeface="+mn-ea"/>
              </a:rPr>
              <a:t>36</a:t>
            </a:r>
            <a:r>
              <a:rPr lang="en-US" altLang="ko-KR" sz="900" b="1" dirty="0">
                <a:latin typeface="+mn-ea"/>
              </a:rPr>
              <a:t>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Dense = </a:t>
            </a:r>
            <a:r>
              <a:rPr lang="en-US" altLang="ko-KR" sz="900" b="1" dirty="0">
                <a:solidFill>
                  <a:srgbClr val="FF0000"/>
                </a:solidFill>
                <a:latin typeface="+mn-ea"/>
              </a:rPr>
              <a:t>1</a:t>
            </a:r>
            <a:r>
              <a:rPr lang="en-US" altLang="ko-KR" sz="900" b="1" dirty="0">
                <a:latin typeface="+mn-ea"/>
              </a:rPr>
              <a:t> / 12 / 36 (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1</a:t>
            </a:r>
            <a:r>
              <a:rPr lang="ko-KR" altLang="en-US" sz="900" b="1" dirty="0">
                <a:latin typeface="+mn-ea"/>
              </a:rPr>
              <a:t>번 처리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solidFill>
                  <a:srgbClr val="FF0000"/>
                </a:solidFill>
                <a:latin typeface="+mn-ea"/>
              </a:rPr>
              <a:t>학습 이벤트 순서 </a:t>
            </a:r>
            <a:r>
              <a:rPr lang="en-US" altLang="ko-KR" sz="900" b="1" dirty="0">
                <a:solidFill>
                  <a:srgbClr val="FF0000"/>
                </a:solidFill>
                <a:latin typeface="+mn-ea"/>
              </a:rPr>
              <a:t>shuffle</a:t>
            </a:r>
          </a:p>
        </p:txBody>
      </p:sp>
    </p:spTree>
    <p:extLst>
      <p:ext uri="{BB962C8B-B14F-4D97-AF65-F5344CB8AC3E}">
        <p14:creationId xmlns:p14="http://schemas.microsoft.com/office/powerpoint/2010/main" val="1108253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8798F76-11EB-404B-81C2-EC1C238F7B4E}"/>
              </a:ext>
            </a:extLst>
          </p:cNvPr>
          <p:cNvSpPr txBox="1"/>
          <p:nvPr/>
        </p:nvSpPr>
        <p:spPr>
          <a:xfrm>
            <a:off x="7809626" y="1893377"/>
            <a:ext cx="33325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ko-KR" altLang="en-US" sz="1200" dirty="0">
                <a:solidFill>
                  <a:srgbClr val="FF0000"/>
                </a:solidFill>
              </a:rPr>
              <a:t>→ </a:t>
            </a:r>
            <a:r>
              <a:rPr lang="ko-KR" altLang="en-US" sz="1200" b="1" dirty="0">
                <a:solidFill>
                  <a:srgbClr val="FF0000"/>
                </a:solidFill>
              </a:rPr>
              <a:t>전체 평균은 좋지만</a:t>
            </a:r>
            <a:r>
              <a:rPr lang="en-US" altLang="ko-KR" sz="1200" dirty="0">
                <a:solidFill>
                  <a:srgbClr val="FF0000"/>
                </a:solidFill>
              </a:rPr>
              <a:t>, 250716 </a:t>
            </a:r>
            <a:r>
              <a:rPr lang="ko-KR" altLang="en-US" sz="1200" dirty="0">
                <a:solidFill>
                  <a:srgbClr val="FF0000"/>
                </a:solidFill>
              </a:rPr>
              <a:t>이 명확한 약점</a:t>
            </a:r>
            <a:endParaRPr lang="en-US" altLang="ko-KR" sz="12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FAD28-306D-493F-A29E-0AE4A1629EF6}"/>
              </a:ext>
            </a:extLst>
          </p:cNvPr>
          <p:cNvSpPr txBox="1"/>
          <p:nvPr/>
        </p:nvSpPr>
        <p:spPr>
          <a:xfrm>
            <a:off x="622385" y="850612"/>
            <a:ext cx="74717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5558BE9-8140-4A1A-B051-9D40448BE3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169172"/>
              </p:ext>
            </p:extLst>
          </p:nvPr>
        </p:nvGraphicFramePr>
        <p:xfrm>
          <a:off x="960744" y="2188770"/>
          <a:ext cx="3814454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378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370666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0.9379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0.0025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0.0427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0.0496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0.9279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0.0818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0.1420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0.4562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0.0546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0.1751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0.2336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0.8408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0.0797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5" name="직사각형 24">
            <a:extLst>
              <a:ext uri="{FF2B5EF4-FFF2-40B4-BE49-F238E27FC236}">
                <a16:creationId xmlns:a16="http://schemas.microsoft.com/office/drawing/2014/main" id="{CB29EA9C-F49E-4177-B65A-DBC058C9A4E3}"/>
              </a:ext>
            </a:extLst>
          </p:cNvPr>
          <p:cNvSpPr/>
          <p:nvPr/>
        </p:nvSpPr>
        <p:spPr>
          <a:xfrm>
            <a:off x="2401401" y="2188770"/>
            <a:ext cx="2373798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69444BF-F0B7-4889-B147-6F0FD4C2D1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128" y="4899412"/>
            <a:ext cx="3035115" cy="1083969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DA04DB59-C63A-41A7-B771-B58BE55748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657" y="4903065"/>
            <a:ext cx="3010771" cy="1075275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2F7C7827-FF0C-404A-BE1B-AE1C412F2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9640" y="2527982"/>
            <a:ext cx="2993660" cy="106916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48896317-9ABC-422F-8CC7-0F1AF34A94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116" y="2543386"/>
            <a:ext cx="2977423" cy="10633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1210BF3-BD24-4CEB-A37B-22133D18AF85}"/>
              </a:ext>
            </a:extLst>
          </p:cNvPr>
          <p:cNvSpPr txBox="1"/>
          <p:nvPr/>
        </p:nvSpPr>
        <p:spPr>
          <a:xfrm>
            <a:off x="6209476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C22114-3085-4525-B03D-FEFD32AE9725}"/>
              </a:ext>
            </a:extLst>
          </p:cNvPr>
          <p:cNvSpPr txBox="1"/>
          <p:nvPr/>
        </p:nvSpPr>
        <p:spPr>
          <a:xfrm>
            <a:off x="9357618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430A5C-8F24-451F-AC56-9A2CD1616383}"/>
              </a:ext>
            </a:extLst>
          </p:cNvPr>
          <p:cNvSpPr txBox="1"/>
          <p:nvPr/>
        </p:nvSpPr>
        <p:spPr>
          <a:xfrm>
            <a:off x="6209476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E349CF-854A-4EB4-A910-E40754915A7A}"/>
              </a:ext>
            </a:extLst>
          </p:cNvPr>
          <p:cNvSpPr txBox="1"/>
          <p:nvPr/>
        </p:nvSpPr>
        <p:spPr>
          <a:xfrm>
            <a:off x="9365833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B8B52E-4DDD-40BE-9452-A4FC16AB29E3}"/>
              </a:ext>
            </a:extLst>
          </p:cNvPr>
          <p:cNvSpPr txBox="1"/>
          <p:nvPr/>
        </p:nvSpPr>
        <p:spPr>
          <a:xfrm>
            <a:off x="193701" y="409144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2B67AB-71AD-408C-A384-70ECBAA44BF8}"/>
              </a:ext>
            </a:extLst>
          </p:cNvPr>
          <p:cNvSpPr txBox="1"/>
          <p:nvPr/>
        </p:nvSpPr>
        <p:spPr>
          <a:xfrm>
            <a:off x="193701" y="455932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544490F-29A2-4E2F-8BCB-FFC031F4DA3E}"/>
              </a:ext>
            </a:extLst>
          </p:cNvPr>
          <p:cNvCxnSpPr/>
          <p:nvPr/>
        </p:nvCxnSpPr>
        <p:spPr>
          <a:xfrm flipH="1">
            <a:off x="159906" y="4447662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3316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4CE1D1-FD62-4279-BDC1-93C37C76307F}"/>
              </a:ext>
            </a:extLst>
          </p:cNvPr>
          <p:cNvSpPr txBox="1"/>
          <p:nvPr/>
        </p:nvSpPr>
        <p:spPr>
          <a:xfrm>
            <a:off x="622385" y="850612"/>
            <a:ext cx="74717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5A90E9E-093D-4B85-9B84-CF454E820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1570783"/>
              </p:ext>
            </p:extLst>
          </p:nvPr>
        </p:nvGraphicFramePr>
        <p:xfrm>
          <a:off x="960744" y="2188770"/>
          <a:ext cx="3814454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378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370666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0.8927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0.1010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0.1226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0.7866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0.1942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0.3283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0.4407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0.8683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0.0608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0.1862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0.2466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0.0518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0.1702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0.2275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CDEE85FD-3EC8-42BD-8CF3-D9A19F691D47}"/>
              </a:ext>
            </a:extLst>
          </p:cNvPr>
          <p:cNvSpPr/>
          <p:nvPr/>
        </p:nvSpPr>
        <p:spPr>
          <a:xfrm>
            <a:off x="2401401" y="2188770"/>
            <a:ext cx="2373798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01BA0A4D-0681-4735-8D52-62C861621F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6129" y="4899412"/>
            <a:ext cx="3035112" cy="108396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A3B72D4-4032-4E79-92B5-9BE79F37A6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658" y="4903065"/>
            <a:ext cx="3010769" cy="107527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DD51D06-70CF-40E4-AFD1-80B296E9E2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9641" y="2527982"/>
            <a:ext cx="2993658" cy="106916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B8D45CB9-BDCF-4567-A296-8678E59D26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117" y="2543386"/>
            <a:ext cx="2977421" cy="106336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D4B0434-458F-418E-BA1B-2E06E297FEB1}"/>
              </a:ext>
            </a:extLst>
          </p:cNvPr>
          <p:cNvSpPr txBox="1"/>
          <p:nvPr/>
        </p:nvSpPr>
        <p:spPr>
          <a:xfrm>
            <a:off x="6209476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F3FA57-3B0B-4BAD-AD29-7FAC57BE587B}"/>
              </a:ext>
            </a:extLst>
          </p:cNvPr>
          <p:cNvSpPr txBox="1"/>
          <p:nvPr/>
        </p:nvSpPr>
        <p:spPr>
          <a:xfrm>
            <a:off x="9357618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0329AA-DAD9-4AB7-A511-C347EB817E98}"/>
              </a:ext>
            </a:extLst>
          </p:cNvPr>
          <p:cNvSpPr txBox="1"/>
          <p:nvPr/>
        </p:nvSpPr>
        <p:spPr>
          <a:xfrm>
            <a:off x="6209476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FC3E2C-7335-4447-9CA4-8E83AB66010C}"/>
              </a:ext>
            </a:extLst>
          </p:cNvPr>
          <p:cNvSpPr txBox="1"/>
          <p:nvPr/>
        </p:nvSpPr>
        <p:spPr>
          <a:xfrm>
            <a:off x="9365833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EA90F6-74B7-4389-86F6-81C4F00BF722}"/>
              </a:ext>
            </a:extLst>
          </p:cNvPr>
          <p:cNvSpPr txBox="1"/>
          <p:nvPr/>
        </p:nvSpPr>
        <p:spPr>
          <a:xfrm>
            <a:off x="193701" y="409144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B20482-A5A1-4806-B4B4-AE9554D41719}"/>
              </a:ext>
            </a:extLst>
          </p:cNvPr>
          <p:cNvSpPr txBox="1"/>
          <p:nvPr/>
        </p:nvSpPr>
        <p:spPr>
          <a:xfrm>
            <a:off x="193701" y="455932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ACE57A-3BCF-4396-B7C1-FF1E14592627}"/>
              </a:ext>
            </a:extLst>
          </p:cNvPr>
          <p:cNvCxnSpPr/>
          <p:nvPr/>
        </p:nvCxnSpPr>
        <p:spPr>
          <a:xfrm flipH="1">
            <a:off x="159906" y="4447662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2D4CD5A-86BF-41F0-90D3-0408BAD0E3A4}"/>
              </a:ext>
            </a:extLst>
          </p:cNvPr>
          <p:cNvSpPr txBox="1"/>
          <p:nvPr/>
        </p:nvSpPr>
        <p:spPr>
          <a:xfrm>
            <a:off x="7763934" y="1893377"/>
            <a:ext cx="3378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ko-KR" altLang="en-US" sz="1200" dirty="0">
                <a:solidFill>
                  <a:schemeClr val="accent5"/>
                </a:solidFill>
              </a:rPr>
              <a:t>→ </a:t>
            </a:r>
            <a:r>
              <a:rPr lang="ko-KR" altLang="en-US" sz="1200" b="1" dirty="0">
                <a:solidFill>
                  <a:schemeClr val="accent5"/>
                </a:solidFill>
              </a:rPr>
              <a:t>전체 평균은 좋지만</a:t>
            </a:r>
            <a:r>
              <a:rPr lang="en-US" altLang="ko-KR" sz="1200" dirty="0">
                <a:solidFill>
                  <a:schemeClr val="accent5"/>
                </a:solidFill>
              </a:rPr>
              <a:t>, 250716 </a:t>
            </a:r>
            <a:r>
              <a:rPr lang="ko-KR" altLang="en-US" sz="1200" dirty="0">
                <a:solidFill>
                  <a:schemeClr val="accent5"/>
                </a:solidFill>
              </a:rPr>
              <a:t>이 명확한 약점</a:t>
            </a:r>
            <a:endParaRPr lang="en-US" altLang="ko-KR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391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E807C9A-53EA-4C48-8286-ACB3BA5FEFFB}"/>
              </a:ext>
            </a:extLst>
          </p:cNvPr>
          <p:cNvSpPr txBox="1"/>
          <p:nvPr/>
        </p:nvSpPr>
        <p:spPr>
          <a:xfrm>
            <a:off x="7826559" y="1422698"/>
            <a:ext cx="33325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ko-KR" altLang="en-US" sz="1200" dirty="0">
                <a:solidFill>
                  <a:srgbClr val="FF0000"/>
                </a:solidFill>
              </a:rPr>
              <a:t>→  최고 </a:t>
            </a:r>
            <a:r>
              <a:rPr lang="en-US" altLang="ko-KR" sz="1200" dirty="0">
                <a:solidFill>
                  <a:srgbClr val="FF0000"/>
                </a:solidFill>
              </a:rPr>
              <a:t>R2 ( 220712 , 250814 )</a:t>
            </a:r>
            <a:br>
              <a:rPr lang="en-US" altLang="ko-KR" sz="1200" dirty="0">
                <a:solidFill>
                  <a:srgbClr val="FF0000"/>
                </a:solidFill>
              </a:rPr>
            </a:br>
            <a:r>
              <a:rPr lang="en-US" altLang="ko-KR" sz="1200" dirty="0">
                <a:solidFill>
                  <a:srgbClr val="FF0000"/>
                </a:solidFill>
              </a:rPr>
              <a:t>→  </a:t>
            </a:r>
            <a:r>
              <a:rPr lang="ko-KR" altLang="en-US" sz="1200" dirty="0">
                <a:solidFill>
                  <a:srgbClr val="FF0000"/>
                </a:solidFill>
              </a:rPr>
              <a:t>피크 성능 가장 좋음</a:t>
            </a:r>
            <a:br>
              <a:rPr lang="ko-KR" altLang="en-US" sz="1200" dirty="0">
                <a:solidFill>
                  <a:srgbClr val="FF0000"/>
                </a:solidFill>
              </a:rPr>
            </a:br>
            <a:r>
              <a:rPr lang="ko-KR" altLang="en-US" sz="1200" dirty="0">
                <a:solidFill>
                  <a:srgbClr val="FF0000"/>
                </a:solidFill>
              </a:rPr>
              <a:t>→ </a:t>
            </a:r>
            <a:r>
              <a:rPr lang="en-US" altLang="ko-KR" sz="1200" dirty="0">
                <a:solidFill>
                  <a:srgbClr val="FF0000"/>
                </a:solidFill>
              </a:rPr>
              <a:t>250716 </a:t>
            </a:r>
            <a:r>
              <a:rPr lang="ko-KR" altLang="en-US" sz="1200" dirty="0">
                <a:solidFill>
                  <a:srgbClr val="FF0000"/>
                </a:solidFill>
              </a:rPr>
              <a:t>번은 아직 약점</a:t>
            </a:r>
            <a:endParaRPr lang="en-US" altLang="ko-KR" sz="1200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4CE1D1-FD62-4279-BDC1-93C37C76307F}"/>
              </a:ext>
            </a:extLst>
          </p:cNvPr>
          <p:cNvSpPr txBox="1"/>
          <p:nvPr/>
        </p:nvSpPr>
        <p:spPr>
          <a:xfrm>
            <a:off x="622385" y="850612"/>
            <a:ext cx="747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latin typeface="+mj-ea"/>
                <a:ea typeface="+mj-ea"/>
              </a:rPr>
              <a:t>+ </a:t>
            </a:r>
            <a:r>
              <a:rPr lang="ko-KR" altLang="en-US" sz="2000" b="1" dirty="0">
                <a:latin typeface="+mj-ea"/>
                <a:ea typeface="+mj-ea"/>
              </a:rPr>
              <a:t>고수위 구간에 가중치를 더 주는 </a:t>
            </a:r>
            <a:r>
              <a:rPr lang="en-US" altLang="ko-KR" sz="2000" b="1" dirty="0">
                <a:latin typeface="+mj-ea"/>
                <a:ea typeface="+mj-ea"/>
              </a:rPr>
              <a:t>MSE</a:t>
            </a:r>
          </a:p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B0E3FF3-343E-4FB6-B62C-F61CDF35C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109988"/>
              </p:ext>
            </p:extLst>
          </p:nvPr>
        </p:nvGraphicFramePr>
        <p:xfrm>
          <a:off x="960744" y="2188770"/>
          <a:ext cx="3814454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378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370666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0.9442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0.0022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0.0415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0.0471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0.9215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0.0220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0.0867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0.1482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0.4650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0.0537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0.1724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0.2317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0.8604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0.0795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0.0992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11" name="직사각형 10">
            <a:extLst>
              <a:ext uri="{FF2B5EF4-FFF2-40B4-BE49-F238E27FC236}">
                <a16:creationId xmlns:a16="http://schemas.microsoft.com/office/drawing/2014/main" id="{7B0C16F4-39ED-4D0C-9A56-3C9A66922F5E}"/>
              </a:ext>
            </a:extLst>
          </p:cNvPr>
          <p:cNvSpPr/>
          <p:nvPr/>
        </p:nvSpPr>
        <p:spPr>
          <a:xfrm>
            <a:off x="2401401" y="2188770"/>
            <a:ext cx="2373798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3ADAC1E-A18E-421B-B565-8812C1F208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1028" y="4899412"/>
            <a:ext cx="3025313" cy="108396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27CD13E-2201-4277-BED0-678455B5F9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658" y="4903065"/>
            <a:ext cx="3010769" cy="107527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4E6D24B-D6D5-4064-905A-0B13D77513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9641" y="2527982"/>
            <a:ext cx="2993658" cy="106916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CB906D4-CD1E-4197-B0C7-EFD0B75999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117" y="2543386"/>
            <a:ext cx="2977421" cy="106336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DF7D060-FCA6-43AD-9DAF-586B02F5B8CC}"/>
              </a:ext>
            </a:extLst>
          </p:cNvPr>
          <p:cNvSpPr txBox="1"/>
          <p:nvPr/>
        </p:nvSpPr>
        <p:spPr>
          <a:xfrm>
            <a:off x="6209476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B96AE5-7BD2-4D86-AE12-E881C7327688}"/>
              </a:ext>
            </a:extLst>
          </p:cNvPr>
          <p:cNvSpPr txBox="1"/>
          <p:nvPr/>
        </p:nvSpPr>
        <p:spPr>
          <a:xfrm>
            <a:off x="9357618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386943-4A80-4A10-9CE3-C293643732FA}"/>
              </a:ext>
            </a:extLst>
          </p:cNvPr>
          <p:cNvSpPr txBox="1"/>
          <p:nvPr/>
        </p:nvSpPr>
        <p:spPr>
          <a:xfrm>
            <a:off x="6209476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A6320D-F449-477D-A268-B6910E2E32EF}"/>
              </a:ext>
            </a:extLst>
          </p:cNvPr>
          <p:cNvSpPr txBox="1"/>
          <p:nvPr/>
        </p:nvSpPr>
        <p:spPr>
          <a:xfrm>
            <a:off x="9365833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FC46FD-B0E1-4361-891F-562715785F4C}"/>
              </a:ext>
            </a:extLst>
          </p:cNvPr>
          <p:cNvSpPr txBox="1"/>
          <p:nvPr/>
        </p:nvSpPr>
        <p:spPr>
          <a:xfrm>
            <a:off x="193701" y="409144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4B724D-F149-43D5-8C8C-4EE8E0768DF4}"/>
              </a:ext>
            </a:extLst>
          </p:cNvPr>
          <p:cNvSpPr txBox="1"/>
          <p:nvPr/>
        </p:nvSpPr>
        <p:spPr>
          <a:xfrm>
            <a:off x="193701" y="455932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00C7C6BB-947A-4FC6-9D44-5EEC0C9C1340}"/>
              </a:ext>
            </a:extLst>
          </p:cNvPr>
          <p:cNvCxnSpPr/>
          <p:nvPr/>
        </p:nvCxnSpPr>
        <p:spPr>
          <a:xfrm flipH="1">
            <a:off x="159906" y="4447662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22959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4CE1D1-FD62-4279-BDC1-93C37C76307F}"/>
              </a:ext>
            </a:extLst>
          </p:cNvPr>
          <p:cNvSpPr txBox="1"/>
          <p:nvPr/>
        </p:nvSpPr>
        <p:spPr>
          <a:xfrm>
            <a:off x="622385" y="850612"/>
            <a:ext cx="7471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latin typeface="+mj-ea"/>
                <a:ea typeface="+mj-ea"/>
              </a:rPr>
              <a:t>+ </a:t>
            </a:r>
            <a:r>
              <a:rPr lang="ko-KR" altLang="en-US" sz="2000" b="1" dirty="0">
                <a:latin typeface="+mj-ea"/>
              </a:rPr>
              <a:t>고수위 구간에 가중치를 더 주는 </a:t>
            </a:r>
            <a:r>
              <a:rPr lang="en-US" altLang="ko-KR" sz="2000" b="1" dirty="0">
                <a:latin typeface="+mj-ea"/>
              </a:rPr>
              <a:t>MSE </a:t>
            </a:r>
          </a:p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5A90E9E-093D-4B85-9B84-CF454E820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944990"/>
              </p:ext>
            </p:extLst>
          </p:nvPr>
        </p:nvGraphicFramePr>
        <p:xfrm>
          <a:off x="960744" y="2188770"/>
          <a:ext cx="3814454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378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370666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0.9121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0.0924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0.7603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0.2182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0.3618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0.4671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0.8780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0.0563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0.1852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0.2373</a:t>
                      </a:r>
                      <a:r>
                        <a:rPr lang="pt-BR" altLang="ko-KR" sz="1400" dirty="0"/>
                        <a:t> 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0.0522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0.1663</a:t>
                      </a:r>
                      <a:r>
                        <a:rPr lang="pt-BR" altLang="ko-KR" sz="1400" dirty="0"/>
                        <a:t> 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0.2284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CDEE85FD-3EC8-42BD-8CF3-D9A19F691D47}"/>
              </a:ext>
            </a:extLst>
          </p:cNvPr>
          <p:cNvSpPr/>
          <p:nvPr/>
        </p:nvSpPr>
        <p:spPr>
          <a:xfrm>
            <a:off x="2401401" y="2188770"/>
            <a:ext cx="2373798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01BA0A4D-0681-4735-8D52-62C861621F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1028" y="4899412"/>
            <a:ext cx="3025313" cy="108396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A3B72D4-4032-4E79-92B5-9BE79F37A6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4658" y="4903065"/>
            <a:ext cx="3010769" cy="107527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DD51D06-70CF-40E4-AFD1-80B296E9E2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9641" y="2527982"/>
            <a:ext cx="2993658" cy="106916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B8D45CB9-BDCF-4567-A296-8678E59D26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3117" y="2543386"/>
            <a:ext cx="2977421" cy="106336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D4B0434-458F-418E-BA1B-2E06E297FEB1}"/>
              </a:ext>
            </a:extLst>
          </p:cNvPr>
          <p:cNvSpPr txBox="1"/>
          <p:nvPr/>
        </p:nvSpPr>
        <p:spPr>
          <a:xfrm>
            <a:off x="6209476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F3FA57-3B0B-4BAD-AD29-7FAC57BE587B}"/>
              </a:ext>
            </a:extLst>
          </p:cNvPr>
          <p:cNvSpPr txBox="1"/>
          <p:nvPr/>
        </p:nvSpPr>
        <p:spPr>
          <a:xfrm>
            <a:off x="9357618" y="3904493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0329AA-DAD9-4AB7-A511-C347EB817E98}"/>
              </a:ext>
            </a:extLst>
          </p:cNvPr>
          <p:cNvSpPr txBox="1"/>
          <p:nvPr/>
        </p:nvSpPr>
        <p:spPr>
          <a:xfrm>
            <a:off x="6209476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FC3E2C-7335-4447-9CA4-8E83AB66010C}"/>
              </a:ext>
            </a:extLst>
          </p:cNvPr>
          <p:cNvSpPr txBox="1"/>
          <p:nvPr/>
        </p:nvSpPr>
        <p:spPr>
          <a:xfrm>
            <a:off x="9365833" y="6339130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EA90F6-74B7-4389-86F6-81C4F00BF722}"/>
              </a:ext>
            </a:extLst>
          </p:cNvPr>
          <p:cNvSpPr txBox="1"/>
          <p:nvPr/>
        </p:nvSpPr>
        <p:spPr>
          <a:xfrm>
            <a:off x="193701" y="4091445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전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B20482-A5A1-4806-B4B4-AE9554D41719}"/>
              </a:ext>
            </a:extLst>
          </p:cNvPr>
          <p:cNvSpPr txBox="1"/>
          <p:nvPr/>
        </p:nvSpPr>
        <p:spPr>
          <a:xfrm>
            <a:off x="193701" y="4559320"/>
            <a:ext cx="7322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ko-KR" altLang="en-US" sz="1000" dirty="0"/>
              <a:t>증설 후</a:t>
            </a: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ACE57A-3BCF-4396-B7C1-FF1E14592627}"/>
              </a:ext>
            </a:extLst>
          </p:cNvPr>
          <p:cNvCxnSpPr/>
          <p:nvPr/>
        </p:nvCxnSpPr>
        <p:spPr>
          <a:xfrm flipH="1">
            <a:off x="159906" y="4447662"/>
            <a:ext cx="80083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A5F82C-F41C-4A24-B2A8-9E76A1F3DE94}"/>
              </a:ext>
            </a:extLst>
          </p:cNvPr>
          <p:cNvSpPr txBox="1"/>
          <p:nvPr/>
        </p:nvSpPr>
        <p:spPr>
          <a:xfrm>
            <a:off x="7826559" y="1422698"/>
            <a:ext cx="33325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ko-KR" altLang="en-US" sz="1200" dirty="0">
                <a:solidFill>
                  <a:schemeClr val="accent5"/>
                </a:solidFill>
              </a:rPr>
              <a:t>→  최고 </a:t>
            </a:r>
            <a:r>
              <a:rPr lang="en-US" altLang="ko-KR" sz="1200" dirty="0">
                <a:solidFill>
                  <a:schemeClr val="accent5"/>
                </a:solidFill>
              </a:rPr>
              <a:t>R2 ( 220712 , 250814 )</a:t>
            </a:r>
            <a:br>
              <a:rPr lang="ko-KR" altLang="en-US" sz="1200" dirty="0">
                <a:solidFill>
                  <a:schemeClr val="accent5"/>
                </a:solidFill>
              </a:rPr>
            </a:br>
            <a:r>
              <a:rPr lang="ko-KR" altLang="en-US" sz="1200" dirty="0">
                <a:solidFill>
                  <a:schemeClr val="accent5"/>
                </a:solidFill>
              </a:rPr>
              <a:t>→ </a:t>
            </a:r>
            <a:r>
              <a:rPr lang="en-US" altLang="ko-KR" sz="1200" dirty="0">
                <a:solidFill>
                  <a:schemeClr val="accent5"/>
                </a:solidFill>
              </a:rPr>
              <a:t>250814 </a:t>
            </a:r>
            <a:r>
              <a:rPr lang="ko-KR" altLang="en-US" sz="1200" dirty="0">
                <a:solidFill>
                  <a:schemeClr val="accent5"/>
                </a:solidFill>
              </a:rPr>
              <a:t> 개선 폭이 가장 좋음</a:t>
            </a:r>
            <a:br>
              <a:rPr lang="ko-KR" altLang="en-US" sz="1200" dirty="0">
                <a:solidFill>
                  <a:schemeClr val="accent5"/>
                </a:solidFill>
              </a:rPr>
            </a:br>
            <a:r>
              <a:rPr lang="ko-KR" altLang="en-US" sz="1200" dirty="0">
                <a:solidFill>
                  <a:schemeClr val="accent5"/>
                </a:solidFill>
              </a:rPr>
              <a:t>→ </a:t>
            </a:r>
            <a:r>
              <a:rPr lang="en-US" altLang="ko-KR" sz="1200" dirty="0">
                <a:solidFill>
                  <a:schemeClr val="accent5"/>
                </a:solidFill>
              </a:rPr>
              <a:t>250716 </a:t>
            </a:r>
            <a:r>
              <a:rPr lang="ko-KR" altLang="en-US" sz="1200" dirty="0">
                <a:solidFill>
                  <a:schemeClr val="accent5"/>
                </a:solidFill>
              </a:rPr>
              <a:t>은 아직 약점</a:t>
            </a:r>
            <a:endParaRPr lang="en-US" altLang="ko-KR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647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3122082" y="3429000"/>
            <a:ext cx="59478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altLang="ko-KR" sz="2000" b="1" dirty="0">
                <a:latin typeface="+mj-ea"/>
              </a:rPr>
              <a:t>Parallel LSTM </a:t>
            </a:r>
            <a:r>
              <a:rPr lang="ko-KR" altLang="en-US" sz="2000" b="1" dirty="0">
                <a:latin typeface="+mj-ea"/>
              </a:rPr>
              <a:t>에 비해 높은 성능</a:t>
            </a:r>
            <a:r>
              <a:rPr lang="en-US" altLang="ko-KR" sz="2000" b="1" dirty="0">
                <a:latin typeface="+mj-ea"/>
              </a:rPr>
              <a:t>,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궁내교는 </a:t>
            </a:r>
            <a:r>
              <a:rPr lang="en-US" altLang="ko-KR" sz="2000" dirty="0"/>
              <a:t>250716</a:t>
            </a:r>
            <a:r>
              <a:rPr lang="ko-KR" altLang="en-US" sz="2000" b="1" dirty="0">
                <a:latin typeface="+mj-ea"/>
              </a:rPr>
              <a:t>이 명확한 약점</a:t>
            </a:r>
            <a:r>
              <a:rPr lang="en-US" altLang="ko-KR" sz="2000" b="1" dirty="0">
                <a:latin typeface="+mj-ea"/>
              </a:rPr>
              <a:t>,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대곡교는 </a:t>
            </a:r>
            <a:r>
              <a:rPr lang="en-US" altLang="ko-KR" sz="2000" dirty="0"/>
              <a:t>230711</a:t>
            </a:r>
            <a:r>
              <a:rPr lang="ko-KR" altLang="en-US" sz="2000" b="1" dirty="0">
                <a:latin typeface="+mj-ea"/>
              </a:rPr>
              <a:t>이 명확한 약점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380598719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5295</TotalTime>
  <Words>1392</Words>
  <Application>Microsoft Office PowerPoint</Application>
  <PresentationFormat>와이드스크린</PresentationFormat>
  <Paragraphs>380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667</cp:revision>
  <dcterms:created xsi:type="dcterms:W3CDTF">2025-11-18T00:02:37Z</dcterms:created>
  <dcterms:modified xsi:type="dcterms:W3CDTF">2026-01-09T01:07:52Z</dcterms:modified>
</cp:coreProperties>
</file>