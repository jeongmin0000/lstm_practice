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0" r:id="rId2"/>
    <p:sldId id="511" r:id="rId3"/>
    <p:sldId id="510" r:id="rId4"/>
    <p:sldId id="513" r:id="rId5"/>
    <p:sldId id="432" r:id="rId6"/>
    <p:sldId id="528" r:id="rId7"/>
    <p:sldId id="518" r:id="rId8"/>
    <p:sldId id="480" r:id="rId9"/>
    <p:sldId id="529" r:id="rId10"/>
    <p:sldId id="527" r:id="rId11"/>
    <p:sldId id="509" r:id="rId12"/>
    <p:sldId id="515" r:id="rId13"/>
    <p:sldId id="524" r:id="rId14"/>
    <p:sldId id="525" r:id="rId15"/>
    <p:sldId id="514" r:id="rId16"/>
    <p:sldId id="522" r:id="rId17"/>
    <p:sldId id="519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2DE63D5-997A-4646-A377-4702673A728D}" styleName="밝은 스타일 2 - 강조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FECB4D8-DB02-4DC6-A0A2-4F2EBAE1DC90}" styleName="보통 스타일 1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0505E3EF-67EA-436B-97B2-0124C06EBD24}" styleName="보통 스타일 4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561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82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2026-01-14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03549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2026-01-14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9703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12423"/>
            <a:ext cx="10515600" cy="2851208"/>
          </a:xfrm>
        </p:spPr>
        <p:txBody>
          <a:bodyPr anchor="b">
            <a:normAutofit/>
          </a:bodyPr>
          <a:lstStyle>
            <a:lvl1pPr>
              <a:defRPr sz="60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52633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2026-01-14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7069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0"/>
            <a:ext cx="5181600" cy="4351337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0"/>
            <a:ext cx="5181600" cy="4351337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2026-01-14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90867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0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0"/>
            <a:ext cx="5156200" cy="368052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7550"/>
            <a:ext cx="5181601" cy="368052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2026-01-14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13876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2026-01-14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5005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2026-01-14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4824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197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2026-01-14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67109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2026-01-14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36044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2026-01-14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82803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0362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0362"/>
            <a:ext cx="7734300" cy="581183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2026-01-14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8409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0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B72759B8-7332-44BD-B1FF-13450B6DA7DC}" type="datetimeFigureOut">
              <a:rPr lang="ko-KR" altLang="en-US" smtClean="0"/>
              <a:t>2026-01-14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8753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C450E-78D8-4916-AA72-7CF5D3B171E9}"/>
              </a:ext>
            </a:extLst>
          </p:cNvPr>
          <p:cNvSpPr txBox="1"/>
          <p:nvPr/>
        </p:nvSpPr>
        <p:spPr>
          <a:xfrm>
            <a:off x="2747520" y="3044279"/>
            <a:ext cx="669695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latin typeface="+mj-ea"/>
                <a:ea typeface="+mj-ea"/>
              </a:rPr>
              <a:t>AI </a:t>
            </a:r>
            <a:r>
              <a:rPr lang="ko-KR" altLang="en-US" sz="4400" b="1" dirty="0">
                <a:latin typeface="+mj-ea"/>
                <a:ea typeface="+mj-ea"/>
              </a:rPr>
              <a:t>모델 성능 개선 결과</a:t>
            </a:r>
            <a:endParaRPr lang="ko-KR" altLang="en-US" sz="2000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6912154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C450E-78D8-4916-AA72-7CF5D3B171E9}"/>
              </a:ext>
            </a:extLst>
          </p:cNvPr>
          <p:cNvSpPr txBox="1"/>
          <p:nvPr/>
        </p:nvSpPr>
        <p:spPr>
          <a:xfrm>
            <a:off x="622386" y="850612"/>
            <a:ext cx="15196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b="1" dirty="0">
                <a:latin typeface="+mj-ea"/>
                <a:ea typeface="+mj-ea"/>
              </a:rPr>
              <a:t>목차</a:t>
            </a:r>
            <a:endParaRPr lang="ko-KR" altLang="en-US" sz="1200" b="1" dirty="0">
              <a:latin typeface="+mj-ea"/>
              <a:ea typeface="+mj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9DC680-F0CF-4BBD-BD62-C9B6103562BC}"/>
              </a:ext>
            </a:extLst>
          </p:cNvPr>
          <p:cNvSpPr txBox="1"/>
          <p:nvPr/>
        </p:nvSpPr>
        <p:spPr>
          <a:xfrm>
            <a:off x="6760721" y="3266112"/>
            <a:ext cx="4838614" cy="2571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250000"/>
              </a:lnSpc>
              <a:spcBef>
                <a:spcPts val="600"/>
              </a:spcBef>
              <a:spcAft>
                <a:spcPts val="600"/>
              </a:spcAft>
              <a:buAutoNum type="arabicPeriod"/>
            </a:pPr>
            <a:r>
              <a:rPr lang="en-US" altLang="ko-KR" sz="2000" b="1" dirty="0">
                <a:latin typeface="+mj-ea"/>
              </a:rPr>
              <a:t>Parallel</a:t>
            </a:r>
            <a:r>
              <a:rPr lang="ko-KR" altLang="en-US" sz="2000" b="1" dirty="0">
                <a:latin typeface="+mj-ea"/>
              </a:rPr>
              <a:t> </a:t>
            </a:r>
            <a:r>
              <a:rPr lang="en-US" altLang="ko-KR" sz="2000" b="1" dirty="0">
                <a:latin typeface="+mj-ea"/>
              </a:rPr>
              <a:t>LSTM </a:t>
            </a:r>
            <a:r>
              <a:rPr lang="ko-KR" altLang="en-US" sz="2000" b="1" dirty="0">
                <a:latin typeface="+mj-ea"/>
              </a:rPr>
              <a:t>성능 개선</a:t>
            </a:r>
            <a:endParaRPr lang="en-US" altLang="ko-KR" sz="2000" b="1" dirty="0">
              <a:latin typeface="+mj-ea"/>
            </a:endParaRPr>
          </a:p>
          <a:p>
            <a:pPr marL="457200" indent="-457200">
              <a:lnSpc>
                <a:spcPct val="250000"/>
              </a:lnSpc>
              <a:spcBef>
                <a:spcPts val="600"/>
              </a:spcBef>
              <a:spcAft>
                <a:spcPts val="600"/>
              </a:spcAft>
              <a:buAutoNum type="arabicPeriod"/>
            </a:pPr>
            <a:r>
              <a:rPr lang="ko-KR" altLang="en-US" sz="2000" b="1" dirty="0">
                <a:latin typeface="+mj-ea"/>
              </a:rPr>
              <a:t>단일 </a:t>
            </a:r>
            <a:r>
              <a:rPr lang="en-US" altLang="ko-KR" sz="2000" b="1" dirty="0">
                <a:latin typeface="+mj-ea"/>
              </a:rPr>
              <a:t>LSTM </a:t>
            </a:r>
            <a:r>
              <a:rPr lang="ko-KR" altLang="en-US" sz="2000" b="1" dirty="0">
                <a:latin typeface="+mj-ea"/>
              </a:rPr>
              <a:t>개발</a:t>
            </a:r>
            <a:endParaRPr lang="en-US" altLang="ko-KR" sz="2000" b="1" dirty="0">
              <a:latin typeface="+mj-ea"/>
            </a:endParaRPr>
          </a:p>
          <a:p>
            <a:pPr marL="457200" indent="-457200">
              <a:lnSpc>
                <a:spcPct val="250000"/>
              </a:lnSpc>
              <a:spcBef>
                <a:spcPts val="600"/>
              </a:spcBef>
              <a:spcAft>
                <a:spcPts val="600"/>
              </a:spcAft>
              <a:buAutoNum type="arabicPeriod"/>
            </a:pPr>
            <a:r>
              <a:rPr lang="ko-KR" altLang="en-US" sz="2000" b="1" dirty="0">
                <a:latin typeface="+mj-ea"/>
              </a:rPr>
              <a:t>결론</a:t>
            </a:r>
            <a:endParaRPr lang="en-US" altLang="ko-KR" sz="2000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1672147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C450E-78D8-4916-AA72-7CF5D3B171E9}"/>
              </a:ext>
            </a:extLst>
          </p:cNvPr>
          <p:cNvSpPr txBox="1"/>
          <p:nvPr/>
        </p:nvSpPr>
        <p:spPr>
          <a:xfrm>
            <a:off x="3801708" y="2705725"/>
            <a:ext cx="458858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latin typeface="+mj-ea"/>
                <a:ea typeface="+mj-ea"/>
              </a:rPr>
              <a:t>Parallel</a:t>
            </a:r>
            <a:r>
              <a:rPr lang="ko-KR" altLang="en-US" sz="4400" b="1" dirty="0">
                <a:latin typeface="+mj-ea"/>
                <a:ea typeface="+mj-ea"/>
              </a:rPr>
              <a:t> </a:t>
            </a:r>
            <a:r>
              <a:rPr lang="en-US" altLang="ko-KR" sz="4400" b="1" dirty="0">
                <a:latin typeface="+mj-ea"/>
                <a:ea typeface="+mj-ea"/>
              </a:rPr>
              <a:t>LSTM </a:t>
            </a:r>
            <a:r>
              <a:rPr lang="ko-KR" altLang="en-US" sz="4400" b="1" dirty="0">
                <a:latin typeface="+mj-ea"/>
                <a:ea typeface="+mj-ea"/>
              </a:rPr>
              <a:t>성능 개선 결과</a:t>
            </a:r>
            <a:endParaRPr lang="ko-KR" altLang="en-US" sz="2000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2217633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C450E-78D8-4916-AA72-7CF5D3B171E9}"/>
              </a:ext>
            </a:extLst>
          </p:cNvPr>
          <p:cNvSpPr txBox="1"/>
          <p:nvPr/>
        </p:nvSpPr>
        <p:spPr>
          <a:xfrm>
            <a:off x="622386" y="850612"/>
            <a:ext cx="32384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b="1" dirty="0">
                <a:latin typeface="+mj-ea"/>
                <a:ea typeface="+mj-ea"/>
              </a:rPr>
              <a:t>학습데이터</a:t>
            </a:r>
            <a:endParaRPr lang="ko-KR" altLang="en-US" sz="1200" b="1" dirty="0">
              <a:latin typeface="+mj-ea"/>
              <a:ea typeface="+mj-ea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65E694D8-56B9-4A6D-921B-5623FCBBA9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8367899"/>
              </p:ext>
            </p:extLst>
          </p:nvPr>
        </p:nvGraphicFramePr>
        <p:xfrm>
          <a:off x="1210731" y="3219528"/>
          <a:ext cx="9692641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0560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6750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10814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4048918556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522523455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2162001719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38635649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4099286348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21081817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time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성남북초교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광주시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남한산초교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대장동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구미초교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한국학중앙연구원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2014-07-24 15:30:00</a:t>
                      </a:r>
                    </a:p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1.12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5.11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2.17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40.56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3AAD899-9E1E-4F1D-9D67-D7818219E8D5}"/>
              </a:ext>
            </a:extLst>
          </p:cNvPr>
          <p:cNvSpPr txBox="1"/>
          <p:nvPr/>
        </p:nvSpPr>
        <p:spPr>
          <a:xfrm>
            <a:off x="1109130" y="2513161"/>
            <a:ext cx="56557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홍수통제소 </a:t>
            </a:r>
            <a:r>
              <a:rPr lang="en-US" altLang="ko-KR" sz="1600" dirty="0"/>
              <a:t>API </a:t>
            </a:r>
            <a:r>
              <a:rPr lang="ko-KR" altLang="en-US" sz="1600" dirty="0"/>
              <a:t>호출 → </a:t>
            </a:r>
            <a:r>
              <a:rPr lang="en-US" altLang="ko-KR" sz="1600" dirty="0"/>
              <a:t>MIET</a:t>
            </a:r>
            <a:r>
              <a:rPr lang="ko-KR" altLang="en-US" sz="1600" dirty="0"/>
              <a:t> 활용 강우 이벤트 추출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BA47AD-0990-45A0-AE11-480760BE19D1}"/>
              </a:ext>
            </a:extLst>
          </p:cNvPr>
          <p:cNvSpPr txBox="1"/>
          <p:nvPr/>
        </p:nvSpPr>
        <p:spPr>
          <a:xfrm>
            <a:off x="1109130" y="5289148"/>
            <a:ext cx="79755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학습 </a:t>
            </a:r>
            <a:r>
              <a:rPr lang="en-US" altLang="ko-KR" sz="1600" dirty="0"/>
              <a:t>: </a:t>
            </a:r>
            <a:r>
              <a:rPr lang="ko-KR" altLang="en-US" sz="1600" dirty="0"/>
              <a:t>총 </a:t>
            </a:r>
            <a:r>
              <a:rPr lang="en-US" altLang="ko-KR" sz="1600" dirty="0"/>
              <a:t>1420</a:t>
            </a:r>
            <a:r>
              <a:rPr lang="ko-KR" altLang="en-US" sz="1600" dirty="0"/>
              <a:t>개 中 </a:t>
            </a:r>
            <a:r>
              <a:rPr lang="en-US" altLang="ko-KR" sz="1600" dirty="0"/>
              <a:t>1412</a:t>
            </a:r>
            <a:r>
              <a:rPr lang="ko-KR" altLang="en-US" sz="1600" dirty="0"/>
              <a:t>개 데이터 파일 학습에 사용 </a:t>
            </a:r>
            <a:r>
              <a:rPr lang="en-US" altLang="ko-KR" sz="1600" dirty="0"/>
              <a:t>( </a:t>
            </a:r>
            <a:r>
              <a:rPr lang="ko-KR" altLang="en-US" sz="1600" dirty="0"/>
              <a:t>결측 </a:t>
            </a:r>
            <a:r>
              <a:rPr lang="en-US" altLang="ko-KR" sz="1600" dirty="0"/>
              <a:t>5</a:t>
            </a:r>
            <a:r>
              <a:rPr lang="ko-KR" altLang="en-US" sz="1600" dirty="0"/>
              <a:t>개 </a:t>
            </a:r>
            <a:r>
              <a:rPr lang="en-US" altLang="ko-KR" sz="1600" dirty="0"/>
              <a:t>+ </a:t>
            </a:r>
            <a:r>
              <a:rPr lang="ko-KR" altLang="en-US" sz="1600" dirty="0"/>
              <a:t>검증 </a:t>
            </a:r>
            <a:r>
              <a:rPr lang="en-US" altLang="ko-KR" sz="1600" dirty="0"/>
              <a:t>3</a:t>
            </a:r>
            <a:r>
              <a:rPr lang="ko-KR" altLang="en-US" sz="1600" dirty="0"/>
              <a:t>개 </a:t>
            </a:r>
            <a:r>
              <a:rPr lang="en-US" altLang="ko-KR" sz="1600" dirty="0"/>
              <a:t>)</a:t>
            </a:r>
            <a:r>
              <a:rPr lang="ko-KR" altLang="en-US" sz="1600" dirty="0"/>
              <a:t> </a:t>
            </a:r>
            <a:endParaRPr lang="en-US" altLang="ko-KR" sz="1600" dirty="0"/>
          </a:p>
          <a:p>
            <a:r>
              <a:rPr lang="en-US" altLang="ko-KR" sz="1600" dirty="0"/>
              <a:t> </a:t>
            </a:r>
            <a:br>
              <a:rPr lang="en-US" altLang="ko-KR" sz="1600" dirty="0"/>
            </a:br>
            <a:r>
              <a:rPr lang="ko-KR" altLang="en-US" sz="1600" dirty="0"/>
              <a:t>검증 </a:t>
            </a:r>
            <a:r>
              <a:rPr lang="en-US" altLang="ko-KR" sz="1600" dirty="0"/>
              <a:t>: </a:t>
            </a:r>
            <a:r>
              <a:rPr lang="ko-KR" altLang="en-US" sz="1600" dirty="0"/>
              <a:t>학습 데이터에서 제외한 </a:t>
            </a:r>
            <a:r>
              <a:rPr lang="en-US" altLang="ko-KR" sz="1600" dirty="0"/>
              <a:t>3</a:t>
            </a:r>
            <a:r>
              <a:rPr lang="ko-KR" altLang="en-US" sz="1600" dirty="0"/>
              <a:t>개 </a:t>
            </a:r>
            <a:r>
              <a:rPr lang="en-US" altLang="ko-KR" sz="1600" dirty="0"/>
              <a:t>+ </a:t>
            </a:r>
            <a:r>
              <a:rPr lang="ko-KR" altLang="en-US" sz="1600" dirty="0"/>
              <a:t>학습에서 검증에 사용된 </a:t>
            </a:r>
            <a:r>
              <a:rPr lang="en-US" altLang="ko-KR" sz="1600" dirty="0"/>
              <a:t>2</a:t>
            </a:r>
            <a:r>
              <a:rPr lang="ko-KR" altLang="en-US" sz="1600" dirty="0"/>
              <a:t>개 이벤트 사용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286E06-873F-4900-8D69-44EA679B3BA9}"/>
              </a:ext>
            </a:extLst>
          </p:cNvPr>
          <p:cNvSpPr txBox="1"/>
          <p:nvPr/>
        </p:nvSpPr>
        <p:spPr>
          <a:xfrm>
            <a:off x="9273646" y="5102419"/>
            <a:ext cx="2918354" cy="879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학습 </a:t>
            </a:r>
            <a:r>
              <a:rPr lang="en-US" altLang="ko-KR" sz="900" b="1" dirty="0">
                <a:latin typeface="+mn-ea"/>
              </a:rPr>
              <a:t>: ~ 2022 68</a:t>
            </a:r>
            <a:r>
              <a:rPr lang="ko-KR" altLang="en-US" sz="900" b="1" dirty="0">
                <a:latin typeface="+mn-ea"/>
              </a:rPr>
              <a:t>번 </a:t>
            </a:r>
            <a:r>
              <a:rPr lang="en-US" altLang="ko-KR" sz="900" b="1" dirty="0">
                <a:latin typeface="+mn-ea"/>
              </a:rPr>
              <a:t>( 988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검증 </a:t>
            </a:r>
            <a:r>
              <a:rPr lang="en-US" altLang="ko-KR" sz="900" b="1" dirty="0">
                <a:latin typeface="+mn-ea"/>
              </a:rPr>
              <a:t>: ~ 2024 96</a:t>
            </a:r>
            <a:r>
              <a:rPr lang="ko-KR" altLang="en-US" sz="900" b="1" dirty="0">
                <a:latin typeface="+mn-ea"/>
              </a:rPr>
              <a:t>번 </a:t>
            </a:r>
            <a:r>
              <a:rPr lang="en-US" altLang="ko-KR" sz="900" b="1" dirty="0">
                <a:latin typeface="+mn-ea"/>
              </a:rPr>
              <a:t>( 282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테스트 </a:t>
            </a:r>
            <a:r>
              <a:rPr lang="en-US" altLang="ko-KR" sz="900" b="1" dirty="0">
                <a:latin typeface="+mn-ea"/>
              </a:rPr>
              <a:t>: ~ 2025 109</a:t>
            </a:r>
            <a:r>
              <a:rPr lang="ko-KR" altLang="en-US" sz="900" b="1" dirty="0">
                <a:latin typeface="+mn-ea"/>
              </a:rPr>
              <a:t>번 </a:t>
            </a:r>
            <a:r>
              <a:rPr lang="en-US" altLang="ko-KR" sz="900" b="1" dirty="0">
                <a:latin typeface="+mn-ea"/>
              </a:rPr>
              <a:t>( 142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11B2DE-AE9B-4325-9947-5E17F10D700A}"/>
              </a:ext>
            </a:extLst>
          </p:cNvPr>
          <p:cNvSpPr txBox="1"/>
          <p:nvPr/>
        </p:nvSpPr>
        <p:spPr>
          <a:xfrm>
            <a:off x="8754534" y="126666"/>
            <a:ext cx="3310468" cy="2264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관심 수위 </a:t>
            </a:r>
            <a:r>
              <a:rPr lang="en-US" altLang="ko-KR" sz="900" b="1" dirty="0">
                <a:latin typeface="+mn-ea"/>
              </a:rPr>
              <a:t>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( 2 ) 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( 3.8 )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>
                <a:latin typeface="+mn-ea"/>
              </a:rPr>
              <a:t>smoothing 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( 1 )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( 2 )</a:t>
            </a:r>
          </a:p>
          <a:p>
            <a:pPr>
              <a:lnSpc>
                <a:spcPct val="200000"/>
              </a:lnSpc>
            </a:pPr>
            <a:r>
              <a:rPr lang="en-US" altLang="ko-KR" sz="900" b="1" dirty="0">
                <a:latin typeface="+mn-ea"/>
              </a:rPr>
              <a:t>--------------------------------------------------------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learning_rate</a:t>
            </a:r>
            <a:r>
              <a:rPr lang="en-US" altLang="ko-KR" sz="900" b="1" dirty="0">
                <a:latin typeface="+mn-ea"/>
              </a:rPr>
              <a:t> = 0.0001 / 0.0003 / 0.0005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Loss_function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=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MSE / MAE / MAPE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Seq_length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=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solidFill>
                  <a:srgbClr val="FF0000"/>
                </a:solidFill>
                <a:latin typeface="+mn-ea"/>
              </a:rPr>
              <a:t>36</a:t>
            </a:r>
            <a:r>
              <a:rPr lang="en-US" altLang="ko-KR" sz="900" b="1" dirty="0">
                <a:latin typeface="+mn-ea"/>
              </a:rPr>
              <a:t> ( 6</a:t>
            </a:r>
            <a:r>
              <a:rPr lang="ko-KR" altLang="en-US" sz="900" b="1" dirty="0">
                <a:latin typeface="+mn-ea"/>
              </a:rPr>
              <a:t>시간 </a:t>
            </a:r>
            <a:r>
              <a:rPr lang="en-US" altLang="ko-KR" sz="900" b="1" dirty="0">
                <a:latin typeface="+mn-ea"/>
              </a:rPr>
              <a:t>) / 48 / 60 / 72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Num_of_layer</a:t>
            </a:r>
            <a:r>
              <a:rPr lang="en-US" altLang="ko-KR" sz="900" b="1" dirty="0">
                <a:latin typeface="+mn-ea"/>
              </a:rPr>
              <a:t> = 6 / 12 (</a:t>
            </a:r>
            <a:r>
              <a:rPr lang="ko-KR" altLang="en-US" sz="900" b="1" dirty="0">
                <a:latin typeface="+mn-ea"/>
              </a:rPr>
              <a:t> 각 </a:t>
            </a:r>
            <a:r>
              <a:rPr lang="en-US" altLang="ko-KR" sz="900" b="1" dirty="0">
                <a:latin typeface="+mn-ea"/>
              </a:rPr>
              <a:t>LSTM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3</a:t>
            </a:r>
            <a:r>
              <a:rPr lang="ko-KR" altLang="en-US" sz="900" b="1" dirty="0">
                <a:latin typeface="+mn-ea"/>
              </a:rPr>
              <a:t>개 처리 </a:t>
            </a:r>
            <a:r>
              <a:rPr lang="en-US" altLang="ko-KR" sz="900" b="1" dirty="0">
                <a:latin typeface="+mn-ea"/>
              </a:rPr>
              <a:t>) / 18 / 36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영향 없는 관측소 및 컬럼 제외 </a:t>
            </a:r>
            <a:r>
              <a:rPr lang="en-US" altLang="ko-KR" sz="900" b="1" dirty="0">
                <a:latin typeface="+mn-ea"/>
              </a:rPr>
              <a:t>/ </a:t>
            </a:r>
            <a:r>
              <a:rPr lang="ko-KR" altLang="en-US" sz="900" b="1" dirty="0">
                <a:solidFill>
                  <a:srgbClr val="FF0000"/>
                </a:solidFill>
                <a:latin typeface="+mn-ea"/>
              </a:rPr>
              <a:t>전체 강우</a:t>
            </a:r>
            <a:endParaRPr lang="en-US" altLang="ko-KR" sz="900" b="1" dirty="0">
              <a:solidFill>
                <a:srgbClr val="FF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2719323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11C99160-6B77-45EA-8F2B-8F76482011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1386464"/>
              </p:ext>
            </p:extLst>
          </p:nvPr>
        </p:nvGraphicFramePr>
        <p:xfrm>
          <a:off x="800836" y="1889775"/>
          <a:ext cx="4328033" cy="415036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bg1"/>
                          </a:solidFill>
                        </a:rPr>
                        <a:t>궁내교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testdata_220712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-0.2437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0.0493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0.1828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0.2221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testdata_230711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0.8500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0.0419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0.1468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0.2048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testdata_250716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0.8895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0.0110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0.0833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0.1052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testdata_250814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0.7838</a:t>
                      </a:r>
                      <a:endParaRPr lang="pt-BR" altLang="ko-KR" sz="1400" dirty="0">
                        <a:solidFill>
                          <a:srgbClr val="FF0000"/>
                        </a:solidFill>
                      </a:endParaRP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0.0152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0.0962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0.1234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0621040"/>
                  </a:ext>
                </a:extLst>
              </a:tr>
            </a:tbl>
          </a:graphicData>
        </a:graphic>
      </p:graphicFrame>
      <p:sp>
        <p:nvSpPr>
          <p:cNvPr id="27" name="직사각형 26">
            <a:extLst>
              <a:ext uri="{FF2B5EF4-FFF2-40B4-BE49-F238E27FC236}">
                <a16:creationId xmlns:a16="http://schemas.microsoft.com/office/drawing/2014/main" id="{4EF33900-A573-48EF-8975-0A2C5750C40D}"/>
              </a:ext>
            </a:extLst>
          </p:cNvPr>
          <p:cNvSpPr/>
          <p:nvPr/>
        </p:nvSpPr>
        <p:spPr>
          <a:xfrm>
            <a:off x="2241494" y="1889775"/>
            <a:ext cx="2887375" cy="41503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CC287890-8D3F-4F75-B6EE-54A24D7225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7887" y="4338524"/>
            <a:ext cx="3035115" cy="1607756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34B44F8C-A4EF-4214-B85D-838A2A05AD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2019" y="4338731"/>
            <a:ext cx="3059566" cy="1605954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D1DF17EE-4843-4A32-BDAC-03BBE1594C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1399" y="1970948"/>
            <a:ext cx="2993660" cy="1585244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77E4CA0B-D49E-45B1-BAE8-60B9B42BF1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4875" y="1977329"/>
            <a:ext cx="2977423" cy="1597490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9666F396-617E-4A87-B71B-140F779486DE}"/>
              </a:ext>
            </a:extLst>
          </p:cNvPr>
          <p:cNvSpPr txBox="1"/>
          <p:nvPr/>
        </p:nvSpPr>
        <p:spPr>
          <a:xfrm>
            <a:off x="6261235" y="3605498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testdata_220712</a:t>
            </a:r>
            <a:endParaRPr lang="ko-KR" altLang="en-US" sz="10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CA25465-4979-4F8A-9B0A-4264AEA6DA31}"/>
              </a:ext>
            </a:extLst>
          </p:cNvPr>
          <p:cNvSpPr txBox="1"/>
          <p:nvPr/>
        </p:nvSpPr>
        <p:spPr>
          <a:xfrm>
            <a:off x="9409377" y="3605498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/>
              <a:t>testdata_230711</a:t>
            </a:r>
            <a:endParaRPr lang="ko-KR" altLang="en-US" sz="10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6B302A1-B195-4A71-8F8A-E20D52E67826}"/>
              </a:ext>
            </a:extLst>
          </p:cNvPr>
          <p:cNvSpPr txBox="1"/>
          <p:nvPr/>
        </p:nvSpPr>
        <p:spPr>
          <a:xfrm>
            <a:off x="6261235" y="6040135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testdata_250716</a:t>
            </a:r>
            <a:endParaRPr lang="ko-KR" altLang="en-US" sz="10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CD4B0EC-3B8B-4308-B662-5880CA2DCDE8}"/>
              </a:ext>
            </a:extLst>
          </p:cNvPr>
          <p:cNvSpPr txBox="1"/>
          <p:nvPr/>
        </p:nvSpPr>
        <p:spPr>
          <a:xfrm>
            <a:off x="9417592" y="6040135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testdata_250814</a:t>
            </a:r>
            <a:endParaRPr lang="ko-KR" altLang="en-US" sz="10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A4AFE95-2DED-42BC-A1CA-CCD46CBA4F68}"/>
              </a:ext>
            </a:extLst>
          </p:cNvPr>
          <p:cNvSpPr txBox="1"/>
          <p:nvPr/>
        </p:nvSpPr>
        <p:spPr>
          <a:xfrm>
            <a:off x="33795" y="3792450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1000" dirty="0"/>
              <a:t>증설 전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E878C64-9135-48B4-AD37-DDB91950CAEC}"/>
              </a:ext>
            </a:extLst>
          </p:cNvPr>
          <p:cNvSpPr txBox="1"/>
          <p:nvPr/>
        </p:nvSpPr>
        <p:spPr>
          <a:xfrm>
            <a:off x="33795" y="4260325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1000" dirty="0"/>
              <a:t>증설 후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105E4055-07E8-4C56-93F5-5CE2B0B1AE01}"/>
              </a:ext>
            </a:extLst>
          </p:cNvPr>
          <p:cNvCxnSpPr/>
          <p:nvPr/>
        </p:nvCxnSpPr>
        <p:spPr>
          <a:xfrm flipH="1">
            <a:off x="0" y="4148667"/>
            <a:ext cx="80083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A057CE8F-56A8-4A0F-BD3D-532182644401}"/>
              </a:ext>
            </a:extLst>
          </p:cNvPr>
          <p:cNvSpPr txBox="1"/>
          <p:nvPr/>
        </p:nvSpPr>
        <p:spPr>
          <a:xfrm>
            <a:off x="622385" y="850612"/>
            <a:ext cx="789963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err="1">
                <a:latin typeface="+mj-ea"/>
              </a:rPr>
              <a:t>num_of_layer</a:t>
            </a:r>
            <a:r>
              <a:rPr lang="en-US" altLang="ko-KR" sz="2000" b="1" dirty="0">
                <a:latin typeface="+mj-ea"/>
              </a:rPr>
              <a:t> =18, </a:t>
            </a:r>
            <a:r>
              <a:rPr lang="en-US" altLang="ko-KR" sz="2000" b="1" dirty="0" err="1">
                <a:latin typeface="+mj-ea"/>
              </a:rPr>
              <a:t>loss_function</a:t>
            </a:r>
            <a:r>
              <a:rPr lang="en-US" altLang="ko-KR" sz="2000" b="1" dirty="0">
                <a:latin typeface="+mj-ea"/>
              </a:rPr>
              <a:t> = MSE, </a:t>
            </a:r>
            <a:r>
              <a:rPr lang="en-US" altLang="ko-KR" sz="2000" b="1" dirty="0" err="1">
                <a:latin typeface="+mj-ea"/>
              </a:rPr>
              <a:t>learning_rate</a:t>
            </a:r>
            <a:r>
              <a:rPr lang="en-US" altLang="ko-KR" sz="2000" b="1" dirty="0">
                <a:latin typeface="+mj-ea"/>
              </a:rPr>
              <a:t> = 0.0001 </a:t>
            </a:r>
          </a:p>
          <a:p>
            <a:r>
              <a:rPr lang="ko-KR" altLang="en-US" sz="2000" b="1" dirty="0">
                <a:latin typeface="+mj-ea"/>
                <a:ea typeface="+mj-ea"/>
              </a:rPr>
              <a:t>예측 코드 </a:t>
            </a:r>
            <a:r>
              <a:rPr lang="en-US" altLang="ko-KR" sz="2000" b="1" dirty="0">
                <a:latin typeface="+mj-ea"/>
                <a:ea typeface="+mj-ea"/>
              </a:rPr>
              <a:t>- </a:t>
            </a:r>
            <a:r>
              <a:rPr lang="ko-KR" altLang="en-US" sz="2000" b="1" dirty="0" err="1">
                <a:solidFill>
                  <a:srgbClr val="FF0000"/>
                </a:solidFill>
                <a:latin typeface="+mj-ea"/>
                <a:ea typeface="+mj-ea"/>
              </a:rPr>
              <a:t>궁내교</a:t>
            </a:r>
            <a:endParaRPr lang="ko-KR" altLang="en-US" sz="2000" b="1" dirty="0">
              <a:solidFill>
                <a:srgbClr val="FF0000"/>
              </a:solidFill>
              <a:latin typeface="+mj-ea"/>
              <a:ea typeface="+mj-ea"/>
            </a:endParaRPr>
          </a:p>
          <a:p>
            <a:endParaRPr lang="ko-KR" altLang="en-US" sz="1000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3597543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04196056-BB79-4D14-ADCA-8FFA99577F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335947"/>
              </p:ext>
            </p:extLst>
          </p:nvPr>
        </p:nvGraphicFramePr>
        <p:xfrm>
          <a:off x="800836" y="1889775"/>
          <a:ext cx="4328033" cy="415036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bg1"/>
                          </a:solidFill>
                        </a:rPr>
                        <a:t>대곡교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testdata_220712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0.4649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0.0749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0.2530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0.2737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testdata_230711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0.6025</a:t>
                      </a:r>
                      <a:endParaRPr lang="pt-BR" altLang="ko-KR" sz="1400" dirty="0">
                        <a:solidFill>
                          <a:srgbClr val="FF0000"/>
                        </a:solidFill>
                      </a:endParaRP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0.3617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0.3919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0.6014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testdata_250716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0.7837</a:t>
                      </a:r>
                      <a:endParaRPr lang="pt-BR" altLang="ko-KR" sz="1400" dirty="0">
                        <a:solidFill>
                          <a:srgbClr val="FF0000"/>
                        </a:solidFill>
                      </a:endParaRP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0.0998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0.2374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0.3159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testdata_250814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0.6523</a:t>
                      </a:r>
                      <a:endParaRPr lang="pt-BR" altLang="ko-KR" sz="1400" dirty="0">
                        <a:solidFill>
                          <a:srgbClr val="FF0000"/>
                        </a:solidFill>
                      </a:endParaRP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0.1206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0.2747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0.3473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0621040"/>
                  </a:ext>
                </a:extLst>
              </a:tr>
            </a:tbl>
          </a:graphicData>
        </a:graphic>
      </p:graphicFrame>
      <p:sp>
        <p:nvSpPr>
          <p:cNvPr id="27" name="직사각형 26">
            <a:extLst>
              <a:ext uri="{FF2B5EF4-FFF2-40B4-BE49-F238E27FC236}">
                <a16:creationId xmlns:a16="http://schemas.microsoft.com/office/drawing/2014/main" id="{4EF33900-A573-48EF-8975-0A2C5750C40D}"/>
              </a:ext>
            </a:extLst>
          </p:cNvPr>
          <p:cNvSpPr/>
          <p:nvPr/>
        </p:nvSpPr>
        <p:spPr>
          <a:xfrm>
            <a:off x="2241494" y="1889775"/>
            <a:ext cx="2887375" cy="415036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A4AFE95-2DED-42BC-A1CA-CCD46CBA4F68}"/>
              </a:ext>
            </a:extLst>
          </p:cNvPr>
          <p:cNvSpPr txBox="1"/>
          <p:nvPr/>
        </p:nvSpPr>
        <p:spPr>
          <a:xfrm>
            <a:off x="33795" y="3792450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1000" dirty="0"/>
              <a:t>증설 전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E878C64-9135-48B4-AD37-DDB91950CAEC}"/>
              </a:ext>
            </a:extLst>
          </p:cNvPr>
          <p:cNvSpPr txBox="1"/>
          <p:nvPr/>
        </p:nvSpPr>
        <p:spPr>
          <a:xfrm>
            <a:off x="33795" y="4260325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1000" dirty="0"/>
              <a:t>증설 후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105E4055-07E8-4C56-93F5-5CE2B0B1AE01}"/>
              </a:ext>
            </a:extLst>
          </p:cNvPr>
          <p:cNvCxnSpPr/>
          <p:nvPr/>
        </p:nvCxnSpPr>
        <p:spPr>
          <a:xfrm flipH="1">
            <a:off x="0" y="4148667"/>
            <a:ext cx="80083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9B776D31-284F-4F08-950F-9807E063D9DD}"/>
              </a:ext>
            </a:extLst>
          </p:cNvPr>
          <p:cNvSpPr txBox="1"/>
          <p:nvPr/>
        </p:nvSpPr>
        <p:spPr>
          <a:xfrm>
            <a:off x="622385" y="850612"/>
            <a:ext cx="79147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err="1">
                <a:latin typeface="+mj-ea"/>
                <a:ea typeface="+mj-ea"/>
              </a:rPr>
              <a:t>num_of_layer</a:t>
            </a:r>
            <a:r>
              <a:rPr lang="en-US" altLang="ko-KR" sz="2000" b="1" dirty="0">
                <a:latin typeface="+mj-ea"/>
                <a:ea typeface="+mj-ea"/>
              </a:rPr>
              <a:t> =18,</a:t>
            </a:r>
            <a:r>
              <a:rPr lang="en-US" altLang="ko-KR" sz="2000" b="1" dirty="0">
                <a:latin typeface="+mj-ea"/>
              </a:rPr>
              <a:t> </a:t>
            </a:r>
            <a:r>
              <a:rPr lang="en-US" altLang="ko-KR" sz="2000" b="1" dirty="0" err="1">
                <a:latin typeface="+mj-ea"/>
              </a:rPr>
              <a:t>loss_function</a:t>
            </a:r>
            <a:r>
              <a:rPr lang="en-US" altLang="ko-KR" sz="2000" b="1" dirty="0">
                <a:latin typeface="+mj-ea"/>
              </a:rPr>
              <a:t> = MSE, </a:t>
            </a:r>
            <a:r>
              <a:rPr lang="en-US" altLang="ko-KR" sz="2000" b="1" dirty="0" err="1">
                <a:latin typeface="+mj-ea"/>
              </a:rPr>
              <a:t>learning_rate</a:t>
            </a:r>
            <a:r>
              <a:rPr lang="en-US" altLang="ko-KR" sz="2000" b="1" dirty="0">
                <a:latin typeface="+mj-ea"/>
              </a:rPr>
              <a:t> = 0.0001 </a:t>
            </a:r>
            <a:endParaRPr lang="en-US" altLang="ko-KR" sz="2000" b="1" dirty="0">
              <a:latin typeface="+mj-ea"/>
              <a:ea typeface="+mj-ea"/>
            </a:endParaRPr>
          </a:p>
          <a:p>
            <a:r>
              <a:rPr lang="ko-KR" altLang="en-US" sz="2000" b="1" dirty="0">
                <a:latin typeface="+mj-ea"/>
                <a:ea typeface="+mj-ea"/>
              </a:rPr>
              <a:t>예측 코드 </a:t>
            </a:r>
            <a:r>
              <a:rPr lang="en-US" altLang="ko-KR" sz="2000" b="1" dirty="0">
                <a:latin typeface="+mj-ea"/>
                <a:ea typeface="+mj-ea"/>
              </a:rPr>
              <a:t>- </a:t>
            </a:r>
            <a:r>
              <a:rPr lang="ko-KR" altLang="en-US" sz="2000" b="1" dirty="0" err="1">
                <a:solidFill>
                  <a:schemeClr val="accent5"/>
                </a:solidFill>
                <a:latin typeface="+mj-ea"/>
                <a:ea typeface="+mj-ea"/>
              </a:rPr>
              <a:t>대곡교</a:t>
            </a:r>
            <a:endParaRPr lang="ko-KR" altLang="en-US" sz="2000" b="1" dirty="0">
              <a:solidFill>
                <a:schemeClr val="accent5"/>
              </a:solidFill>
              <a:latin typeface="+mj-ea"/>
              <a:ea typeface="+mj-ea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16E2E844-091A-49B4-BC3E-70A0595B20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0869" y="4338524"/>
            <a:ext cx="3029151" cy="1607756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F9374747-68DC-496A-AAC9-C882AE5743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7167" y="4338731"/>
            <a:ext cx="3029270" cy="1605954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1E2FA94E-7B17-466B-AE68-69E95BD9B45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5689" y="1970948"/>
            <a:ext cx="2985079" cy="1585244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14A99877-9487-4654-9C42-C1415051044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4875" y="2006316"/>
            <a:ext cx="2977423" cy="1539515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9A05B2C0-8EF7-41B4-AB3C-BCDEAD98637D}"/>
              </a:ext>
            </a:extLst>
          </p:cNvPr>
          <p:cNvSpPr txBox="1"/>
          <p:nvPr/>
        </p:nvSpPr>
        <p:spPr>
          <a:xfrm>
            <a:off x="6261235" y="3605498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testdata_220712</a:t>
            </a:r>
            <a:endParaRPr lang="ko-KR" altLang="en-US" sz="10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4ED07FF-6B14-4DE1-9C4D-D0EE8E2A5B5B}"/>
              </a:ext>
            </a:extLst>
          </p:cNvPr>
          <p:cNvSpPr txBox="1"/>
          <p:nvPr/>
        </p:nvSpPr>
        <p:spPr>
          <a:xfrm>
            <a:off x="9409377" y="3605498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/>
              <a:t>testdata_230711</a:t>
            </a:r>
            <a:endParaRPr lang="ko-KR" altLang="en-US" sz="10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0757C12-A4C2-411D-B087-B8C397EC2824}"/>
              </a:ext>
            </a:extLst>
          </p:cNvPr>
          <p:cNvSpPr txBox="1"/>
          <p:nvPr/>
        </p:nvSpPr>
        <p:spPr>
          <a:xfrm>
            <a:off x="6261235" y="6040135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testdata_250716</a:t>
            </a:r>
            <a:endParaRPr lang="ko-KR" altLang="en-US" sz="10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D9C68C5-F4E2-4FCB-B716-E0A7EFE9114F}"/>
              </a:ext>
            </a:extLst>
          </p:cNvPr>
          <p:cNvSpPr txBox="1"/>
          <p:nvPr/>
        </p:nvSpPr>
        <p:spPr>
          <a:xfrm>
            <a:off x="9417592" y="6040135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testdata_250814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14655361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11C99160-6B77-45EA-8F2B-8F76482011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152708"/>
              </p:ext>
            </p:extLst>
          </p:nvPr>
        </p:nvGraphicFramePr>
        <p:xfrm>
          <a:off x="800836" y="1889775"/>
          <a:ext cx="4328033" cy="415036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bg1"/>
                          </a:solidFill>
                        </a:rPr>
                        <a:t>궁내교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testdata_220712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0.7886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0.0083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0.07876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0.0915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testdata_230711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0.6794</a:t>
                      </a:r>
                      <a:endParaRPr lang="pt-BR" altLang="ko-KR" sz="1400" dirty="0">
                        <a:solidFill>
                          <a:srgbClr val="FF0000"/>
                        </a:solidFill>
                      </a:endParaRP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0.0896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0.2132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0.2994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testdata_250716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0.8537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0.0146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0.0960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0.1211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testdata_250814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0.7326</a:t>
                      </a:r>
                      <a:endParaRPr lang="pt-BR" altLang="ko-KR" sz="1400" dirty="0">
                        <a:solidFill>
                          <a:srgbClr val="FF0000"/>
                        </a:solidFill>
                      </a:endParaRP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0.0188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0.0974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0.1372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0621040"/>
                  </a:ext>
                </a:extLst>
              </a:tr>
            </a:tbl>
          </a:graphicData>
        </a:graphic>
      </p:graphicFrame>
      <p:sp>
        <p:nvSpPr>
          <p:cNvPr id="27" name="직사각형 26">
            <a:extLst>
              <a:ext uri="{FF2B5EF4-FFF2-40B4-BE49-F238E27FC236}">
                <a16:creationId xmlns:a16="http://schemas.microsoft.com/office/drawing/2014/main" id="{4EF33900-A573-48EF-8975-0A2C5750C40D}"/>
              </a:ext>
            </a:extLst>
          </p:cNvPr>
          <p:cNvSpPr/>
          <p:nvPr/>
        </p:nvSpPr>
        <p:spPr>
          <a:xfrm>
            <a:off x="2241494" y="1889775"/>
            <a:ext cx="2887375" cy="41503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CC287890-8D3F-4F75-B6EE-54A24D7225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7887" y="4348846"/>
            <a:ext cx="3035115" cy="1587112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34B44F8C-A4EF-4214-B85D-838A2A05AD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6416" y="4338731"/>
            <a:ext cx="3010771" cy="1605954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D1DF17EE-4843-4A32-BDAC-03BBE1594C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1399" y="1974700"/>
            <a:ext cx="2993660" cy="1577739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77E4CA0B-D49E-45B1-BAE8-60B9B42BF1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4875" y="1982819"/>
            <a:ext cx="2977423" cy="1586509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9666F396-617E-4A87-B71B-140F779486DE}"/>
              </a:ext>
            </a:extLst>
          </p:cNvPr>
          <p:cNvSpPr txBox="1"/>
          <p:nvPr/>
        </p:nvSpPr>
        <p:spPr>
          <a:xfrm>
            <a:off x="6261235" y="3605498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testdata_220712</a:t>
            </a:r>
            <a:endParaRPr lang="ko-KR" altLang="en-US" sz="10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CA25465-4979-4F8A-9B0A-4264AEA6DA31}"/>
              </a:ext>
            </a:extLst>
          </p:cNvPr>
          <p:cNvSpPr txBox="1"/>
          <p:nvPr/>
        </p:nvSpPr>
        <p:spPr>
          <a:xfrm>
            <a:off x="9409377" y="3605498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/>
              <a:t>testdata_230711</a:t>
            </a:r>
            <a:endParaRPr lang="ko-KR" altLang="en-US" sz="10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6B302A1-B195-4A71-8F8A-E20D52E67826}"/>
              </a:ext>
            </a:extLst>
          </p:cNvPr>
          <p:cNvSpPr txBox="1"/>
          <p:nvPr/>
        </p:nvSpPr>
        <p:spPr>
          <a:xfrm>
            <a:off x="6261235" y="6040135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testdata_250716</a:t>
            </a:r>
            <a:endParaRPr lang="ko-KR" altLang="en-US" sz="10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CD4B0EC-3B8B-4308-B662-5880CA2DCDE8}"/>
              </a:ext>
            </a:extLst>
          </p:cNvPr>
          <p:cNvSpPr txBox="1"/>
          <p:nvPr/>
        </p:nvSpPr>
        <p:spPr>
          <a:xfrm>
            <a:off x="9417592" y="6040135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testdata_250814</a:t>
            </a:r>
            <a:endParaRPr lang="ko-KR" altLang="en-US" sz="10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A4AFE95-2DED-42BC-A1CA-CCD46CBA4F68}"/>
              </a:ext>
            </a:extLst>
          </p:cNvPr>
          <p:cNvSpPr txBox="1"/>
          <p:nvPr/>
        </p:nvSpPr>
        <p:spPr>
          <a:xfrm>
            <a:off x="33795" y="3792450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1000" dirty="0"/>
              <a:t>증설 전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E878C64-9135-48B4-AD37-DDB91950CAEC}"/>
              </a:ext>
            </a:extLst>
          </p:cNvPr>
          <p:cNvSpPr txBox="1"/>
          <p:nvPr/>
        </p:nvSpPr>
        <p:spPr>
          <a:xfrm>
            <a:off x="33795" y="4260325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1000" dirty="0"/>
              <a:t>증설 후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105E4055-07E8-4C56-93F5-5CE2B0B1AE01}"/>
              </a:ext>
            </a:extLst>
          </p:cNvPr>
          <p:cNvCxnSpPr/>
          <p:nvPr/>
        </p:nvCxnSpPr>
        <p:spPr>
          <a:xfrm flipH="1">
            <a:off x="0" y="4148667"/>
            <a:ext cx="80083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6014CA3B-0B84-4DCC-BCA8-4F45FEE3555F}"/>
              </a:ext>
            </a:extLst>
          </p:cNvPr>
          <p:cNvSpPr txBox="1"/>
          <p:nvPr/>
        </p:nvSpPr>
        <p:spPr>
          <a:xfrm>
            <a:off x="622385" y="850612"/>
            <a:ext cx="83522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err="1">
                <a:latin typeface="+mj-ea"/>
                <a:ea typeface="+mj-ea"/>
              </a:rPr>
              <a:t>num_of_layer</a:t>
            </a:r>
            <a:r>
              <a:rPr lang="en-US" altLang="ko-KR" sz="2000" b="1" dirty="0">
                <a:latin typeface="+mj-ea"/>
                <a:ea typeface="+mj-ea"/>
              </a:rPr>
              <a:t> =18 , </a:t>
            </a:r>
            <a:r>
              <a:rPr lang="en-US" altLang="ko-KR" sz="2000" b="1" dirty="0" err="1">
                <a:latin typeface="+mj-ea"/>
                <a:ea typeface="+mj-ea"/>
              </a:rPr>
              <a:t>loss_function</a:t>
            </a:r>
            <a:r>
              <a:rPr lang="en-US" altLang="ko-KR" sz="2000" b="1" dirty="0">
                <a:latin typeface="+mj-ea"/>
                <a:ea typeface="+mj-ea"/>
              </a:rPr>
              <a:t> = MAE, </a:t>
            </a:r>
            <a:r>
              <a:rPr lang="en-US" altLang="ko-KR" sz="2000" b="1" dirty="0" err="1">
                <a:latin typeface="+mj-ea"/>
                <a:ea typeface="+mj-ea"/>
              </a:rPr>
              <a:t>learning_rate</a:t>
            </a:r>
            <a:r>
              <a:rPr lang="en-US" altLang="ko-KR" sz="2000" b="1" dirty="0">
                <a:latin typeface="+mj-ea"/>
                <a:ea typeface="+mj-ea"/>
              </a:rPr>
              <a:t> = 0.0005  </a:t>
            </a:r>
          </a:p>
          <a:p>
            <a:r>
              <a:rPr lang="en-US" altLang="ko-KR" sz="2000" b="1" dirty="0">
                <a:latin typeface="+mj-ea"/>
                <a:ea typeface="+mj-ea"/>
              </a:rPr>
              <a:t> </a:t>
            </a:r>
            <a:r>
              <a:rPr lang="ko-KR" altLang="en-US" sz="2000" b="1" dirty="0">
                <a:latin typeface="+mj-ea"/>
                <a:ea typeface="+mj-ea"/>
              </a:rPr>
              <a:t>예측 코드 </a:t>
            </a:r>
            <a:r>
              <a:rPr lang="en-US" altLang="ko-KR" sz="2000" b="1" dirty="0">
                <a:latin typeface="+mj-ea"/>
                <a:ea typeface="+mj-ea"/>
              </a:rPr>
              <a:t>- </a:t>
            </a:r>
            <a:r>
              <a:rPr lang="ko-KR" altLang="en-US" sz="2000" b="1" dirty="0" err="1">
                <a:solidFill>
                  <a:srgbClr val="FF0000"/>
                </a:solidFill>
                <a:latin typeface="+mj-ea"/>
                <a:ea typeface="+mj-ea"/>
              </a:rPr>
              <a:t>궁내교</a:t>
            </a:r>
            <a:endParaRPr lang="ko-KR" altLang="en-US" sz="2000" b="1" dirty="0">
              <a:solidFill>
                <a:srgbClr val="FF000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186635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865A6128-F671-488A-B725-D8FE81F5CE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0839000"/>
              </p:ext>
            </p:extLst>
          </p:nvPr>
        </p:nvGraphicFramePr>
        <p:xfrm>
          <a:off x="800836" y="1889775"/>
          <a:ext cx="4328033" cy="415036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bg1"/>
                          </a:solidFill>
                        </a:rPr>
                        <a:t>대곡교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testdata_220712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0.5988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0.0561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0.1851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0.2370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testdata_230711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0.6995</a:t>
                      </a:r>
                      <a:endParaRPr lang="pt-BR" altLang="ko-KR" sz="1400" dirty="0">
                        <a:solidFill>
                          <a:srgbClr val="FF0000"/>
                        </a:solidFill>
                      </a:endParaRP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0.2734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0.4393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0.5229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testdata_250716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0.8985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0.0468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0.1692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0.2164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testdata_250814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0.6443</a:t>
                      </a:r>
                      <a:endParaRPr lang="pt-BR" altLang="ko-KR" sz="1400" dirty="0">
                        <a:solidFill>
                          <a:srgbClr val="FF0000"/>
                        </a:solidFill>
                      </a:endParaRP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0.1234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0.2827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0.3513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0621040"/>
                  </a:ext>
                </a:extLst>
              </a:tr>
            </a:tbl>
          </a:graphicData>
        </a:graphic>
      </p:graphicFrame>
      <p:sp>
        <p:nvSpPr>
          <p:cNvPr id="27" name="직사각형 26">
            <a:extLst>
              <a:ext uri="{FF2B5EF4-FFF2-40B4-BE49-F238E27FC236}">
                <a16:creationId xmlns:a16="http://schemas.microsoft.com/office/drawing/2014/main" id="{4EF33900-A573-48EF-8975-0A2C5750C40D}"/>
              </a:ext>
            </a:extLst>
          </p:cNvPr>
          <p:cNvSpPr/>
          <p:nvPr/>
        </p:nvSpPr>
        <p:spPr>
          <a:xfrm>
            <a:off x="2241494" y="1889775"/>
            <a:ext cx="2887375" cy="415036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A4AFE95-2DED-42BC-A1CA-CCD46CBA4F68}"/>
              </a:ext>
            </a:extLst>
          </p:cNvPr>
          <p:cNvSpPr txBox="1"/>
          <p:nvPr/>
        </p:nvSpPr>
        <p:spPr>
          <a:xfrm>
            <a:off x="33795" y="3792450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1000" dirty="0"/>
              <a:t>증설 전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E878C64-9135-48B4-AD37-DDB91950CAEC}"/>
              </a:ext>
            </a:extLst>
          </p:cNvPr>
          <p:cNvSpPr txBox="1"/>
          <p:nvPr/>
        </p:nvSpPr>
        <p:spPr>
          <a:xfrm>
            <a:off x="33795" y="4260325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1000" dirty="0"/>
              <a:t>증설 후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105E4055-07E8-4C56-93F5-5CE2B0B1AE01}"/>
              </a:ext>
            </a:extLst>
          </p:cNvPr>
          <p:cNvCxnSpPr/>
          <p:nvPr/>
        </p:nvCxnSpPr>
        <p:spPr>
          <a:xfrm flipH="1">
            <a:off x="0" y="4148667"/>
            <a:ext cx="80083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9B776D31-284F-4F08-950F-9807E063D9DD}"/>
              </a:ext>
            </a:extLst>
          </p:cNvPr>
          <p:cNvSpPr txBox="1"/>
          <p:nvPr/>
        </p:nvSpPr>
        <p:spPr>
          <a:xfrm>
            <a:off x="622385" y="850612"/>
            <a:ext cx="81406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err="1">
                <a:latin typeface="+mj-ea"/>
              </a:rPr>
              <a:t>num_of_layer</a:t>
            </a:r>
            <a:r>
              <a:rPr lang="en-US" altLang="ko-KR" sz="2000" b="1" dirty="0">
                <a:latin typeface="+mj-ea"/>
              </a:rPr>
              <a:t> =18 , </a:t>
            </a:r>
            <a:r>
              <a:rPr lang="en-US" altLang="ko-KR" sz="2000" b="1" dirty="0" err="1">
                <a:latin typeface="+mj-ea"/>
              </a:rPr>
              <a:t>loss_function</a:t>
            </a:r>
            <a:r>
              <a:rPr lang="en-US" altLang="ko-KR" sz="2000" b="1" dirty="0">
                <a:latin typeface="+mj-ea"/>
              </a:rPr>
              <a:t> = MAE, </a:t>
            </a:r>
            <a:r>
              <a:rPr lang="en-US" altLang="ko-KR" sz="2000" b="1" dirty="0" err="1">
                <a:latin typeface="+mj-ea"/>
              </a:rPr>
              <a:t>learning_rate</a:t>
            </a:r>
            <a:r>
              <a:rPr lang="en-US" altLang="ko-KR" sz="2000" b="1" dirty="0">
                <a:latin typeface="+mj-ea"/>
              </a:rPr>
              <a:t> = 0.0005  </a:t>
            </a:r>
          </a:p>
          <a:p>
            <a:r>
              <a:rPr lang="ko-KR" altLang="en-US" sz="2000" b="1" dirty="0">
                <a:latin typeface="+mj-ea"/>
                <a:ea typeface="+mj-ea"/>
              </a:rPr>
              <a:t>예측 코드 </a:t>
            </a:r>
            <a:r>
              <a:rPr lang="en-US" altLang="ko-KR" sz="2000" b="1" dirty="0">
                <a:latin typeface="+mj-ea"/>
                <a:ea typeface="+mj-ea"/>
              </a:rPr>
              <a:t>- </a:t>
            </a:r>
            <a:r>
              <a:rPr lang="ko-KR" altLang="en-US" sz="2000" b="1" dirty="0" err="1">
                <a:solidFill>
                  <a:schemeClr val="accent5"/>
                </a:solidFill>
                <a:latin typeface="+mj-ea"/>
                <a:ea typeface="+mj-ea"/>
              </a:rPr>
              <a:t>대곡교</a:t>
            </a:r>
            <a:endParaRPr lang="ko-KR" altLang="en-US" sz="2000" b="1" dirty="0">
              <a:solidFill>
                <a:schemeClr val="accent5"/>
              </a:solidFill>
              <a:latin typeface="+mj-ea"/>
              <a:ea typeface="+mj-ea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215C8347-4427-434D-B5DF-732CAF98BB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0586" y="4342368"/>
            <a:ext cx="3029716" cy="1600069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2C322E94-D588-407C-BC30-BFC818A899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8143" y="4331287"/>
            <a:ext cx="3087318" cy="1620841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35AB98D6-4D7B-4475-ADE8-0249AD610F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2950" y="1974868"/>
            <a:ext cx="2990558" cy="1577403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40CE8EA7-DB91-45CD-B0B7-895B2582E3D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5827" y="1990718"/>
            <a:ext cx="3015518" cy="1570713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AF65CAC3-189B-4520-92AF-759C40170BE7}"/>
              </a:ext>
            </a:extLst>
          </p:cNvPr>
          <p:cNvSpPr txBox="1"/>
          <p:nvPr/>
        </p:nvSpPr>
        <p:spPr>
          <a:xfrm>
            <a:off x="6261235" y="3605498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testdata_220712</a:t>
            </a:r>
            <a:endParaRPr lang="ko-KR" altLang="en-US" sz="10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670984A-6BC1-4FDC-8121-95FCFE0B9A94}"/>
              </a:ext>
            </a:extLst>
          </p:cNvPr>
          <p:cNvSpPr txBox="1"/>
          <p:nvPr/>
        </p:nvSpPr>
        <p:spPr>
          <a:xfrm>
            <a:off x="9409377" y="3605498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/>
              <a:t>testdata_230711</a:t>
            </a:r>
            <a:endParaRPr lang="ko-KR" altLang="en-US" sz="10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E140992-293D-49CE-BB2D-0A090D788F4A}"/>
              </a:ext>
            </a:extLst>
          </p:cNvPr>
          <p:cNvSpPr txBox="1"/>
          <p:nvPr/>
        </p:nvSpPr>
        <p:spPr>
          <a:xfrm>
            <a:off x="6261235" y="6040135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testdata_250716</a:t>
            </a:r>
            <a:endParaRPr lang="ko-KR" altLang="en-US" sz="10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E5E3A12-5140-46EE-91C9-23AA19E0DB22}"/>
              </a:ext>
            </a:extLst>
          </p:cNvPr>
          <p:cNvSpPr txBox="1"/>
          <p:nvPr/>
        </p:nvSpPr>
        <p:spPr>
          <a:xfrm>
            <a:off x="9417592" y="6040135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testdata_250814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1200400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11C99160-6B77-45EA-8F2B-8F76482011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9638513"/>
              </p:ext>
            </p:extLst>
          </p:nvPr>
        </p:nvGraphicFramePr>
        <p:xfrm>
          <a:off x="800836" y="1889775"/>
          <a:ext cx="4328033" cy="415036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>
                          <a:solidFill>
                            <a:schemeClr val="bg1"/>
                          </a:solidFill>
                        </a:rPr>
                        <a:t>대곡교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testdata_220712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0.6571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0.0480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0.1920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0.2191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testdata_230711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0.7198</a:t>
                      </a:r>
                      <a:endParaRPr lang="pt-BR" altLang="ko-KR" sz="1400" dirty="0">
                        <a:solidFill>
                          <a:srgbClr val="FF0000"/>
                        </a:solidFill>
                      </a:endParaRP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0.2550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0.3688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0.5049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testdata_250716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0.9231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0.0355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0.1457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0.1884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testdata_250814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0.8274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0.0598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0.2138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0.2446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0621040"/>
                  </a:ext>
                </a:extLst>
              </a:tr>
            </a:tbl>
          </a:graphicData>
        </a:graphic>
      </p:graphicFrame>
      <p:sp>
        <p:nvSpPr>
          <p:cNvPr id="27" name="직사각형 26">
            <a:extLst>
              <a:ext uri="{FF2B5EF4-FFF2-40B4-BE49-F238E27FC236}">
                <a16:creationId xmlns:a16="http://schemas.microsoft.com/office/drawing/2014/main" id="{4EF33900-A573-48EF-8975-0A2C5750C40D}"/>
              </a:ext>
            </a:extLst>
          </p:cNvPr>
          <p:cNvSpPr/>
          <p:nvPr/>
        </p:nvSpPr>
        <p:spPr>
          <a:xfrm>
            <a:off x="2241494" y="1889775"/>
            <a:ext cx="2887375" cy="415036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CC287890-8D3F-4F75-B6EE-54A24D7225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0869" y="4351440"/>
            <a:ext cx="3029151" cy="1581924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34B44F8C-A4EF-4214-B85D-838A2A05AD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7167" y="4344367"/>
            <a:ext cx="3029270" cy="1594682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D1DF17EE-4843-4A32-BDAC-03BBE1594C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5689" y="1973037"/>
            <a:ext cx="2985079" cy="1581066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77E4CA0B-D49E-45B1-BAE8-60B9B42BF1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2393" y="2006316"/>
            <a:ext cx="2942386" cy="1539515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9666F396-617E-4A87-B71B-140F779486DE}"/>
              </a:ext>
            </a:extLst>
          </p:cNvPr>
          <p:cNvSpPr txBox="1"/>
          <p:nvPr/>
        </p:nvSpPr>
        <p:spPr>
          <a:xfrm>
            <a:off x="6261235" y="3605498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testdata_220712</a:t>
            </a:r>
            <a:endParaRPr lang="ko-KR" altLang="en-US" sz="10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CA25465-4979-4F8A-9B0A-4264AEA6DA31}"/>
              </a:ext>
            </a:extLst>
          </p:cNvPr>
          <p:cNvSpPr txBox="1"/>
          <p:nvPr/>
        </p:nvSpPr>
        <p:spPr>
          <a:xfrm>
            <a:off x="9409377" y="3605498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/>
              <a:t>testdata_230711</a:t>
            </a:r>
            <a:endParaRPr lang="ko-KR" altLang="en-US" sz="10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6B302A1-B195-4A71-8F8A-E20D52E67826}"/>
              </a:ext>
            </a:extLst>
          </p:cNvPr>
          <p:cNvSpPr txBox="1"/>
          <p:nvPr/>
        </p:nvSpPr>
        <p:spPr>
          <a:xfrm>
            <a:off x="6261235" y="6040135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testdata_250716</a:t>
            </a:r>
            <a:endParaRPr lang="ko-KR" altLang="en-US" sz="10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CD4B0EC-3B8B-4308-B662-5880CA2DCDE8}"/>
              </a:ext>
            </a:extLst>
          </p:cNvPr>
          <p:cNvSpPr txBox="1"/>
          <p:nvPr/>
        </p:nvSpPr>
        <p:spPr>
          <a:xfrm>
            <a:off x="9417592" y="6040135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testdata_250814</a:t>
            </a:r>
            <a:endParaRPr lang="ko-KR" altLang="en-US" sz="10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A4AFE95-2DED-42BC-A1CA-CCD46CBA4F68}"/>
              </a:ext>
            </a:extLst>
          </p:cNvPr>
          <p:cNvSpPr txBox="1"/>
          <p:nvPr/>
        </p:nvSpPr>
        <p:spPr>
          <a:xfrm>
            <a:off x="33795" y="3792450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1000" dirty="0"/>
              <a:t>증설 전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E878C64-9135-48B4-AD37-DDB91950CAEC}"/>
              </a:ext>
            </a:extLst>
          </p:cNvPr>
          <p:cNvSpPr txBox="1"/>
          <p:nvPr/>
        </p:nvSpPr>
        <p:spPr>
          <a:xfrm>
            <a:off x="33795" y="4260325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1000" dirty="0"/>
              <a:t>증설 후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105E4055-07E8-4C56-93F5-5CE2B0B1AE01}"/>
              </a:ext>
            </a:extLst>
          </p:cNvPr>
          <p:cNvCxnSpPr/>
          <p:nvPr/>
        </p:nvCxnSpPr>
        <p:spPr>
          <a:xfrm flipH="1">
            <a:off x="0" y="4148667"/>
            <a:ext cx="80083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9B776D31-284F-4F08-950F-9807E063D9DD}"/>
              </a:ext>
            </a:extLst>
          </p:cNvPr>
          <p:cNvSpPr txBox="1"/>
          <p:nvPr/>
        </p:nvSpPr>
        <p:spPr>
          <a:xfrm>
            <a:off x="622385" y="850612"/>
            <a:ext cx="79500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err="1">
                <a:latin typeface="+mj-ea"/>
                <a:ea typeface="+mj-ea"/>
              </a:rPr>
              <a:t>num_of_layer</a:t>
            </a:r>
            <a:r>
              <a:rPr lang="en-US" altLang="ko-KR" sz="2000" b="1" dirty="0">
                <a:latin typeface="+mj-ea"/>
                <a:ea typeface="+mj-ea"/>
              </a:rPr>
              <a:t> =12</a:t>
            </a:r>
            <a:r>
              <a:rPr lang="en-US" altLang="ko-KR" sz="2000" b="1" dirty="0">
                <a:latin typeface="+mj-ea"/>
              </a:rPr>
              <a:t> , </a:t>
            </a:r>
            <a:r>
              <a:rPr lang="en-US" altLang="ko-KR" sz="2000" b="1" dirty="0" err="1">
                <a:latin typeface="+mj-ea"/>
              </a:rPr>
              <a:t>loss_function</a:t>
            </a:r>
            <a:r>
              <a:rPr lang="en-US" altLang="ko-KR" sz="2000" b="1" dirty="0">
                <a:latin typeface="+mj-ea"/>
              </a:rPr>
              <a:t> = MSE, </a:t>
            </a:r>
            <a:r>
              <a:rPr lang="en-US" altLang="ko-KR" sz="2000" b="1" dirty="0" err="1">
                <a:latin typeface="+mj-ea"/>
              </a:rPr>
              <a:t>learning_rate</a:t>
            </a:r>
            <a:r>
              <a:rPr lang="en-US" altLang="ko-KR" sz="2000" b="1" dirty="0">
                <a:latin typeface="+mj-ea"/>
              </a:rPr>
              <a:t> = 0.0001</a:t>
            </a:r>
            <a:r>
              <a:rPr lang="en-US" altLang="ko-KR" sz="2000" b="1" dirty="0">
                <a:latin typeface="+mj-ea"/>
                <a:ea typeface="+mj-ea"/>
              </a:rPr>
              <a:t> </a:t>
            </a:r>
          </a:p>
          <a:p>
            <a:r>
              <a:rPr lang="ko-KR" altLang="en-US" sz="2000" b="1" dirty="0">
                <a:latin typeface="+mj-ea"/>
                <a:ea typeface="+mj-ea"/>
              </a:rPr>
              <a:t>예측 코드 </a:t>
            </a:r>
            <a:r>
              <a:rPr lang="en-US" altLang="ko-KR" sz="2000" b="1" dirty="0">
                <a:latin typeface="+mj-ea"/>
                <a:ea typeface="+mj-ea"/>
              </a:rPr>
              <a:t>- </a:t>
            </a:r>
            <a:r>
              <a:rPr lang="ko-KR" altLang="en-US" sz="2000" b="1" dirty="0" err="1">
                <a:solidFill>
                  <a:schemeClr val="accent5"/>
                </a:solidFill>
                <a:latin typeface="+mj-ea"/>
                <a:ea typeface="+mj-ea"/>
              </a:rPr>
              <a:t>대곡교</a:t>
            </a:r>
            <a:endParaRPr lang="ko-KR" altLang="en-US" sz="2000" b="1" dirty="0">
              <a:solidFill>
                <a:schemeClr val="accent5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0734212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C450E-78D8-4916-AA72-7CF5D3B171E9}"/>
              </a:ext>
            </a:extLst>
          </p:cNvPr>
          <p:cNvSpPr txBox="1"/>
          <p:nvPr/>
        </p:nvSpPr>
        <p:spPr>
          <a:xfrm>
            <a:off x="622386" y="850612"/>
            <a:ext cx="15196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b="1" dirty="0">
                <a:latin typeface="+mj-ea"/>
                <a:ea typeface="+mj-ea"/>
              </a:rPr>
              <a:t>결론</a:t>
            </a:r>
            <a:endParaRPr lang="ko-KR" altLang="en-US" sz="1200" b="1" dirty="0">
              <a:latin typeface="+mj-ea"/>
              <a:ea typeface="+mj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9DC680-F0CF-4BBD-BD62-C9B6103562BC}"/>
              </a:ext>
            </a:extLst>
          </p:cNvPr>
          <p:cNvSpPr txBox="1"/>
          <p:nvPr/>
        </p:nvSpPr>
        <p:spPr>
          <a:xfrm>
            <a:off x="2987674" y="3429000"/>
            <a:ext cx="621665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ko-KR" altLang="en-US" sz="2000" b="1" dirty="0">
                <a:latin typeface="+mj-ea"/>
              </a:rPr>
              <a:t>전체적으로 기존 모델에 비해 전체적으로 낮은 성능</a:t>
            </a:r>
            <a:r>
              <a:rPr lang="en-US" altLang="ko-KR" sz="2000" b="1" dirty="0">
                <a:latin typeface="+mj-ea"/>
              </a:rPr>
              <a:t>, </a:t>
            </a:r>
          </a:p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altLang="ko-KR" sz="2000" dirty="0"/>
              <a:t>220712</a:t>
            </a:r>
            <a:r>
              <a:rPr lang="ko-KR" altLang="en-US" sz="2000" b="1" dirty="0">
                <a:latin typeface="+mj-ea"/>
              </a:rPr>
              <a:t>이 명확한 약점</a:t>
            </a:r>
            <a:endParaRPr lang="en-US" altLang="ko-KR" sz="2000" b="1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9017314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C450E-78D8-4916-AA72-7CF5D3B171E9}"/>
              </a:ext>
            </a:extLst>
          </p:cNvPr>
          <p:cNvSpPr txBox="1"/>
          <p:nvPr/>
        </p:nvSpPr>
        <p:spPr>
          <a:xfrm>
            <a:off x="3801708" y="2705725"/>
            <a:ext cx="458858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400" b="1" dirty="0">
                <a:latin typeface="+mj-ea"/>
                <a:ea typeface="+mj-ea"/>
              </a:rPr>
              <a:t>단일 </a:t>
            </a:r>
            <a:r>
              <a:rPr lang="en-US" altLang="ko-KR" sz="4400" b="1" dirty="0">
                <a:latin typeface="+mj-ea"/>
                <a:ea typeface="+mj-ea"/>
              </a:rPr>
              <a:t>LSTM</a:t>
            </a:r>
          </a:p>
          <a:p>
            <a:pPr algn="ctr"/>
            <a:r>
              <a:rPr lang="ko-KR" altLang="en-US" sz="4400" b="1" dirty="0">
                <a:latin typeface="+mj-ea"/>
                <a:ea typeface="+mj-ea"/>
              </a:rPr>
              <a:t>개발 결과</a:t>
            </a:r>
            <a:endParaRPr lang="en-US" altLang="ko-KR" sz="4400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6635118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C450E-78D8-4916-AA72-7CF5D3B171E9}"/>
              </a:ext>
            </a:extLst>
          </p:cNvPr>
          <p:cNvSpPr txBox="1"/>
          <p:nvPr/>
        </p:nvSpPr>
        <p:spPr>
          <a:xfrm>
            <a:off x="622386" y="850612"/>
            <a:ext cx="32384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b="1" dirty="0">
                <a:latin typeface="+mj-ea"/>
                <a:ea typeface="+mj-ea"/>
              </a:rPr>
              <a:t>학습데이터</a:t>
            </a:r>
            <a:endParaRPr lang="ko-KR" altLang="en-US" sz="1200" b="1" dirty="0">
              <a:latin typeface="+mj-ea"/>
              <a:ea typeface="+mj-ea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65E694D8-56B9-4A6D-921B-5623FCBBA9CE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210731" y="3219528"/>
          <a:ext cx="9692641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0560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6750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10814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4048918556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522523455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2162001719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38635649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4099286348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21081817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time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성남북초교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광주시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남한산초교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대장동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구미초교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한국학중앙연구원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2014-07-24 15:30:00</a:t>
                      </a:r>
                    </a:p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1.12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5.11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2.17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40.56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3AAD899-9E1E-4F1D-9D67-D7818219E8D5}"/>
              </a:ext>
            </a:extLst>
          </p:cNvPr>
          <p:cNvSpPr txBox="1"/>
          <p:nvPr/>
        </p:nvSpPr>
        <p:spPr>
          <a:xfrm>
            <a:off x="1109130" y="2513161"/>
            <a:ext cx="56557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홍수통제소 </a:t>
            </a:r>
            <a:r>
              <a:rPr lang="en-US" altLang="ko-KR" sz="1600" dirty="0"/>
              <a:t>API </a:t>
            </a:r>
            <a:r>
              <a:rPr lang="ko-KR" altLang="en-US" sz="1600" dirty="0"/>
              <a:t>호출 → </a:t>
            </a:r>
            <a:r>
              <a:rPr lang="en-US" altLang="ko-KR" sz="1600" dirty="0"/>
              <a:t>MIET</a:t>
            </a:r>
            <a:r>
              <a:rPr lang="ko-KR" altLang="en-US" sz="1600" dirty="0"/>
              <a:t> 활용 강우 이벤트 추출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BA47AD-0990-45A0-AE11-480760BE19D1}"/>
              </a:ext>
            </a:extLst>
          </p:cNvPr>
          <p:cNvSpPr txBox="1"/>
          <p:nvPr/>
        </p:nvSpPr>
        <p:spPr>
          <a:xfrm>
            <a:off x="1109130" y="5289148"/>
            <a:ext cx="79755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학습 </a:t>
            </a:r>
            <a:r>
              <a:rPr lang="en-US" altLang="ko-KR" sz="1600" dirty="0"/>
              <a:t>: </a:t>
            </a:r>
            <a:r>
              <a:rPr lang="ko-KR" altLang="en-US" sz="1600" dirty="0"/>
              <a:t>총 </a:t>
            </a:r>
            <a:r>
              <a:rPr lang="en-US" altLang="ko-KR" sz="1600" dirty="0"/>
              <a:t>1420</a:t>
            </a:r>
            <a:r>
              <a:rPr lang="ko-KR" altLang="en-US" sz="1600" dirty="0"/>
              <a:t>개 中 </a:t>
            </a:r>
            <a:r>
              <a:rPr lang="en-US" altLang="ko-KR" sz="1600" dirty="0"/>
              <a:t>1412</a:t>
            </a:r>
            <a:r>
              <a:rPr lang="ko-KR" altLang="en-US" sz="1600" dirty="0"/>
              <a:t>개 데이터 파일 학습에 사용 </a:t>
            </a:r>
            <a:r>
              <a:rPr lang="en-US" altLang="ko-KR" sz="1600" dirty="0"/>
              <a:t>( </a:t>
            </a:r>
            <a:r>
              <a:rPr lang="ko-KR" altLang="en-US" sz="1600" dirty="0"/>
              <a:t>결측 </a:t>
            </a:r>
            <a:r>
              <a:rPr lang="en-US" altLang="ko-KR" sz="1600" dirty="0"/>
              <a:t>5</a:t>
            </a:r>
            <a:r>
              <a:rPr lang="ko-KR" altLang="en-US" sz="1600" dirty="0"/>
              <a:t>개 </a:t>
            </a:r>
            <a:r>
              <a:rPr lang="en-US" altLang="ko-KR" sz="1600" dirty="0"/>
              <a:t>+ </a:t>
            </a:r>
            <a:r>
              <a:rPr lang="ko-KR" altLang="en-US" sz="1600" dirty="0"/>
              <a:t>검증 </a:t>
            </a:r>
            <a:r>
              <a:rPr lang="en-US" altLang="ko-KR" sz="1600" dirty="0"/>
              <a:t>3</a:t>
            </a:r>
            <a:r>
              <a:rPr lang="ko-KR" altLang="en-US" sz="1600" dirty="0"/>
              <a:t>개 </a:t>
            </a:r>
            <a:r>
              <a:rPr lang="en-US" altLang="ko-KR" sz="1600" dirty="0"/>
              <a:t>)</a:t>
            </a:r>
            <a:r>
              <a:rPr lang="ko-KR" altLang="en-US" sz="1600" dirty="0"/>
              <a:t> </a:t>
            </a:r>
            <a:endParaRPr lang="en-US" altLang="ko-KR" sz="1600" dirty="0"/>
          </a:p>
          <a:p>
            <a:r>
              <a:rPr lang="en-US" altLang="ko-KR" sz="1600" dirty="0"/>
              <a:t> </a:t>
            </a:r>
            <a:br>
              <a:rPr lang="en-US" altLang="ko-KR" sz="1600" dirty="0"/>
            </a:br>
            <a:r>
              <a:rPr lang="ko-KR" altLang="en-US" sz="1600" dirty="0"/>
              <a:t>검증 </a:t>
            </a:r>
            <a:r>
              <a:rPr lang="en-US" altLang="ko-KR" sz="1600" dirty="0"/>
              <a:t>: </a:t>
            </a:r>
            <a:r>
              <a:rPr lang="ko-KR" altLang="en-US" sz="1600" dirty="0"/>
              <a:t>학습 데이터에서 제외한 </a:t>
            </a:r>
            <a:r>
              <a:rPr lang="en-US" altLang="ko-KR" sz="1600" dirty="0"/>
              <a:t>3</a:t>
            </a:r>
            <a:r>
              <a:rPr lang="ko-KR" altLang="en-US" sz="1600" dirty="0"/>
              <a:t>개 </a:t>
            </a:r>
            <a:r>
              <a:rPr lang="en-US" altLang="ko-KR" sz="1600" dirty="0"/>
              <a:t>+ </a:t>
            </a:r>
            <a:r>
              <a:rPr lang="ko-KR" altLang="en-US" sz="1600" dirty="0"/>
              <a:t>학습에서 검증에 사용된 </a:t>
            </a:r>
            <a:r>
              <a:rPr lang="en-US" altLang="ko-KR" sz="1600" dirty="0"/>
              <a:t>2</a:t>
            </a:r>
            <a:r>
              <a:rPr lang="ko-KR" altLang="en-US" sz="1600" dirty="0"/>
              <a:t>개 이벤트 사용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286E06-873F-4900-8D69-44EA679B3BA9}"/>
              </a:ext>
            </a:extLst>
          </p:cNvPr>
          <p:cNvSpPr txBox="1"/>
          <p:nvPr/>
        </p:nvSpPr>
        <p:spPr>
          <a:xfrm>
            <a:off x="9273646" y="5102419"/>
            <a:ext cx="2918354" cy="879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학습 </a:t>
            </a:r>
            <a:r>
              <a:rPr lang="en-US" altLang="ko-KR" sz="900" b="1" dirty="0">
                <a:latin typeface="+mn-ea"/>
              </a:rPr>
              <a:t>: 70% ( </a:t>
            </a:r>
            <a:r>
              <a:rPr lang="ko-KR" altLang="en-US" sz="900" b="1" dirty="0">
                <a:latin typeface="+mn-ea"/>
              </a:rPr>
              <a:t>학습 이벤트 순서 섞어서 </a:t>
            </a:r>
            <a:r>
              <a:rPr lang="en-US" altLang="ko-KR" sz="900" b="1" dirty="0">
                <a:latin typeface="+mn-ea"/>
              </a:rPr>
              <a:t>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검증 </a:t>
            </a:r>
            <a:r>
              <a:rPr lang="en-US" altLang="ko-KR" sz="900" b="1" dirty="0">
                <a:latin typeface="+mn-ea"/>
              </a:rPr>
              <a:t>: 20% 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테스트 </a:t>
            </a:r>
            <a:r>
              <a:rPr lang="en-US" altLang="ko-KR" sz="900" b="1" dirty="0">
                <a:latin typeface="+mn-ea"/>
              </a:rPr>
              <a:t>: </a:t>
            </a:r>
            <a:r>
              <a:rPr lang="ko-KR" altLang="en-US" sz="900" b="1" dirty="0">
                <a:latin typeface="+mn-ea"/>
              </a:rPr>
              <a:t>나머지 </a:t>
            </a:r>
            <a:r>
              <a:rPr lang="en-US" altLang="ko-KR" sz="900" b="1" dirty="0">
                <a:latin typeface="+mn-ea"/>
              </a:rPr>
              <a:t>( 10% 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11B2DE-AE9B-4325-9947-5E17F10D700A}"/>
              </a:ext>
            </a:extLst>
          </p:cNvPr>
          <p:cNvSpPr txBox="1"/>
          <p:nvPr/>
        </p:nvSpPr>
        <p:spPr>
          <a:xfrm>
            <a:off x="8051800" y="126666"/>
            <a:ext cx="4013201" cy="2264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loss_function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=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MSE / MAE / Huber / </a:t>
            </a:r>
            <a:r>
              <a:rPr lang="ko-KR" altLang="en-US" sz="900" b="1" dirty="0">
                <a:latin typeface="+mn-ea"/>
              </a:rPr>
              <a:t>피크에 가중치를 두는 </a:t>
            </a:r>
            <a:r>
              <a:rPr lang="en-US" altLang="ko-KR" sz="900" b="1" dirty="0">
                <a:latin typeface="+mn-ea"/>
              </a:rPr>
              <a:t>MSE</a:t>
            </a:r>
          </a:p>
          <a:p>
            <a:pPr>
              <a:lnSpc>
                <a:spcPct val="200000"/>
              </a:lnSpc>
            </a:pPr>
            <a:r>
              <a:rPr lang="en-US" altLang="ko-KR" sz="900" b="1" dirty="0">
                <a:latin typeface="+mn-ea"/>
              </a:rPr>
              <a:t>	* ( Huber : </a:t>
            </a:r>
            <a:r>
              <a:rPr lang="ko-KR" altLang="en-US" sz="900" b="1" dirty="0">
                <a:latin typeface="+mn-ea"/>
              </a:rPr>
              <a:t>작은 오차는 </a:t>
            </a:r>
            <a:r>
              <a:rPr lang="en-US" altLang="ko-KR" sz="900" b="1" dirty="0">
                <a:latin typeface="+mn-ea"/>
              </a:rPr>
              <a:t>MSE</a:t>
            </a:r>
            <a:r>
              <a:rPr lang="ko-KR" altLang="en-US" sz="900" b="1" dirty="0">
                <a:latin typeface="+mn-ea"/>
              </a:rPr>
              <a:t>처럼 </a:t>
            </a:r>
            <a:r>
              <a:rPr lang="en-US" altLang="ko-KR" sz="900" b="1" dirty="0">
                <a:latin typeface="+mn-ea"/>
              </a:rPr>
              <a:t>, </a:t>
            </a:r>
            <a:r>
              <a:rPr lang="ko-KR" altLang="en-US" sz="900" b="1" dirty="0">
                <a:latin typeface="+mn-ea"/>
              </a:rPr>
              <a:t>큰 오차는 </a:t>
            </a:r>
            <a:r>
              <a:rPr lang="en-US" altLang="ko-KR" sz="900" b="1" dirty="0">
                <a:latin typeface="+mn-ea"/>
              </a:rPr>
              <a:t>MAE</a:t>
            </a:r>
            <a:r>
              <a:rPr lang="ko-KR" altLang="en-US" sz="900" b="1" dirty="0">
                <a:latin typeface="+mn-ea"/>
              </a:rPr>
              <a:t>처럼 </a:t>
            </a:r>
            <a:r>
              <a:rPr lang="en-US" altLang="ko-KR" sz="900" b="1" dirty="0">
                <a:latin typeface="+mn-ea"/>
              </a:rPr>
              <a:t>)</a:t>
            </a:r>
          </a:p>
          <a:p>
            <a:pPr>
              <a:lnSpc>
                <a:spcPct val="200000"/>
              </a:lnSpc>
            </a:pPr>
            <a:r>
              <a:rPr lang="en-US" altLang="ko-KR" sz="900" b="1" dirty="0">
                <a:latin typeface="+mn-ea"/>
              </a:rPr>
              <a:t>	* ( MSE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, </a:t>
            </a:r>
            <a:r>
              <a:rPr lang="ko-KR" altLang="en-US" sz="900" b="1" dirty="0" err="1">
                <a:latin typeface="+mn-ea"/>
              </a:rPr>
              <a:t>스케일된</a:t>
            </a:r>
            <a:r>
              <a:rPr lang="ko-KR" altLang="en-US" sz="900" b="1" dirty="0">
                <a:latin typeface="+mn-ea"/>
              </a:rPr>
              <a:t> 값이 </a:t>
            </a:r>
            <a:r>
              <a:rPr lang="en-US" altLang="ko-KR" sz="900" b="1" dirty="0">
                <a:latin typeface="+mn-ea"/>
              </a:rPr>
              <a:t>0.7 </a:t>
            </a:r>
            <a:r>
              <a:rPr lang="ko-KR" altLang="en-US" sz="900" b="1" dirty="0">
                <a:latin typeface="+mn-ea"/>
              </a:rPr>
              <a:t>이상이면 가중치를 </a:t>
            </a:r>
            <a:r>
              <a:rPr lang="en-US" altLang="ko-KR" sz="900" b="1" dirty="0">
                <a:latin typeface="+mn-ea"/>
              </a:rPr>
              <a:t>3</a:t>
            </a:r>
            <a:r>
              <a:rPr lang="ko-KR" altLang="en-US" sz="900" b="1" dirty="0">
                <a:latin typeface="+mn-ea"/>
              </a:rPr>
              <a:t>배</a:t>
            </a:r>
            <a:r>
              <a:rPr lang="en-US" altLang="ko-KR" sz="900" b="1" dirty="0">
                <a:latin typeface="+mn-ea"/>
              </a:rPr>
              <a:t> )</a:t>
            </a:r>
            <a:r>
              <a:rPr lang="ko-KR" altLang="en-US" sz="900" b="1" dirty="0">
                <a:latin typeface="+mn-ea"/>
              </a:rPr>
              <a:t> </a:t>
            </a:r>
            <a:endParaRPr lang="en-US" altLang="ko-KR" sz="900" b="1" dirty="0">
              <a:latin typeface="+mn-ea"/>
            </a:endParaRP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learning_rate</a:t>
            </a:r>
            <a:r>
              <a:rPr lang="en-US" altLang="ko-KR" sz="900" b="1" dirty="0">
                <a:latin typeface="+mn-ea"/>
              </a:rPr>
              <a:t> = </a:t>
            </a:r>
            <a:r>
              <a:rPr lang="en-US" altLang="ko-KR" sz="900" b="1" dirty="0">
                <a:solidFill>
                  <a:srgbClr val="FF0000"/>
                </a:solidFill>
                <a:latin typeface="+mn-ea"/>
              </a:rPr>
              <a:t>0.0003</a:t>
            </a:r>
            <a:r>
              <a:rPr lang="en-US" altLang="ko-KR" sz="900" b="1" dirty="0">
                <a:latin typeface="+mn-ea"/>
              </a:rPr>
              <a:t> / 0.0001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>
                <a:latin typeface="+mn-ea"/>
              </a:rPr>
              <a:t>dropout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=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solidFill>
                  <a:srgbClr val="FF0000"/>
                </a:solidFill>
                <a:latin typeface="+mn-ea"/>
              </a:rPr>
              <a:t>0.0</a:t>
            </a:r>
            <a:r>
              <a:rPr lang="en-US" altLang="ko-KR" sz="900" b="1" dirty="0">
                <a:latin typeface="+mn-ea"/>
              </a:rPr>
              <a:t> / 0.1 / 0.01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seq_length</a:t>
            </a:r>
            <a:r>
              <a:rPr lang="en-US" altLang="ko-KR" sz="900" b="1" dirty="0">
                <a:latin typeface="+mn-ea"/>
              </a:rPr>
              <a:t>   = </a:t>
            </a:r>
            <a:r>
              <a:rPr lang="en-US" altLang="ko-KR" sz="900" b="1" dirty="0">
                <a:solidFill>
                  <a:srgbClr val="FF0000"/>
                </a:solidFill>
                <a:latin typeface="+mn-ea"/>
              </a:rPr>
              <a:t>36</a:t>
            </a:r>
            <a:r>
              <a:rPr lang="en-US" altLang="ko-KR" sz="900" b="1" dirty="0">
                <a:latin typeface="+mn-ea"/>
              </a:rPr>
              <a:t> 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>
                <a:latin typeface="+mn-ea"/>
              </a:rPr>
              <a:t>Dense = </a:t>
            </a:r>
            <a:r>
              <a:rPr lang="en-US" altLang="ko-KR" sz="900" b="1" dirty="0">
                <a:solidFill>
                  <a:srgbClr val="FF0000"/>
                </a:solidFill>
                <a:latin typeface="+mn-ea"/>
              </a:rPr>
              <a:t>1</a:t>
            </a:r>
            <a:r>
              <a:rPr lang="en-US" altLang="ko-KR" sz="900" b="1" dirty="0">
                <a:latin typeface="+mn-ea"/>
              </a:rPr>
              <a:t> / 12 / 36 (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1</a:t>
            </a:r>
            <a:r>
              <a:rPr lang="ko-KR" altLang="en-US" sz="900" b="1" dirty="0">
                <a:latin typeface="+mn-ea"/>
              </a:rPr>
              <a:t>번 처리 </a:t>
            </a:r>
            <a:r>
              <a:rPr lang="en-US" altLang="ko-KR" sz="900" b="1" dirty="0">
                <a:latin typeface="+mn-ea"/>
              </a:rPr>
              <a:t>) 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solidFill>
                  <a:srgbClr val="FF0000"/>
                </a:solidFill>
                <a:latin typeface="+mn-ea"/>
              </a:rPr>
              <a:t>학습 이벤트 순서 </a:t>
            </a:r>
            <a:r>
              <a:rPr lang="en-US" altLang="ko-KR" sz="900" b="1" dirty="0">
                <a:solidFill>
                  <a:srgbClr val="FF0000"/>
                </a:solidFill>
                <a:latin typeface="+mn-ea"/>
              </a:rPr>
              <a:t>shuffle</a:t>
            </a:r>
          </a:p>
        </p:txBody>
      </p:sp>
    </p:spTree>
    <p:extLst>
      <p:ext uri="{BB962C8B-B14F-4D97-AF65-F5344CB8AC3E}">
        <p14:creationId xmlns:p14="http://schemas.microsoft.com/office/powerpoint/2010/main" val="11082532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8798F76-11EB-404B-81C2-EC1C238F7B4E}"/>
              </a:ext>
            </a:extLst>
          </p:cNvPr>
          <p:cNvSpPr txBox="1"/>
          <p:nvPr/>
        </p:nvSpPr>
        <p:spPr>
          <a:xfrm>
            <a:off x="7809626" y="1893377"/>
            <a:ext cx="33325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ko-KR" altLang="en-US" sz="1200" dirty="0">
                <a:solidFill>
                  <a:srgbClr val="FF0000"/>
                </a:solidFill>
              </a:rPr>
              <a:t>→ </a:t>
            </a:r>
            <a:r>
              <a:rPr lang="ko-KR" altLang="en-US" sz="1200" b="1" dirty="0">
                <a:solidFill>
                  <a:srgbClr val="FF0000"/>
                </a:solidFill>
              </a:rPr>
              <a:t>전체 평균은 좋지만</a:t>
            </a:r>
            <a:r>
              <a:rPr lang="en-US" altLang="ko-KR" sz="1200" dirty="0">
                <a:solidFill>
                  <a:srgbClr val="FF0000"/>
                </a:solidFill>
              </a:rPr>
              <a:t>, 250716 </a:t>
            </a:r>
            <a:r>
              <a:rPr lang="ko-KR" altLang="en-US" sz="1200" dirty="0">
                <a:solidFill>
                  <a:srgbClr val="FF0000"/>
                </a:solidFill>
              </a:rPr>
              <a:t>이 명확한 약점</a:t>
            </a:r>
            <a:endParaRPr lang="en-US" altLang="ko-KR" sz="1200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9FAD28-306D-493F-A29E-0AE4A1629EF6}"/>
              </a:ext>
            </a:extLst>
          </p:cNvPr>
          <p:cNvSpPr txBox="1"/>
          <p:nvPr/>
        </p:nvSpPr>
        <p:spPr>
          <a:xfrm>
            <a:off x="622385" y="850612"/>
            <a:ext cx="74717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+mj-ea"/>
              </a:rPr>
              <a:t>예측 코드 </a:t>
            </a:r>
            <a:r>
              <a:rPr lang="en-US" altLang="ko-KR" sz="2000" b="1" dirty="0">
                <a:latin typeface="+mj-ea"/>
              </a:rPr>
              <a:t>- </a:t>
            </a:r>
            <a:r>
              <a:rPr lang="ko-KR" altLang="en-US" sz="2000" b="1" dirty="0" err="1">
                <a:solidFill>
                  <a:srgbClr val="FF0000"/>
                </a:solidFill>
                <a:latin typeface="+mj-ea"/>
              </a:rPr>
              <a:t>궁내교</a:t>
            </a:r>
            <a:endParaRPr lang="ko-KR" altLang="en-US" sz="2000" b="1" dirty="0">
              <a:solidFill>
                <a:srgbClr val="FF0000"/>
              </a:solidFill>
              <a:latin typeface="+mj-ea"/>
            </a:endParaRPr>
          </a:p>
        </p:txBody>
      </p:sp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F5558BE9-8140-4A1A-B051-9D40448BE3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8169172"/>
              </p:ext>
            </p:extLst>
          </p:nvPr>
        </p:nvGraphicFramePr>
        <p:xfrm>
          <a:off x="960744" y="2188770"/>
          <a:ext cx="3814454" cy="415036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378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370666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bg1"/>
                          </a:solidFill>
                        </a:rPr>
                        <a:t>궁내교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testdata_220712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0.9379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0.0025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0.0427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0.0496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testdata_230711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0.9279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0.0202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0.0818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0.1420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testdata_250716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0.4562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0.0546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0.1751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0.2336</a:t>
                      </a:r>
                      <a:r>
                        <a:rPr lang="pt-BR" altLang="ko-KR" sz="1400" dirty="0"/>
                        <a:t> 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testdata_250814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0.8408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0.0112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0.0797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0.1060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0621040"/>
                  </a:ext>
                </a:extLst>
              </a:tr>
            </a:tbl>
          </a:graphicData>
        </a:graphic>
      </p:graphicFrame>
      <p:sp>
        <p:nvSpPr>
          <p:cNvPr id="25" name="직사각형 24">
            <a:extLst>
              <a:ext uri="{FF2B5EF4-FFF2-40B4-BE49-F238E27FC236}">
                <a16:creationId xmlns:a16="http://schemas.microsoft.com/office/drawing/2014/main" id="{CB29EA9C-F49E-4177-B65A-DBC058C9A4E3}"/>
              </a:ext>
            </a:extLst>
          </p:cNvPr>
          <p:cNvSpPr/>
          <p:nvPr/>
        </p:nvSpPr>
        <p:spPr>
          <a:xfrm>
            <a:off x="2401401" y="2188770"/>
            <a:ext cx="2373798" cy="41503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169444BF-F0B7-4889-B147-6F0FD4C2D1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6128" y="4899412"/>
            <a:ext cx="3035115" cy="1083969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DA04DB59-C63A-41A7-B771-B58BE55748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4657" y="4903065"/>
            <a:ext cx="3010771" cy="1075275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2F7C7827-FF0C-404A-BE1B-AE1C412F23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9640" y="2527982"/>
            <a:ext cx="2993660" cy="1069164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48896317-9ABC-422F-8CC7-0F1AF34A947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3116" y="2543386"/>
            <a:ext cx="2977423" cy="1063365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01210BF3-BD24-4CEB-A37B-22133D18AF85}"/>
              </a:ext>
            </a:extLst>
          </p:cNvPr>
          <p:cNvSpPr txBox="1"/>
          <p:nvPr/>
        </p:nvSpPr>
        <p:spPr>
          <a:xfrm>
            <a:off x="6209476" y="3904493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testdata_220712</a:t>
            </a:r>
            <a:endParaRPr lang="ko-KR" altLang="en-US" sz="10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AC22114-3085-4525-B03D-FEFD32AE9725}"/>
              </a:ext>
            </a:extLst>
          </p:cNvPr>
          <p:cNvSpPr txBox="1"/>
          <p:nvPr/>
        </p:nvSpPr>
        <p:spPr>
          <a:xfrm>
            <a:off x="9357618" y="3904493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/>
              <a:t>testdata_230711</a:t>
            </a:r>
            <a:endParaRPr lang="ko-KR" altLang="en-US" sz="10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2430A5C-8F24-451F-AC56-9A2CD1616383}"/>
              </a:ext>
            </a:extLst>
          </p:cNvPr>
          <p:cNvSpPr txBox="1"/>
          <p:nvPr/>
        </p:nvSpPr>
        <p:spPr>
          <a:xfrm>
            <a:off x="6209476" y="6339130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testdata_250716</a:t>
            </a:r>
            <a:endParaRPr lang="ko-KR" altLang="en-US" sz="10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4E349CF-854A-4EB4-A910-E40754915A7A}"/>
              </a:ext>
            </a:extLst>
          </p:cNvPr>
          <p:cNvSpPr txBox="1"/>
          <p:nvPr/>
        </p:nvSpPr>
        <p:spPr>
          <a:xfrm>
            <a:off x="9365833" y="6339130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testdata_250814</a:t>
            </a:r>
            <a:endParaRPr lang="ko-KR" altLang="en-US" sz="10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FB8B52E-4DDD-40BE-9452-A4FC16AB29E3}"/>
              </a:ext>
            </a:extLst>
          </p:cNvPr>
          <p:cNvSpPr txBox="1"/>
          <p:nvPr/>
        </p:nvSpPr>
        <p:spPr>
          <a:xfrm>
            <a:off x="193701" y="4091445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1000" dirty="0"/>
              <a:t>증설 전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C2B67AB-71AD-408C-A384-70ECBAA44BF8}"/>
              </a:ext>
            </a:extLst>
          </p:cNvPr>
          <p:cNvSpPr txBox="1"/>
          <p:nvPr/>
        </p:nvSpPr>
        <p:spPr>
          <a:xfrm>
            <a:off x="193701" y="4559320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1000" dirty="0"/>
              <a:t>증설 후</a:t>
            </a:r>
          </a:p>
        </p:txBody>
      </p: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E544490F-29A2-4E2F-8BCB-FFC031F4DA3E}"/>
              </a:ext>
            </a:extLst>
          </p:cNvPr>
          <p:cNvCxnSpPr/>
          <p:nvPr/>
        </p:nvCxnSpPr>
        <p:spPr>
          <a:xfrm flipH="1">
            <a:off x="159906" y="4447662"/>
            <a:ext cx="80083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3316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D4CE1D1-FD62-4279-BDC1-93C37C76307F}"/>
              </a:ext>
            </a:extLst>
          </p:cNvPr>
          <p:cNvSpPr txBox="1"/>
          <p:nvPr/>
        </p:nvSpPr>
        <p:spPr>
          <a:xfrm>
            <a:off x="622385" y="850612"/>
            <a:ext cx="74717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+mj-ea"/>
              </a:rPr>
              <a:t>예측 코드 </a:t>
            </a:r>
            <a:r>
              <a:rPr lang="en-US" altLang="ko-KR" sz="2000" b="1" dirty="0">
                <a:latin typeface="+mj-ea"/>
              </a:rPr>
              <a:t>- </a:t>
            </a:r>
            <a:r>
              <a:rPr lang="ko-KR" altLang="en-US" sz="2000" b="1" dirty="0" err="1">
                <a:solidFill>
                  <a:schemeClr val="accent5"/>
                </a:solidFill>
                <a:latin typeface="+mj-ea"/>
              </a:rPr>
              <a:t>대곡교</a:t>
            </a:r>
            <a:endParaRPr lang="ko-KR" altLang="en-US" sz="2000" b="1" dirty="0">
              <a:solidFill>
                <a:schemeClr val="accent5"/>
              </a:solidFill>
              <a:latin typeface="+mj-ea"/>
            </a:endParaRP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25A90E9E-093D-4B85-9B84-CF454E820F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1570783"/>
              </p:ext>
            </p:extLst>
          </p:nvPr>
        </p:nvGraphicFramePr>
        <p:xfrm>
          <a:off x="960744" y="2188770"/>
          <a:ext cx="3814454" cy="415036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378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370666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bg1"/>
                          </a:solidFill>
                        </a:rPr>
                        <a:t>대곡교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testdata_220712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0.8927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0.0150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0.1010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0.1226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testdata_230711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0.7866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0.1942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0.3283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0.4407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testdata_250716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0.8683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0.0608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0.1862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0.2466</a:t>
                      </a:r>
                      <a:r>
                        <a:rPr lang="pt-BR" altLang="ko-KR" sz="1400" dirty="0"/>
                        <a:t> 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testdata_250814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0.8509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0.0518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0.1702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0.2275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0621040"/>
                  </a:ext>
                </a:extLst>
              </a:tr>
            </a:tbl>
          </a:graphicData>
        </a:graphic>
      </p:graphicFrame>
      <p:sp>
        <p:nvSpPr>
          <p:cNvPr id="26" name="직사각형 25">
            <a:extLst>
              <a:ext uri="{FF2B5EF4-FFF2-40B4-BE49-F238E27FC236}">
                <a16:creationId xmlns:a16="http://schemas.microsoft.com/office/drawing/2014/main" id="{CDEE85FD-3EC8-42BD-8CF3-D9A19F691D47}"/>
              </a:ext>
            </a:extLst>
          </p:cNvPr>
          <p:cNvSpPr/>
          <p:nvPr/>
        </p:nvSpPr>
        <p:spPr>
          <a:xfrm>
            <a:off x="2401401" y="2188770"/>
            <a:ext cx="2373798" cy="415036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01BA0A4D-0681-4735-8D52-62C861621F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6129" y="4899412"/>
            <a:ext cx="3035112" cy="1083969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FA3B72D4-4032-4E79-92B5-9BE79F37A6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4658" y="4903065"/>
            <a:ext cx="3010769" cy="1075275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3DD51D06-70CF-40E4-AFD1-80B296E9E2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9641" y="2527982"/>
            <a:ext cx="2993658" cy="1069164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B8D45CB9-BDCF-4567-A296-8678E59D26F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3117" y="2543386"/>
            <a:ext cx="2977421" cy="1063365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5D4B0434-458F-418E-BA1B-2E06E297FEB1}"/>
              </a:ext>
            </a:extLst>
          </p:cNvPr>
          <p:cNvSpPr txBox="1"/>
          <p:nvPr/>
        </p:nvSpPr>
        <p:spPr>
          <a:xfrm>
            <a:off x="6209476" y="3904493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testdata_220712</a:t>
            </a:r>
            <a:endParaRPr lang="ko-KR" altLang="en-US" sz="10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EF3FA57-3B0B-4BAD-AD29-7FAC57BE587B}"/>
              </a:ext>
            </a:extLst>
          </p:cNvPr>
          <p:cNvSpPr txBox="1"/>
          <p:nvPr/>
        </p:nvSpPr>
        <p:spPr>
          <a:xfrm>
            <a:off x="9357618" y="3904493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/>
              <a:t>testdata_230711</a:t>
            </a:r>
            <a:endParaRPr lang="ko-KR" altLang="en-US" sz="10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30329AA-DAD9-4AB7-A511-C347EB817E98}"/>
              </a:ext>
            </a:extLst>
          </p:cNvPr>
          <p:cNvSpPr txBox="1"/>
          <p:nvPr/>
        </p:nvSpPr>
        <p:spPr>
          <a:xfrm>
            <a:off x="6209476" y="6339130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testdata_250716</a:t>
            </a:r>
            <a:endParaRPr lang="ko-KR" altLang="en-US" sz="10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4FC3E2C-7335-4447-9CA4-8E83AB66010C}"/>
              </a:ext>
            </a:extLst>
          </p:cNvPr>
          <p:cNvSpPr txBox="1"/>
          <p:nvPr/>
        </p:nvSpPr>
        <p:spPr>
          <a:xfrm>
            <a:off x="9365833" y="6339130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testdata_250814</a:t>
            </a:r>
            <a:endParaRPr lang="ko-KR" altLang="en-US" sz="10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CEA90F6-74B7-4389-86F6-81C4F00BF722}"/>
              </a:ext>
            </a:extLst>
          </p:cNvPr>
          <p:cNvSpPr txBox="1"/>
          <p:nvPr/>
        </p:nvSpPr>
        <p:spPr>
          <a:xfrm>
            <a:off x="193701" y="4091445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1000" dirty="0"/>
              <a:t>증설 전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8B20482-A5A1-4806-B4B4-AE9554D41719}"/>
              </a:ext>
            </a:extLst>
          </p:cNvPr>
          <p:cNvSpPr txBox="1"/>
          <p:nvPr/>
        </p:nvSpPr>
        <p:spPr>
          <a:xfrm>
            <a:off x="193701" y="4559320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1000" dirty="0"/>
              <a:t>증설 후</a:t>
            </a:r>
          </a:p>
        </p:txBody>
      </p: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BAACE57A-3BCF-4396-B7C1-FF1E14592627}"/>
              </a:ext>
            </a:extLst>
          </p:cNvPr>
          <p:cNvCxnSpPr/>
          <p:nvPr/>
        </p:nvCxnSpPr>
        <p:spPr>
          <a:xfrm flipH="1">
            <a:off x="159906" y="4447662"/>
            <a:ext cx="80083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82D4CD5A-86BF-41F0-90D3-0408BAD0E3A4}"/>
              </a:ext>
            </a:extLst>
          </p:cNvPr>
          <p:cNvSpPr txBox="1"/>
          <p:nvPr/>
        </p:nvSpPr>
        <p:spPr>
          <a:xfrm>
            <a:off x="7763934" y="1893377"/>
            <a:ext cx="3378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ko-KR" altLang="en-US" sz="1200" dirty="0">
                <a:solidFill>
                  <a:schemeClr val="accent5"/>
                </a:solidFill>
              </a:rPr>
              <a:t>→ </a:t>
            </a:r>
            <a:r>
              <a:rPr lang="ko-KR" altLang="en-US" sz="1200" b="1" dirty="0">
                <a:solidFill>
                  <a:schemeClr val="accent5"/>
                </a:solidFill>
              </a:rPr>
              <a:t>전체 평균은 좋지만</a:t>
            </a:r>
            <a:r>
              <a:rPr lang="en-US" altLang="ko-KR" sz="1200" dirty="0">
                <a:solidFill>
                  <a:schemeClr val="accent5"/>
                </a:solidFill>
              </a:rPr>
              <a:t>, 250716 </a:t>
            </a:r>
            <a:r>
              <a:rPr lang="ko-KR" altLang="en-US" sz="1200" dirty="0">
                <a:solidFill>
                  <a:schemeClr val="accent5"/>
                </a:solidFill>
              </a:rPr>
              <a:t>이 명확한 약점</a:t>
            </a:r>
            <a:endParaRPr lang="en-US" altLang="ko-KR" sz="1200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33914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E807C9A-53EA-4C48-8286-ACB3BA5FEFFB}"/>
              </a:ext>
            </a:extLst>
          </p:cNvPr>
          <p:cNvSpPr txBox="1"/>
          <p:nvPr/>
        </p:nvSpPr>
        <p:spPr>
          <a:xfrm>
            <a:off x="7826559" y="1422698"/>
            <a:ext cx="33325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ko-KR" altLang="en-US" sz="1200" dirty="0">
                <a:solidFill>
                  <a:srgbClr val="FF0000"/>
                </a:solidFill>
              </a:rPr>
              <a:t>→  최고 </a:t>
            </a:r>
            <a:r>
              <a:rPr lang="en-US" altLang="ko-KR" sz="1200" dirty="0">
                <a:solidFill>
                  <a:srgbClr val="FF0000"/>
                </a:solidFill>
              </a:rPr>
              <a:t>R2 ( 220712 , 250814 )</a:t>
            </a:r>
            <a:br>
              <a:rPr lang="en-US" altLang="ko-KR" sz="1200" dirty="0">
                <a:solidFill>
                  <a:srgbClr val="FF0000"/>
                </a:solidFill>
              </a:rPr>
            </a:br>
            <a:r>
              <a:rPr lang="en-US" altLang="ko-KR" sz="1200" dirty="0">
                <a:solidFill>
                  <a:srgbClr val="FF0000"/>
                </a:solidFill>
              </a:rPr>
              <a:t>→  </a:t>
            </a:r>
            <a:r>
              <a:rPr lang="ko-KR" altLang="en-US" sz="1200" dirty="0">
                <a:solidFill>
                  <a:srgbClr val="FF0000"/>
                </a:solidFill>
              </a:rPr>
              <a:t>피크 성능 가장 좋음</a:t>
            </a:r>
            <a:br>
              <a:rPr lang="ko-KR" altLang="en-US" sz="1200" dirty="0">
                <a:solidFill>
                  <a:srgbClr val="FF0000"/>
                </a:solidFill>
              </a:rPr>
            </a:br>
            <a:r>
              <a:rPr lang="ko-KR" altLang="en-US" sz="1200" dirty="0">
                <a:solidFill>
                  <a:srgbClr val="FF0000"/>
                </a:solidFill>
              </a:rPr>
              <a:t>→ </a:t>
            </a:r>
            <a:r>
              <a:rPr lang="en-US" altLang="ko-KR" sz="1200" dirty="0">
                <a:solidFill>
                  <a:srgbClr val="FF0000"/>
                </a:solidFill>
              </a:rPr>
              <a:t>250716 </a:t>
            </a:r>
            <a:r>
              <a:rPr lang="ko-KR" altLang="en-US" sz="1200" dirty="0">
                <a:solidFill>
                  <a:srgbClr val="FF0000"/>
                </a:solidFill>
              </a:rPr>
              <a:t>번은 아직 약점</a:t>
            </a:r>
            <a:endParaRPr lang="en-US" altLang="ko-KR" sz="1200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4CE1D1-FD62-4279-BDC1-93C37C76307F}"/>
              </a:ext>
            </a:extLst>
          </p:cNvPr>
          <p:cNvSpPr txBox="1"/>
          <p:nvPr/>
        </p:nvSpPr>
        <p:spPr>
          <a:xfrm>
            <a:off x="622385" y="850612"/>
            <a:ext cx="74717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+mj-ea"/>
                <a:ea typeface="+mj-ea"/>
              </a:rPr>
              <a:t>+ </a:t>
            </a:r>
            <a:r>
              <a:rPr lang="ko-KR" altLang="en-US" sz="2000" b="1" dirty="0">
                <a:latin typeface="+mj-ea"/>
                <a:ea typeface="+mj-ea"/>
              </a:rPr>
              <a:t>고수위 구간에 가중치를 더 주는 </a:t>
            </a:r>
            <a:r>
              <a:rPr lang="en-US" altLang="ko-KR" sz="2000" b="1" dirty="0">
                <a:latin typeface="+mj-ea"/>
                <a:ea typeface="+mj-ea"/>
              </a:rPr>
              <a:t>MSE</a:t>
            </a:r>
          </a:p>
          <a:p>
            <a:r>
              <a:rPr lang="ko-KR" altLang="en-US" sz="2000" b="1" dirty="0">
                <a:latin typeface="+mj-ea"/>
              </a:rPr>
              <a:t>예측 코드 </a:t>
            </a:r>
            <a:r>
              <a:rPr lang="en-US" altLang="ko-KR" sz="2000" b="1" dirty="0">
                <a:latin typeface="+mj-ea"/>
              </a:rPr>
              <a:t>- </a:t>
            </a:r>
            <a:r>
              <a:rPr lang="ko-KR" altLang="en-US" sz="2000" b="1" dirty="0" err="1">
                <a:solidFill>
                  <a:srgbClr val="FF0000"/>
                </a:solidFill>
                <a:latin typeface="+mj-ea"/>
              </a:rPr>
              <a:t>궁내교</a:t>
            </a:r>
            <a:endParaRPr lang="ko-KR" altLang="en-US" sz="2000" b="1" dirty="0">
              <a:solidFill>
                <a:srgbClr val="FF0000"/>
              </a:solidFill>
              <a:latin typeface="+mj-ea"/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EB0E3FF3-343E-4FB6-B62C-F61CDF35C1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7109988"/>
              </p:ext>
            </p:extLst>
          </p:nvPr>
        </p:nvGraphicFramePr>
        <p:xfrm>
          <a:off x="960744" y="2188770"/>
          <a:ext cx="3814454" cy="415036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378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370666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bg1"/>
                          </a:solidFill>
                        </a:rPr>
                        <a:t>궁내교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testdata_220712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0.9442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0.0022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0.0415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0.0471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testdata_230711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0.9215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0.0220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0.0867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0.1482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testdata_250716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0.4650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0.0537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0.1724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0.2317</a:t>
                      </a:r>
                      <a:r>
                        <a:rPr lang="pt-BR" altLang="ko-KR" sz="1400" dirty="0"/>
                        <a:t> 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testdata_250814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0.8604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0.0098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0.0795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0.0992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0621040"/>
                  </a:ext>
                </a:extLst>
              </a:tr>
            </a:tbl>
          </a:graphicData>
        </a:graphic>
      </p:graphicFrame>
      <p:sp>
        <p:nvSpPr>
          <p:cNvPr id="11" name="직사각형 10">
            <a:extLst>
              <a:ext uri="{FF2B5EF4-FFF2-40B4-BE49-F238E27FC236}">
                <a16:creationId xmlns:a16="http://schemas.microsoft.com/office/drawing/2014/main" id="{7B0C16F4-39ED-4D0C-9A56-3C9A66922F5E}"/>
              </a:ext>
            </a:extLst>
          </p:cNvPr>
          <p:cNvSpPr/>
          <p:nvPr/>
        </p:nvSpPr>
        <p:spPr>
          <a:xfrm>
            <a:off x="2401401" y="2188770"/>
            <a:ext cx="2373798" cy="41503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B3ADAC1E-A18E-421B-B565-8812C1F208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1028" y="4899412"/>
            <a:ext cx="3025313" cy="1083969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827CD13E-2201-4277-BED0-678455B5F9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4658" y="4903065"/>
            <a:ext cx="3010769" cy="107527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D4E6D24B-D6D5-4064-905A-0B13D775133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9641" y="2527982"/>
            <a:ext cx="2993658" cy="1069164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7CB906D4-CD1E-4197-B0C7-EFD0B75999D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3117" y="2543386"/>
            <a:ext cx="2977421" cy="106336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0DF7D060-FCA6-43AD-9DAF-586B02F5B8CC}"/>
              </a:ext>
            </a:extLst>
          </p:cNvPr>
          <p:cNvSpPr txBox="1"/>
          <p:nvPr/>
        </p:nvSpPr>
        <p:spPr>
          <a:xfrm>
            <a:off x="6209476" y="3904493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testdata_220712</a:t>
            </a:r>
            <a:endParaRPr lang="ko-KR" altLang="en-US" sz="10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DB96AE5-7BD2-4D86-AE12-E881C7327688}"/>
              </a:ext>
            </a:extLst>
          </p:cNvPr>
          <p:cNvSpPr txBox="1"/>
          <p:nvPr/>
        </p:nvSpPr>
        <p:spPr>
          <a:xfrm>
            <a:off x="9357618" y="3904493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/>
              <a:t>testdata_230711</a:t>
            </a:r>
            <a:endParaRPr lang="ko-KR" altLang="en-US" sz="10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7386943-4A80-4A10-9CE3-C293643732FA}"/>
              </a:ext>
            </a:extLst>
          </p:cNvPr>
          <p:cNvSpPr txBox="1"/>
          <p:nvPr/>
        </p:nvSpPr>
        <p:spPr>
          <a:xfrm>
            <a:off x="6209476" y="6339130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testdata_250716</a:t>
            </a:r>
            <a:endParaRPr lang="ko-KR" altLang="en-US" sz="10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DA6320D-F449-477D-A268-B6910E2E32EF}"/>
              </a:ext>
            </a:extLst>
          </p:cNvPr>
          <p:cNvSpPr txBox="1"/>
          <p:nvPr/>
        </p:nvSpPr>
        <p:spPr>
          <a:xfrm>
            <a:off x="9365833" y="6339130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testdata_250814</a:t>
            </a:r>
            <a:endParaRPr lang="ko-KR" altLang="en-US" sz="1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1FC46FD-B0E1-4361-891F-562715785F4C}"/>
              </a:ext>
            </a:extLst>
          </p:cNvPr>
          <p:cNvSpPr txBox="1"/>
          <p:nvPr/>
        </p:nvSpPr>
        <p:spPr>
          <a:xfrm>
            <a:off x="193701" y="4091445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1000" dirty="0"/>
              <a:t>증설 전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D4B724D-F149-43D5-8C8C-4EE8E0768DF4}"/>
              </a:ext>
            </a:extLst>
          </p:cNvPr>
          <p:cNvSpPr txBox="1"/>
          <p:nvPr/>
        </p:nvSpPr>
        <p:spPr>
          <a:xfrm>
            <a:off x="193701" y="4559320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1000" dirty="0"/>
              <a:t>증설 후</a:t>
            </a: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00C7C6BB-947A-4FC6-9D44-5EEC0C9C1340}"/>
              </a:ext>
            </a:extLst>
          </p:cNvPr>
          <p:cNvCxnSpPr/>
          <p:nvPr/>
        </p:nvCxnSpPr>
        <p:spPr>
          <a:xfrm flipH="1">
            <a:off x="159906" y="4447662"/>
            <a:ext cx="80083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22959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D4CE1D1-FD62-4279-BDC1-93C37C76307F}"/>
              </a:ext>
            </a:extLst>
          </p:cNvPr>
          <p:cNvSpPr txBox="1"/>
          <p:nvPr/>
        </p:nvSpPr>
        <p:spPr>
          <a:xfrm>
            <a:off x="622385" y="850612"/>
            <a:ext cx="74717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+mj-ea"/>
                <a:ea typeface="+mj-ea"/>
              </a:rPr>
              <a:t>+ </a:t>
            </a:r>
            <a:r>
              <a:rPr lang="ko-KR" altLang="en-US" sz="2000" b="1" dirty="0">
                <a:latin typeface="+mj-ea"/>
              </a:rPr>
              <a:t>고수위 구간에 가중치를 더 주는 </a:t>
            </a:r>
            <a:r>
              <a:rPr lang="en-US" altLang="ko-KR" sz="2000" b="1" dirty="0">
                <a:latin typeface="+mj-ea"/>
              </a:rPr>
              <a:t>MSE </a:t>
            </a:r>
          </a:p>
          <a:p>
            <a:r>
              <a:rPr lang="ko-KR" altLang="en-US" sz="2000" b="1" dirty="0">
                <a:latin typeface="+mj-ea"/>
              </a:rPr>
              <a:t>예측 코드 </a:t>
            </a:r>
            <a:r>
              <a:rPr lang="en-US" altLang="ko-KR" sz="2000" b="1" dirty="0">
                <a:latin typeface="+mj-ea"/>
              </a:rPr>
              <a:t>- </a:t>
            </a:r>
            <a:r>
              <a:rPr lang="ko-KR" altLang="en-US" sz="2000" b="1" dirty="0" err="1">
                <a:solidFill>
                  <a:schemeClr val="accent5"/>
                </a:solidFill>
                <a:latin typeface="+mj-ea"/>
              </a:rPr>
              <a:t>대곡교</a:t>
            </a:r>
            <a:endParaRPr lang="ko-KR" altLang="en-US" sz="2000" b="1" dirty="0">
              <a:solidFill>
                <a:srgbClr val="FF0000"/>
              </a:solidFill>
              <a:latin typeface="+mj-ea"/>
            </a:endParaRP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25A90E9E-093D-4B85-9B84-CF454E820F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4944990"/>
              </p:ext>
            </p:extLst>
          </p:nvPr>
        </p:nvGraphicFramePr>
        <p:xfrm>
          <a:off x="960744" y="2188770"/>
          <a:ext cx="3814454" cy="415036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378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370666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bg1"/>
                          </a:solidFill>
                        </a:rPr>
                        <a:t>대곡교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testdata_220712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0.9121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0.0123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0.0924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0.1109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testdata_230711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0.7603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0.2182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0.3618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0.4671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testdata_250716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0.8780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0.0563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0.1852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0.2373</a:t>
                      </a:r>
                      <a:r>
                        <a:rPr lang="pt-BR" altLang="ko-KR" sz="1400" dirty="0"/>
                        <a:t> 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testdata_250814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0.8497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0.0522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0.1663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0.2284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0621040"/>
                  </a:ext>
                </a:extLst>
              </a:tr>
            </a:tbl>
          </a:graphicData>
        </a:graphic>
      </p:graphicFrame>
      <p:sp>
        <p:nvSpPr>
          <p:cNvPr id="26" name="직사각형 25">
            <a:extLst>
              <a:ext uri="{FF2B5EF4-FFF2-40B4-BE49-F238E27FC236}">
                <a16:creationId xmlns:a16="http://schemas.microsoft.com/office/drawing/2014/main" id="{CDEE85FD-3EC8-42BD-8CF3-D9A19F691D47}"/>
              </a:ext>
            </a:extLst>
          </p:cNvPr>
          <p:cNvSpPr/>
          <p:nvPr/>
        </p:nvSpPr>
        <p:spPr>
          <a:xfrm>
            <a:off x="2401401" y="2188770"/>
            <a:ext cx="2373798" cy="415036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01BA0A4D-0681-4735-8D52-62C861621F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1028" y="4899412"/>
            <a:ext cx="3025313" cy="1083969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FA3B72D4-4032-4E79-92B5-9BE79F37A6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4658" y="4903065"/>
            <a:ext cx="3010769" cy="1075275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3DD51D06-70CF-40E4-AFD1-80B296E9E2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9641" y="2527982"/>
            <a:ext cx="2993658" cy="1069164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B8D45CB9-BDCF-4567-A296-8678E59D26F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3117" y="2543386"/>
            <a:ext cx="2977421" cy="1063365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5D4B0434-458F-418E-BA1B-2E06E297FEB1}"/>
              </a:ext>
            </a:extLst>
          </p:cNvPr>
          <p:cNvSpPr txBox="1"/>
          <p:nvPr/>
        </p:nvSpPr>
        <p:spPr>
          <a:xfrm>
            <a:off x="6209476" y="3904493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testdata_220712</a:t>
            </a:r>
            <a:endParaRPr lang="ko-KR" altLang="en-US" sz="10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EF3FA57-3B0B-4BAD-AD29-7FAC57BE587B}"/>
              </a:ext>
            </a:extLst>
          </p:cNvPr>
          <p:cNvSpPr txBox="1"/>
          <p:nvPr/>
        </p:nvSpPr>
        <p:spPr>
          <a:xfrm>
            <a:off x="9357618" y="3904493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/>
              <a:t>testdata_230711</a:t>
            </a:r>
            <a:endParaRPr lang="ko-KR" altLang="en-US" sz="10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30329AA-DAD9-4AB7-A511-C347EB817E98}"/>
              </a:ext>
            </a:extLst>
          </p:cNvPr>
          <p:cNvSpPr txBox="1"/>
          <p:nvPr/>
        </p:nvSpPr>
        <p:spPr>
          <a:xfrm>
            <a:off x="6209476" y="6339130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testdata_250716</a:t>
            </a:r>
            <a:endParaRPr lang="ko-KR" altLang="en-US" sz="10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4FC3E2C-7335-4447-9CA4-8E83AB66010C}"/>
              </a:ext>
            </a:extLst>
          </p:cNvPr>
          <p:cNvSpPr txBox="1"/>
          <p:nvPr/>
        </p:nvSpPr>
        <p:spPr>
          <a:xfrm>
            <a:off x="9365833" y="6339130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testdata_250814</a:t>
            </a:r>
            <a:endParaRPr lang="ko-KR" altLang="en-US" sz="10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CEA90F6-74B7-4389-86F6-81C4F00BF722}"/>
              </a:ext>
            </a:extLst>
          </p:cNvPr>
          <p:cNvSpPr txBox="1"/>
          <p:nvPr/>
        </p:nvSpPr>
        <p:spPr>
          <a:xfrm>
            <a:off x="193701" y="4091445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1000" dirty="0"/>
              <a:t>증설 전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8B20482-A5A1-4806-B4B4-AE9554D41719}"/>
              </a:ext>
            </a:extLst>
          </p:cNvPr>
          <p:cNvSpPr txBox="1"/>
          <p:nvPr/>
        </p:nvSpPr>
        <p:spPr>
          <a:xfrm>
            <a:off x="193701" y="4559320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1000" dirty="0"/>
              <a:t>증설 후</a:t>
            </a:r>
          </a:p>
        </p:txBody>
      </p: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BAACE57A-3BCF-4396-B7C1-FF1E14592627}"/>
              </a:ext>
            </a:extLst>
          </p:cNvPr>
          <p:cNvCxnSpPr/>
          <p:nvPr/>
        </p:nvCxnSpPr>
        <p:spPr>
          <a:xfrm flipH="1">
            <a:off x="159906" y="4447662"/>
            <a:ext cx="80083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BEA5F82C-F41C-4A24-B2A8-9E76A1F3DE94}"/>
              </a:ext>
            </a:extLst>
          </p:cNvPr>
          <p:cNvSpPr txBox="1"/>
          <p:nvPr/>
        </p:nvSpPr>
        <p:spPr>
          <a:xfrm>
            <a:off x="7826559" y="1422698"/>
            <a:ext cx="33325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ko-KR" altLang="en-US" sz="1200" dirty="0">
                <a:solidFill>
                  <a:schemeClr val="accent5"/>
                </a:solidFill>
              </a:rPr>
              <a:t>→  최고 </a:t>
            </a:r>
            <a:r>
              <a:rPr lang="en-US" altLang="ko-KR" sz="1200" dirty="0">
                <a:solidFill>
                  <a:schemeClr val="accent5"/>
                </a:solidFill>
              </a:rPr>
              <a:t>R2 ( 220712 , 250814 )</a:t>
            </a:r>
            <a:br>
              <a:rPr lang="ko-KR" altLang="en-US" sz="1200" dirty="0">
                <a:solidFill>
                  <a:schemeClr val="accent5"/>
                </a:solidFill>
              </a:rPr>
            </a:br>
            <a:r>
              <a:rPr lang="ko-KR" altLang="en-US" sz="1200" dirty="0">
                <a:solidFill>
                  <a:schemeClr val="accent5"/>
                </a:solidFill>
              </a:rPr>
              <a:t>→ </a:t>
            </a:r>
            <a:r>
              <a:rPr lang="en-US" altLang="ko-KR" sz="1200" dirty="0">
                <a:solidFill>
                  <a:schemeClr val="accent5"/>
                </a:solidFill>
              </a:rPr>
              <a:t>250814 </a:t>
            </a:r>
            <a:r>
              <a:rPr lang="ko-KR" altLang="en-US" sz="1200" dirty="0">
                <a:solidFill>
                  <a:schemeClr val="accent5"/>
                </a:solidFill>
              </a:rPr>
              <a:t> 개선 폭이 가장 좋음</a:t>
            </a:r>
            <a:br>
              <a:rPr lang="ko-KR" altLang="en-US" sz="1200" dirty="0">
                <a:solidFill>
                  <a:schemeClr val="accent5"/>
                </a:solidFill>
              </a:rPr>
            </a:br>
            <a:r>
              <a:rPr lang="ko-KR" altLang="en-US" sz="1200" dirty="0">
                <a:solidFill>
                  <a:schemeClr val="accent5"/>
                </a:solidFill>
              </a:rPr>
              <a:t>→ </a:t>
            </a:r>
            <a:r>
              <a:rPr lang="en-US" altLang="ko-KR" sz="1200" dirty="0">
                <a:solidFill>
                  <a:schemeClr val="accent5"/>
                </a:solidFill>
              </a:rPr>
              <a:t>250716 </a:t>
            </a:r>
            <a:r>
              <a:rPr lang="ko-KR" altLang="en-US" sz="1200" dirty="0">
                <a:solidFill>
                  <a:schemeClr val="accent5"/>
                </a:solidFill>
              </a:rPr>
              <a:t>은 아직 약점</a:t>
            </a:r>
            <a:endParaRPr lang="en-US" altLang="ko-KR" sz="1200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96476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C450E-78D8-4916-AA72-7CF5D3B171E9}"/>
              </a:ext>
            </a:extLst>
          </p:cNvPr>
          <p:cNvSpPr txBox="1"/>
          <p:nvPr/>
        </p:nvSpPr>
        <p:spPr>
          <a:xfrm>
            <a:off x="622386" y="850612"/>
            <a:ext cx="15196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b="1" dirty="0">
                <a:latin typeface="+mj-ea"/>
                <a:ea typeface="+mj-ea"/>
              </a:rPr>
              <a:t>결론</a:t>
            </a:r>
            <a:endParaRPr lang="ko-KR" altLang="en-US" sz="1200" b="1" dirty="0">
              <a:latin typeface="+mj-ea"/>
              <a:ea typeface="+mj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9DC680-F0CF-4BBD-BD62-C9B6103562BC}"/>
              </a:ext>
            </a:extLst>
          </p:cNvPr>
          <p:cNvSpPr txBox="1"/>
          <p:nvPr/>
        </p:nvSpPr>
        <p:spPr>
          <a:xfrm>
            <a:off x="3122082" y="3429000"/>
            <a:ext cx="594783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altLang="ko-KR" sz="2000" b="1" dirty="0">
                <a:latin typeface="+mj-ea"/>
              </a:rPr>
              <a:t>Parallel LSTM </a:t>
            </a:r>
            <a:r>
              <a:rPr lang="ko-KR" altLang="en-US" sz="2000" b="1" dirty="0">
                <a:latin typeface="+mj-ea"/>
              </a:rPr>
              <a:t>에 비해 높은 성능</a:t>
            </a:r>
            <a:r>
              <a:rPr lang="en-US" altLang="ko-KR" sz="2000" b="1" dirty="0">
                <a:latin typeface="+mj-ea"/>
              </a:rPr>
              <a:t>, </a:t>
            </a:r>
          </a:p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ko-KR" altLang="en-US" sz="2000" b="1" dirty="0">
                <a:latin typeface="+mj-ea"/>
              </a:rPr>
              <a:t>궁내교는 </a:t>
            </a:r>
            <a:r>
              <a:rPr lang="en-US" altLang="ko-KR" sz="2000" dirty="0"/>
              <a:t>250716</a:t>
            </a:r>
            <a:r>
              <a:rPr lang="ko-KR" altLang="en-US" sz="2000" b="1" dirty="0">
                <a:latin typeface="+mj-ea"/>
              </a:rPr>
              <a:t>이 명확한 약점</a:t>
            </a:r>
            <a:r>
              <a:rPr lang="en-US" altLang="ko-KR" sz="2000" b="1" dirty="0">
                <a:latin typeface="+mj-ea"/>
              </a:rPr>
              <a:t>,</a:t>
            </a:r>
          </a:p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ko-KR" altLang="en-US" sz="2000" b="1" dirty="0">
                <a:latin typeface="+mj-ea"/>
              </a:rPr>
              <a:t>대곡교는 </a:t>
            </a:r>
            <a:r>
              <a:rPr lang="en-US" altLang="ko-KR" sz="2000" dirty="0"/>
              <a:t>230711</a:t>
            </a:r>
            <a:r>
              <a:rPr lang="ko-KR" altLang="en-US" sz="2000" b="1" dirty="0">
                <a:latin typeface="+mj-ea"/>
              </a:rPr>
              <a:t>이 명확한 약점</a:t>
            </a:r>
            <a:endParaRPr lang="en-US" altLang="ko-KR" sz="2000" b="1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380598719"/>
      </p:ext>
    </p:extLst>
  </p:cSld>
  <p:clrMapOvr>
    <a:masterClrMapping/>
  </p:clrMapOvr>
</p:sld>
</file>

<file path=ppt/theme/theme1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5295</TotalTime>
  <Words>1393</Words>
  <Application>Microsoft Office PowerPoint</Application>
  <PresentationFormat>와이드스크린</PresentationFormat>
  <Paragraphs>380</Paragraphs>
  <Slides>17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3" baseType="lpstr">
      <vt:lpstr>맑은 고딕</vt:lpstr>
      <vt:lpstr>Arial</vt:lpstr>
      <vt:lpstr>Calibri</vt:lpstr>
      <vt:lpstr>Calibri Light</vt:lpstr>
      <vt:lpstr>Wingdings 2</vt:lpstr>
      <vt:lpstr>HDOfficeLightV0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magpie</dc:creator>
  <cp:lastModifiedBy>magpie</cp:lastModifiedBy>
  <cp:revision>668</cp:revision>
  <dcterms:created xsi:type="dcterms:W3CDTF">2025-11-18T00:02:37Z</dcterms:created>
  <dcterms:modified xsi:type="dcterms:W3CDTF">2026-01-14T00:21:59Z</dcterms:modified>
</cp:coreProperties>
</file>