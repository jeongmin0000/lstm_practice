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0" r:id="rId2"/>
    <p:sldId id="663" r:id="rId3"/>
    <p:sldId id="592" r:id="rId4"/>
    <p:sldId id="593" r:id="rId5"/>
    <p:sldId id="643" r:id="rId6"/>
    <p:sldId id="721" r:id="rId7"/>
    <p:sldId id="723" r:id="rId8"/>
    <p:sldId id="669" r:id="rId9"/>
    <p:sldId id="765" r:id="rId10"/>
    <p:sldId id="671" r:id="rId11"/>
    <p:sldId id="727" r:id="rId12"/>
    <p:sldId id="728" r:id="rId13"/>
    <p:sldId id="760" r:id="rId14"/>
    <p:sldId id="761" r:id="rId15"/>
    <p:sldId id="762" r:id="rId16"/>
    <p:sldId id="763" r:id="rId17"/>
    <p:sldId id="764" r:id="rId18"/>
    <p:sldId id="754" r:id="rId19"/>
    <p:sldId id="755" r:id="rId20"/>
    <p:sldId id="756" r:id="rId21"/>
    <p:sldId id="757" r:id="rId22"/>
    <p:sldId id="758" r:id="rId23"/>
    <p:sldId id="766" r:id="rId24"/>
    <p:sldId id="767" r:id="rId25"/>
    <p:sldId id="768" r:id="rId26"/>
    <p:sldId id="769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7C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2DE63D5-997A-4646-A377-4702673A728D}" styleName="밝은 스타일 2 - 강조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0505E3EF-67EA-436B-97B2-0124C06EBD24}" styleName="보통 스타일 4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A111915-BE36-4E01-A7E5-04B1672EAD32}" styleName="밝은 스타일 2 - 강조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838" autoAdjust="0"/>
    <p:restoredTop sz="96336" autoAdjust="0"/>
  </p:normalViewPr>
  <p:slideViewPr>
    <p:cSldViewPr snapToGrid="0">
      <p:cViewPr varScale="1">
        <p:scale>
          <a:sx n="113" d="100"/>
          <a:sy n="113" d="100"/>
        </p:scale>
        <p:origin x="52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4530"/>
            <a:ext cx="91440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103549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97031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12423"/>
            <a:ext cx="105156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52633"/>
            <a:ext cx="105156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570693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45127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8800"/>
            <a:ext cx="5181600" cy="4351337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990867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681850"/>
            <a:ext cx="5156200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5127" y="2507550"/>
            <a:ext cx="5156200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851"/>
            <a:ext cx="5181601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7550"/>
            <a:ext cx="5181601" cy="3680525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3876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45005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48245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399"/>
            <a:ext cx="3931920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6710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48" y="457200"/>
            <a:ext cx="3931920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1600" y="990600"/>
            <a:ext cx="6172200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1248" y="2057400"/>
            <a:ext cx="3931920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6044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82803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0362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0362"/>
            <a:ext cx="7734300" cy="5811837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84097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45127" y="365760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5127" y="1828800"/>
            <a:ext cx="10515600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B72759B8-7332-44BD-B1FF-13450B6DA7DC}" type="datetimeFigureOut">
              <a:rPr lang="ko-KR" altLang="en-US" smtClean="0"/>
              <a:t>2026-01-30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7527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A0CAA-93EE-490C-9794-119BBE47DC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8753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13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12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11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25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31.png"/><Relationship Id="rId3" Type="http://schemas.openxmlformats.org/officeDocument/2006/relationships/image" Target="../media/image3.png"/><Relationship Id="rId7" Type="http://schemas.openxmlformats.org/officeDocument/2006/relationships/image" Target="../media/image28.png"/><Relationship Id="rId12" Type="http://schemas.openxmlformats.org/officeDocument/2006/relationships/image" Target="../media/image3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11" Type="http://schemas.openxmlformats.org/officeDocument/2006/relationships/image" Target="../media/image29.png"/><Relationship Id="rId5" Type="http://schemas.openxmlformats.org/officeDocument/2006/relationships/image" Target="../media/image26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37.png"/><Relationship Id="rId3" Type="http://schemas.openxmlformats.org/officeDocument/2006/relationships/image" Target="../media/image15.png"/><Relationship Id="rId7" Type="http://schemas.openxmlformats.org/officeDocument/2006/relationships/image" Target="../media/image34.png"/><Relationship Id="rId12" Type="http://schemas.openxmlformats.org/officeDocument/2006/relationships/image" Target="../media/image3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11" Type="http://schemas.openxmlformats.org/officeDocument/2006/relationships/image" Target="../media/image35.png"/><Relationship Id="rId5" Type="http://schemas.openxmlformats.org/officeDocument/2006/relationships/image" Target="../media/image32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13" Type="http://schemas.openxmlformats.org/officeDocument/2006/relationships/image" Target="../media/image49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12" Type="http://schemas.openxmlformats.org/officeDocument/2006/relationships/image" Target="../media/image48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47.png"/><Relationship Id="rId5" Type="http://schemas.openxmlformats.org/officeDocument/2006/relationships/image" Target="../media/image41.png"/><Relationship Id="rId10" Type="http://schemas.openxmlformats.org/officeDocument/2006/relationships/image" Target="../media/image46.png"/><Relationship Id="rId4" Type="http://schemas.openxmlformats.org/officeDocument/2006/relationships/image" Target="../media/image40.png"/><Relationship Id="rId9" Type="http://schemas.openxmlformats.org/officeDocument/2006/relationships/image" Target="../media/image45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png"/><Relationship Id="rId13" Type="http://schemas.openxmlformats.org/officeDocument/2006/relationships/image" Target="../media/image61.png"/><Relationship Id="rId3" Type="http://schemas.openxmlformats.org/officeDocument/2006/relationships/image" Target="../media/image51.png"/><Relationship Id="rId7" Type="http://schemas.openxmlformats.org/officeDocument/2006/relationships/image" Target="../media/image55.png"/><Relationship Id="rId12" Type="http://schemas.openxmlformats.org/officeDocument/2006/relationships/image" Target="../media/image60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11" Type="http://schemas.openxmlformats.org/officeDocument/2006/relationships/image" Target="../media/image59.png"/><Relationship Id="rId5" Type="http://schemas.openxmlformats.org/officeDocument/2006/relationships/image" Target="../media/image53.png"/><Relationship Id="rId10" Type="http://schemas.openxmlformats.org/officeDocument/2006/relationships/image" Target="../media/image58.png"/><Relationship Id="rId4" Type="http://schemas.openxmlformats.org/officeDocument/2006/relationships/image" Target="../media/image52.png"/><Relationship Id="rId9" Type="http://schemas.openxmlformats.org/officeDocument/2006/relationships/image" Target="../media/image5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8.png"/><Relationship Id="rId13" Type="http://schemas.openxmlformats.org/officeDocument/2006/relationships/image" Target="../media/image48.png"/><Relationship Id="rId3" Type="http://schemas.openxmlformats.org/officeDocument/2006/relationships/image" Target="../media/image63.png"/><Relationship Id="rId7" Type="http://schemas.openxmlformats.org/officeDocument/2006/relationships/image" Target="../media/image67.png"/><Relationship Id="rId12" Type="http://schemas.openxmlformats.org/officeDocument/2006/relationships/image" Target="../media/image45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6.png"/><Relationship Id="rId11" Type="http://schemas.openxmlformats.org/officeDocument/2006/relationships/image" Target="../media/image44.png"/><Relationship Id="rId5" Type="http://schemas.openxmlformats.org/officeDocument/2006/relationships/image" Target="../media/image65.png"/><Relationship Id="rId10" Type="http://schemas.openxmlformats.org/officeDocument/2006/relationships/image" Target="../media/image40.png"/><Relationship Id="rId4" Type="http://schemas.openxmlformats.org/officeDocument/2006/relationships/image" Target="../media/image64.png"/><Relationship Id="rId9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png"/><Relationship Id="rId13" Type="http://schemas.openxmlformats.org/officeDocument/2006/relationships/image" Target="../media/image58.png"/><Relationship Id="rId3" Type="http://schemas.openxmlformats.org/officeDocument/2006/relationships/image" Target="../media/image69.png"/><Relationship Id="rId7" Type="http://schemas.openxmlformats.org/officeDocument/2006/relationships/image" Target="../media/image73.png"/><Relationship Id="rId12" Type="http://schemas.openxmlformats.org/officeDocument/2006/relationships/image" Target="../media/image57.png"/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2.png"/><Relationship Id="rId11" Type="http://schemas.openxmlformats.org/officeDocument/2006/relationships/image" Target="../media/image56.png"/><Relationship Id="rId5" Type="http://schemas.openxmlformats.org/officeDocument/2006/relationships/image" Target="../media/image71.png"/><Relationship Id="rId10" Type="http://schemas.openxmlformats.org/officeDocument/2006/relationships/image" Target="../media/image52.png"/><Relationship Id="rId4" Type="http://schemas.openxmlformats.org/officeDocument/2006/relationships/image" Target="../media/image70.png"/><Relationship Id="rId9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13" Type="http://schemas.openxmlformats.org/officeDocument/2006/relationships/image" Target="../media/image79.png"/><Relationship Id="rId3" Type="http://schemas.openxmlformats.org/officeDocument/2006/relationships/image" Target="../media/image3.png"/><Relationship Id="rId7" Type="http://schemas.openxmlformats.org/officeDocument/2006/relationships/image" Target="../media/image76.png"/><Relationship Id="rId12" Type="http://schemas.openxmlformats.org/officeDocument/2006/relationships/image" Target="../media/image7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11" Type="http://schemas.openxmlformats.org/officeDocument/2006/relationships/image" Target="../media/image77.png"/><Relationship Id="rId5" Type="http://schemas.openxmlformats.org/officeDocument/2006/relationships/image" Target="../media/image74.pn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85.png"/><Relationship Id="rId3" Type="http://schemas.openxmlformats.org/officeDocument/2006/relationships/image" Target="../media/image15.png"/><Relationship Id="rId7" Type="http://schemas.openxmlformats.org/officeDocument/2006/relationships/image" Target="../media/image82.png"/><Relationship Id="rId12" Type="http://schemas.openxmlformats.org/officeDocument/2006/relationships/image" Target="../media/image8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3.png"/><Relationship Id="rId5" Type="http://schemas.openxmlformats.org/officeDocument/2006/relationships/image" Target="../media/image80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747520" y="2705725"/>
            <a:ext cx="6696959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단일 </a:t>
            </a:r>
            <a:r>
              <a:rPr lang="en-US" altLang="ko-KR" sz="4400" b="1" dirty="0">
                <a:latin typeface="+mj-ea"/>
              </a:rPr>
              <a:t>LSTM </a:t>
            </a:r>
            <a:r>
              <a:rPr lang="ko-KR" altLang="en-US" sz="4400" b="1" dirty="0">
                <a:latin typeface="+mj-ea"/>
              </a:rPr>
              <a:t>모델 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ko-KR" altLang="en-US" sz="4400" b="1" dirty="0">
                <a:latin typeface="+mj-ea"/>
              </a:rPr>
              <a:t>개발 결과</a:t>
            </a:r>
            <a:endParaRPr lang="en-US" altLang="ko-KR" sz="4400" b="1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12154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결론</a:t>
            </a:r>
            <a:endParaRPr lang="en-US" altLang="ko-KR" sz="2000" b="1" dirty="0">
              <a:latin typeface="+mj-ea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9D1C422-1565-448B-BCD7-AE68451E1256}"/>
              </a:ext>
            </a:extLst>
          </p:cNvPr>
          <p:cNvSpPr txBox="1"/>
          <p:nvPr/>
        </p:nvSpPr>
        <p:spPr>
          <a:xfrm>
            <a:off x="1775825" y="3429000"/>
            <a:ext cx="8640350" cy="7833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ko-KR" sz="1600" b="1" dirty="0">
                <a:latin typeface="+mj-ea"/>
              </a:rPr>
              <a:t>Parallel</a:t>
            </a:r>
            <a:r>
              <a:rPr lang="ko-KR" altLang="en-US" sz="1600" b="1" dirty="0">
                <a:latin typeface="+mj-ea"/>
              </a:rPr>
              <a:t> </a:t>
            </a:r>
            <a:r>
              <a:rPr lang="en-US" altLang="ko-KR" sz="1600" b="1" dirty="0">
                <a:latin typeface="+mj-ea"/>
              </a:rPr>
              <a:t>LSTM</a:t>
            </a:r>
            <a:r>
              <a:rPr lang="ko-KR" altLang="en-US" sz="1600" b="1" dirty="0">
                <a:latin typeface="+mj-ea"/>
              </a:rPr>
              <a:t> 과 같이 </a:t>
            </a:r>
            <a:r>
              <a:rPr lang="ko-KR" altLang="en-US" sz="1600" b="1" dirty="0" err="1">
                <a:latin typeface="+mj-ea"/>
              </a:rPr>
              <a:t>관심강우</a:t>
            </a:r>
            <a:r>
              <a:rPr lang="ko-KR" altLang="en-US" sz="1600" b="1" dirty="0">
                <a:latin typeface="+mj-ea"/>
              </a:rPr>
              <a:t> 이상으로 예측한 결과 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>
                <a:latin typeface="+mj-ea"/>
              </a:rPr>
              <a:t>단일 </a:t>
            </a:r>
            <a:r>
              <a:rPr lang="en-US" altLang="ko-KR" sz="1600" b="1" dirty="0">
                <a:latin typeface="+mj-ea"/>
              </a:rPr>
              <a:t>LSTM &lt; Parallel LSTM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600" b="1" dirty="0">
                <a:latin typeface="+mj-ea"/>
              </a:rPr>
              <a:t>전체 강우 사상 상용 </a:t>
            </a:r>
            <a:r>
              <a:rPr lang="en-US" altLang="ko-KR" sz="1600" b="1" dirty="0">
                <a:latin typeface="+mj-ea"/>
              </a:rPr>
              <a:t>: </a:t>
            </a:r>
            <a:r>
              <a:rPr lang="ko-KR" altLang="en-US" sz="1600" b="1" dirty="0">
                <a:latin typeface="+mj-ea"/>
              </a:rPr>
              <a:t>단일 </a:t>
            </a:r>
            <a:r>
              <a:rPr lang="en-US" altLang="ko-KR" sz="1600" b="1">
                <a:latin typeface="+mj-ea"/>
              </a:rPr>
              <a:t>LSTM &gt; </a:t>
            </a:r>
            <a:r>
              <a:rPr lang="en-US" altLang="ko-KR" sz="1600" b="1" dirty="0">
                <a:latin typeface="+mj-ea"/>
              </a:rPr>
              <a:t>Parallel LSTM</a:t>
            </a:r>
          </a:p>
        </p:txBody>
      </p:sp>
    </p:spTree>
    <p:extLst>
      <p:ext uri="{BB962C8B-B14F-4D97-AF65-F5344CB8AC3E}">
        <p14:creationId xmlns:p14="http://schemas.microsoft.com/office/powerpoint/2010/main" val="345861690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  <a:ea typeface="+mj-ea"/>
              </a:rPr>
              <a:t>관심수위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0653460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B3D0CE1-DACB-4EC2-ADD1-710D28962A97}"/>
              </a:ext>
            </a:extLst>
          </p:cNvPr>
          <p:cNvSpPr txBox="1"/>
          <p:nvPr/>
        </p:nvSpPr>
        <p:spPr>
          <a:xfrm>
            <a:off x="8051800" y="126666"/>
            <a:ext cx="4013201" cy="254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0.0003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0.0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en-US" altLang="ko-KR" sz="900" b="1" dirty="0">
                <a:latin typeface="+mn-ea"/>
              </a:rPr>
              <a:t>   = 36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1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이벤트 순서 </a:t>
            </a:r>
            <a:r>
              <a:rPr lang="en-US" altLang="ko-KR" sz="900" b="1" dirty="0">
                <a:latin typeface="+mn-ea"/>
              </a:rPr>
              <a:t>shuffle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01638B4-637A-47A2-A668-F990B5342A45}"/>
              </a:ext>
            </a:extLst>
          </p:cNvPr>
          <p:cNvSpPr txBox="1"/>
          <p:nvPr/>
        </p:nvSpPr>
        <p:spPr>
          <a:xfrm>
            <a:off x="8746067" y="5102419"/>
            <a:ext cx="3445933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 ( </a:t>
            </a:r>
            <a:r>
              <a:rPr lang="ko-KR" altLang="en-US" sz="900" b="1" dirty="0" err="1">
                <a:latin typeface="+mn-ea"/>
              </a:rPr>
              <a:t>학습이벤트순서섞어서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677941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4884984"/>
              </p:ext>
            </p:extLst>
          </p:nvPr>
        </p:nvGraphicFramePr>
        <p:xfrm>
          <a:off x="49953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/>
                        <a:t>0.9508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0.0104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0.0757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0.1020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0.9090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0.0555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0.1820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0.2356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0.0509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0.0377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0.1791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0.1941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0.5072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0.2390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0.2627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0.9096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0.0253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0.1590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0.8436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0.3187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0.3773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0.7689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0.0785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0.5396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0.1480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0.5051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0.0496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0.1722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0.9218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0.0361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0.7659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0.0165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0.1285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0.9005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0.1388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0.1858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879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482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평균은 나쁘지 않음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저수위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구간 편향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과소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/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과대 혼재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고수위 구간 </a:t>
            </a:r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MAE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이벤트간 성능 분산 큼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93B28-921A-4568-88EC-560FB8A1325A}"/>
              </a:ext>
            </a:extLst>
          </p:cNvPr>
          <p:cNvSpPr txBox="1"/>
          <p:nvPr/>
        </p:nvSpPr>
        <p:spPr>
          <a:xfrm>
            <a:off x="7111047" y="2958088"/>
            <a:ext cx="3297682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C5116E3-D4CD-495A-AE8E-84AF6748AE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24338104"/>
              </p:ext>
            </p:extLst>
          </p:nvPr>
        </p:nvGraphicFramePr>
        <p:xfrm>
          <a:off x="7111047" y="3429248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( 99 %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-0.51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( 85.7 %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( 91 %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( 98.2 %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0.34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( 81.4 %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( 90.1 %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( 85.1 %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( 99.5 %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( 88.5 %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( 91.8 %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( 82.7 %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( 86.8 %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( 87.1 %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( 96.3 %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( 94 %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-0.44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( 84.7 %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F3FC340-37AD-4DE7-83A2-71EA83CC6186}"/>
              </a:ext>
            </a:extLst>
          </p:cNvPr>
          <p:cNvSpPr txBox="1"/>
          <p:nvPr/>
        </p:nvSpPr>
        <p:spPr>
          <a:xfrm>
            <a:off x="7111047" y="6378188"/>
            <a:ext cx="4810019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예측수위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957C99-B037-494E-8A6A-CDEB61D410BD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-11.7 %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-10.3 %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03589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0.7659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0.5051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0.7689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520" y="1280084"/>
            <a:ext cx="3159110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6" y="3273072"/>
            <a:ext cx="3227152" cy="12908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5302821"/>
            <a:ext cx="3233530" cy="129341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80084"/>
            <a:ext cx="3159110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86680"/>
            <a:ext cx="3159110" cy="126364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313745"/>
            <a:ext cx="3178910" cy="127156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0.9096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0.0509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0.9508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289248830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0.9005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0.9218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0.5396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67108"/>
            <a:ext cx="3192890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3279925"/>
            <a:ext cx="3192889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310950"/>
            <a:ext cx="3192888" cy="127715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73328"/>
            <a:ext cx="3192890" cy="12771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79924"/>
            <a:ext cx="3192890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310949"/>
            <a:ext cx="3192890" cy="127715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0.8436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0.5072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0.9090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7668515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</a:t>
            </a:r>
          </a:p>
          <a:p>
            <a:pPr algn="ctr"/>
            <a:r>
              <a:rPr lang="en-US" altLang="ko-KR" sz="4400" b="1" dirty="0">
                <a:latin typeface="+mj-ea"/>
                <a:ea typeface="+mj-ea"/>
              </a:rPr>
              <a:t>2020</a:t>
            </a:r>
            <a:r>
              <a:rPr lang="ko-KR" altLang="en-US" sz="4400" b="1" dirty="0">
                <a:latin typeface="+mj-ea"/>
                <a:ea typeface="+mj-ea"/>
              </a:rPr>
              <a:t>년 이후 데이터 학습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807428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1210731" y="3219528"/>
          <a:ext cx="9692641" cy="74168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1056005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76605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73405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75005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63690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513161"/>
            <a:ext cx="894927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6E28172-7BCD-45FC-94B6-66BCB90320E7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B5DE639-B629-4136-891F-2438421B1DFF}"/>
              </a:ext>
            </a:extLst>
          </p:cNvPr>
          <p:cNvSpPr txBox="1"/>
          <p:nvPr/>
        </p:nvSpPr>
        <p:spPr>
          <a:xfrm>
            <a:off x="8051800" y="126666"/>
            <a:ext cx="4013201" cy="254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0.0003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0.0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en-US" altLang="ko-KR" sz="900" b="1" dirty="0">
                <a:latin typeface="+mn-ea"/>
              </a:rPr>
              <a:t>   = 36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1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이벤트 순서 </a:t>
            </a:r>
            <a:r>
              <a:rPr lang="en-US" altLang="ko-KR" sz="900" b="1" dirty="0">
                <a:latin typeface="+mn-ea"/>
              </a:rPr>
              <a:t>shuffle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65B6D84-A4E0-49DD-8403-0680185679AF}"/>
              </a:ext>
            </a:extLst>
          </p:cNvPr>
          <p:cNvSpPr txBox="1"/>
          <p:nvPr/>
        </p:nvSpPr>
        <p:spPr>
          <a:xfrm>
            <a:off x="8729133" y="5102419"/>
            <a:ext cx="3462867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 ( </a:t>
            </a:r>
            <a:r>
              <a:rPr lang="ko-KR" altLang="en-US" sz="900" b="1" dirty="0" err="1">
                <a:latin typeface="+mn-ea"/>
              </a:rPr>
              <a:t>학습이벤트순서섞어서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948639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169666"/>
              </p:ext>
            </p:extLst>
          </p:nvPr>
        </p:nvGraphicFramePr>
        <p:xfrm>
          <a:off x="49953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0.9610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0.0083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0.0658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0.0908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0.0257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0.1122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0.1604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0.2350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0.1573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0.1742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0.3842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0.0862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0.2608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0.2937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0.7765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0.2501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0.7163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0.2582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0.3972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0.5081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0.7457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0.0937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0.4315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0.1644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0.6535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0.1864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0.0413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0.2032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0.8250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0.1111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0.1695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910879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8691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</a:t>
            </a:r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적응률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높음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이벤트 개선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데이터수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감소로 일반화 성능 저하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피크 값 불안정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200979" y="2914649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E5835F-5E4D-40B7-8E65-510FB015EF13}"/>
              </a:ext>
            </a:extLst>
          </p:cNvPr>
          <p:cNvSpPr txBox="1"/>
          <p:nvPr/>
        </p:nvSpPr>
        <p:spPr>
          <a:xfrm>
            <a:off x="7111981" y="2957838"/>
            <a:ext cx="3547551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수위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C4CEF5E-1F23-493F-9688-333C243F4B5C}"/>
              </a:ext>
            </a:extLst>
          </p:cNvPr>
          <p:cNvSpPr txBox="1"/>
          <p:nvPr/>
        </p:nvSpPr>
        <p:spPr>
          <a:xfrm>
            <a:off x="8170315" y="6377938"/>
            <a:ext cx="3751686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3" name="표 12">
            <a:extLst>
              <a:ext uri="{FF2B5EF4-FFF2-40B4-BE49-F238E27FC236}">
                <a16:creationId xmlns:a16="http://schemas.microsoft.com/office/drawing/2014/main" id="{3A62CF62-7D05-4555-8081-601EA0273A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6576412"/>
              </p:ext>
            </p:extLst>
          </p:nvPr>
        </p:nvGraphicFramePr>
        <p:xfrm>
          <a:off x="7060247" y="3387772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( 99. 3%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( 91.6 %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( 91.2 %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( 96.5 %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0.35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( 83.3 %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0.35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( 81.2 %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( 90.3 %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( 96.7 %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( 83.4 %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( 90.9 %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0.31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( 96.7 %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( 91.5 %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( 93.2 %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( 87.3 %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BA78D876-B4DD-4DB5-9C08-C40529B1549C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-6.3 %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-8.3 %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793379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0.8250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0.6535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0.7457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0198" y="1280084"/>
            <a:ext cx="3159110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2" y="3286680"/>
            <a:ext cx="3159110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5310950"/>
            <a:ext cx="3192889" cy="127715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80084"/>
            <a:ext cx="3159110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86680"/>
            <a:ext cx="3159110" cy="126364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313745"/>
            <a:ext cx="3178910" cy="127156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0.7765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0.2350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0.9610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1421607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0.9172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0.9106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0.4315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1267108"/>
            <a:ext cx="3192890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79925"/>
            <a:ext cx="3192889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310949"/>
            <a:ext cx="3192890" cy="1277156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73328"/>
            <a:ext cx="3192890" cy="12771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3279925"/>
            <a:ext cx="3192889" cy="1277155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5310419"/>
            <a:ext cx="3195542" cy="127821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0.7163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0.3842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0.9578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8970955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705725"/>
            <a:ext cx="684102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</a:t>
            </a: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누적 강우 추가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36195308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867922" y="3219528"/>
          <a:ext cx="10530246" cy="8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89999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157561"/>
            <a:ext cx="8949270" cy="67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050" dirty="0"/>
              <a:t>( </a:t>
            </a:r>
            <a:r>
              <a:rPr lang="ko-KR" altLang="en-US" sz="1050" dirty="0"/>
              <a:t>누적 강우  →  학습과 예측에 사용 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46E4C02-DE21-4ADE-9F42-7F23287CBF1F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67</a:t>
            </a:r>
            <a:r>
              <a:rPr lang="ko-KR" altLang="en-US" sz="1600" dirty="0"/>
              <a:t>개 中 </a:t>
            </a:r>
            <a:r>
              <a:rPr lang="en-US" altLang="ko-KR" sz="1600" dirty="0"/>
              <a:t>61</a:t>
            </a:r>
            <a:r>
              <a:rPr lang="ko-KR" altLang="en-US" sz="1600" dirty="0"/>
              <a:t>개 데이터 파일 사용</a:t>
            </a:r>
            <a:endParaRPr lang="en-US" altLang="ko-KR" sz="1600" dirty="0"/>
          </a:p>
          <a:p>
            <a:r>
              <a:rPr lang="en-US" altLang="ko-KR" sz="1600" dirty="0"/>
              <a:t> </a:t>
            </a:r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6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4EBFEAE-8552-4863-9B16-E59C54912F41}"/>
              </a:ext>
            </a:extLst>
          </p:cNvPr>
          <p:cNvSpPr txBox="1"/>
          <p:nvPr/>
        </p:nvSpPr>
        <p:spPr>
          <a:xfrm>
            <a:off x="8746067" y="5102419"/>
            <a:ext cx="3445933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2014 ~ 20230629 ( 43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 ( </a:t>
            </a:r>
            <a:r>
              <a:rPr lang="ko-KR" altLang="en-US" sz="900" b="1" dirty="0" err="1">
                <a:latin typeface="+mn-ea"/>
              </a:rPr>
              <a:t>학습이벤트순서섞어서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20230713 ~ 250813 ( 12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2550916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( 6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DC3064F-AE48-4CDC-93E1-E977144FA187}"/>
              </a:ext>
            </a:extLst>
          </p:cNvPr>
          <p:cNvSpPr txBox="1"/>
          <p:nvPr/>
        </p:nvSpPr>
        <p:spPr>
          <a:xfrm>
            <a:off x="8051800" y="126666"/>
            <a:ext cx="4013201" cy="254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0.0003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0.0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en-US" altLang="ko-KR" sz="900" b="1" dirty="0">
                <a:latin typeface="+mn-ea"/>
              </a:rPr>
              <a:t>   = 36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1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이벤트 순서 </a:t>
            </a:r>
            <a:r>
              <a:rPr lang="en-US" altLang="ko-KR" sz="900" b="1" dirty="0">
                <a:latin typeface="+mn-ea"/>
              </a:rPr>
              <a:t>shuffle</a:t>
            </a:r>
          </a:p>
        </p:txBody>
      </p:sp>
    </p:spTree>
    <p:extLst>
      <p:ext uri="{BB962C8B-B14F-4D97-AF65-F5344CB8AC3E}">
        <p14:creationId xmlns:p14="http://schemas.microsoft.com/office/powerpoint/2010/main" val="14476928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</a:t>
            </a:r>
            <a:r>
              <a:rPr lang="ko-KR" altLang="en-US" sz="2000" b="1" dirty="0">
                <a:latin typeface="+mj-ea"/>
              </a:rPr>
              <a:t>누적 강우 추가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274701"/>
              </p:ext>
            </p:extLst>
          </p:nvPr>
        </p:nvGraphicFramePr>
        <p:xfrm>
          <a:off x="494706" y="3387772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0.9176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0.0174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0.0993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0.1320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0.9422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0.0353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0.1479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0.1879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0.4645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0.1331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0.1458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0.6228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0.2082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0.2298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0.9119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0.0247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>
                          <a:solidFill>
                            <a:schemeClr val="tx1"/>
                          </a:solidFill>
                        </a:rPr>
                        <a:t>0.1570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0.8492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0.1372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0.3123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0.3704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0.7989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0.0163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0.0600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0.1276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0.5213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0.0228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0.1271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0.1509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0.4844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0.0517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0.1744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0.2274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0.9162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0.7933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0.0833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0.1207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0.8923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0.0374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0.1438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0.1934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3966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0000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▲ 개선  </a:t>
            </a:r>
            <a:r>
              <a:rPr lang="en-US" altLang="ko-KR" dirty="0"/>
              <a:t>( +2.07 %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-0.98 %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6EADD-D4E0-482E-B851-9EDEE4B3C949}"/>
              </a:ext>
            </a:extLst>
          </p:cNvPr>
          <p:cNvSpPr txBox="1"/>
          <p:nvPr/>
        </p:nvSpPr>
        <p:spPr>
          <a:xfrm>
            <a:off x="7060246" y="2916612"/>
            <a:ext cx="3709353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수위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8CF0786-8549-4A86-960F-B478FFF28AF7}"/>
              </a:ext>
            </a:extLst>
          </p:cNvPr>
          <p:cNvSpPr txBox="1"/>
          <p:nvPr/>
        </p:nvSpPr>
        <p:spPr>
          <a:xfrm>
            <a:off x="7111047" y="6378188"/>
            <a:ext cx="4810019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예측수위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F1DD2370-D167-4107-89DF-7F8756380E95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sz="1400" b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상승 시작 시점 인식 개선</a:t>
            </a:r>
            <a:endParaRPr lang="en-US" altLang="ko-KR" sz="1400" b="1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일부 피크 타이밍 개선</a:t>
            </a:r>
            <a:endParaRPr lang="en-US" altLang="ko-KR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누적강우 효과가 궁내교에서 과보정 발생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aphicFrame>
        <p:nvGraphicFramePr>
          <p:cNvPr id="15" name="표 14">
            <a:extLst>
              <a:ext uri="{FF2B5EF4-FFF2-40B4-BE49-F238E27FC236}">
                <a16:creationId xmlns:a16="http://schemas.microsoft.com/office/drawing/2014/main" id="{323B929E-9248-48C6-9774-AE9FCF9E04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6122738"/>
              </p:ext>
            </p:extLst>
          </p:nvPr>
        </p:nvGraphicFramePr>
        <p:xfrm>
          <a:off x="7060247" y="3387772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( 94.4 %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-0.43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( 88.1 %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( 94.6 %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( 81.3 %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( 90.2 %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( 86.6 %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( 89.7 %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( 96.8 %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( 82.1 %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-0.72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( 75 %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( 83.9 %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-0.31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( 82.8 %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( 73.7 %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-0.77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( 79.5 %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842777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0.7933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0.4844</a:t>
              </a:r>
              <a:r>
                <a:rPr lang="en-US" altLang="ko-KR" sz="1200" b="1" dirty="0"/>
                <a:t> 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0.7989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1280084"/>
            <a:ext cx="3159109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86680"/>
            <a:ext cx="3159109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3" y="5310793"/>
            <a:ext cx="3193669" cy="1277468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5931" y="1280084"/>
            <a:ext cx="3159109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3" y="3279768"/>
            <a:ext cx="3193669" cy="1277468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0.9119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0.4645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0.9176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  <p:pic>
        <p:nvPicPr>
          <p:cNvPr id="32" name="그림 31">
            <a:extLst>
              <a:ext uri="{FF2B5EF4-FFF2-40B4-BE49-F238E27FC236}">
                <a16:creationId xmlns:a16="http://schemas.microsoft.com/office/drawing/2014/main" id="{48A1701F-1E76-4B9E-ACBC-A99B7B0DD0B3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1371" y="5310793"/>
            <a:ext cx="3193669" cy="12774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0948686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5017" y="1270435"/>
            <a:ext cx="3176254" cy="1270502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2" y="3279924"/>
            <a:ext cx="3192889" cy="12771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20456" y="5314276"/>
            <a:ext cx="3176254" cy="127050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1276655"/>
            <a:ext cx="3176254" cy="12705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9" y="3279924"/>
            <a:ext cx="3192889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5314276"/>
            <a:ext cx="3176254" cy="1270502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96ED2C04-8E0A-4BF9-91C7-3D11FD606F95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88C2957F-BFE7-46CB-B0E3-DA69D6D943D9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B0623A4F-078B-4CF1-83C1-D064A38C281B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97735E6-2EDF-4EEC-9516-E21AAF1819F4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5108AC27-B639-4545-B705-8D407272E650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0.8923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  <p:sp>
          <p:nvSpPr>
            <p:cNvPr id="43" name="TextBox 42">
              <a:extLst>
                <a:ext uri="{FF2B5EF4-FFF2-40B4-BE49-F238E27FC236}">
                  <a16:creationId xmlns:a16="http://schemas.microsoft.com/office/drawing/2014/main" id="{577689E3-8560-4022-BFCF-3E7EFAC96ED6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0.9162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CBEBB8AD-4C91-4F16-A1DC-34DC4C043DF7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0.5213</a:t>
              </a:r>
              <a:r>
                <a:rPr lang="en-US" altLang="ko-KR" sz="1200" b="1" dirty="0"/>
                <a:t> 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grpSp>
        <p:nvGrpSpPr>
          <p:cNvPr id="49" name="그룹 48">
            <a:extLst>
              <a:ext uri="{FF2B5EF4-FFF2-40B4-BE49-F238E27FC236}">
                <a16:creationId xmlns:a16="http://schemas.microsoft.com/office/drawing/2014/main" id="{209B6C0E-1B9E-483F-BC27-21111E7A34F7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EC739523-FC46-4333-8B7E-ACE8D41CAE58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F60517DC-3427-47AB-9D67-69C3D683D07B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4DA6FF8C-2467-4FD0-BA08-BBD5528504D0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3" name="TextBox 52">
              <a:extLst>
                <a:ext uri="{FF2B5EF4-FFF2-40B4-BE49-F238E27FC236}">
                  <a16:creationId xmlns:a16="http://schemas.microsoft.com/office/drawing/2014/main" id="{980A6C1A-7E95-4417-A16E-9EC9FFD76612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0.8492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  <p:sp>
          <p:nvSpPr>
            <p:cNvPr id="57" name="TextBox 56">
              <a:extLst>
                <a:ext uri="{FF2B5EF4-FFF2-40B4-BE49-F238E27FC236}">
                  <a16:creationId xmlns:a16="http://schemas.microsoft.com/office/drawing/2014/main" id="{5D932177-D6F8-413D-84B4-9732BF30196C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0.6228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4A7D638-1207-469F-8F89-CB6656FE07FB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0.9422</a:t>
              </a:r>
              <a:r>
                <a:rPr lang="en-US" altLang="ko-KR" sz="1200" b="1" dirty="0"/>
                <a:t> 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255039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2675488" y="2367171"/>
            <a:ext cx="684102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>
                <a:latin typeface="+mj-ea"/>
              </a:rPr>
              <a:t>관심수위 </a:t>
            </a:r>
            <a:r>
              <a:rPr lang="en-US" altLang="ko-KR" sz="4400" b="1" dirty="0">
                <a:latin typeface="+mj-ea"/>
              </a:rPr>
              <a:t>+ MAE + 2020</a:t>
            </a:r>
            <a:r>
              <a:rPr lang="ko-KR" altLang="en-US" sz="4400" b="1" dirty="0">
                <a:latin typeface="+mj-ea"/>
              </a:rPr>
              <a:t>년 이후 데이터 학습</a:t>
            </a:r>
            <a:endParaRPr lang="en-US" altLang="ko-KR" sz="4400" b="1" dirty="0">
              <a:latin typeface="+mj-ea"/>
            </a:endParaRPr>
          </a:p>
          <a:p>
            <a:pPr algn="ctr"/>
            <a:r>
              <a:rPr lang="ko-KR" altLang="en-US" sz="4400" b="1" dirty="0">
                <a:latin typeface="+mj-ea"/>
                <a:ea typeface="+mj-ea"/>
              </a:rPr>
              <a:t> </a:t>
            </a:r>
            <a:r>
              <a:rPr lang="en-US" altLang="ko-KR" sz="4400" b="1" dirty="0">
                <a:latin typeface="+mj-ea"/>
                <a:ea typeface="+mj-ea"/>
              </a:rPr>
              <a:t>+ </a:t>
            </a:r>
            <a:r>
              <a:rPr lang="ko-KR" altLang="en-US" sz="4400" b="1" dirty="0">
                <a:highlight>
                  <a:srgbClr val="FFFF00"/>
                </a:highlight>
                <a:latin typeface="+mj-ea"/>
                <a:ea typeface="+mj-ea"/>
              </a:rPr>
              <a:t>누적 강우 추가</a:t>
            </a:r>
            <a:endParaRPr lang="en-US" altLang="ko-KR" sz="4400" b="1" dirty="0">
              <a:highlight>
                <a:srgbClr val="FFFF00"/>
              </a:highlight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6844435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622386" y="850612"/>
            <a:ext cx="323841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b="1" dirty="0">
                <a:latin typeface="+mj-ea"/>
                <a:ea typeface="+mj-ea"/>
              </a:rPr>
              <a:t>학습데이터</a:t>
            </a:r>
            <a:endParaRPr lang="ko-KR" altLang="en-US" sz="1200" b="1" dirty="0">
              <a:latin typeface="+mj-ea"/>
              <a:ea typeface="+mj-ea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65E694D8-56B9-4A6D-921B-5623FCBBA9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24873129"/>
              </p:ext>
            </p:extLst>
          </p:nvPr>
        </p:nvGraphicFramePr>
        <p:xfrm>
          <a:off x="867922" y="3219528"/>
          <a:ext cx="10530246" cy="828040"/>
        </p:xfrm>
        <a:graphic>
          <a:graphicData uri="http://schemas.openxmlformats.org/drawingml/2006/table">
            <a:tbl>
              <a:tblPr firstRow="1" bandRow="1">
                <a:tableStyleId>{0505E3EF-67EA-436B-97B2-0124C06EBD24}</a:tableStyleId>
              </a:tblPr>
              <a:tblGrid>
                <a:gridCol w="989999">
                  <a:extLst>
                    <a:ext uri="{9D8B030D-6E8A-4147-A177-3AD203B41FA5}">
                      <a16:colId xmlns:a16="http://schemas.microsoft.com/office/drawing/2014/main" val="3873650469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3203644757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3471233348"/>
                    </a:ext>
                  </a:extLst>
                </a:gridCol>
                <a:gridCol w="728062">
                  <a:extLst>
                    <a:ext uri="{9D8B030D-6E8A-4147-A177-3AD203B41FA5}">
                      <a16:colId xmlns:a16="http://schemas.microsoft.com/office/drawing/2014/main" val="2131695425"/>
                    </a:ext>
                  </a:extLst>
                </a:gridCol>
                <a:gridCol w="537564">
                  <a:extLst>
                    <a:ext uri="{9D8B030D-6E8A-4147-A177-3AD203B41FA5}">
                      <a16:colId xmlns:a16="http://schemas.microsoft.com/office/drawing/2014/main" val="1735956904"/>
                    </a:ext>
                  </a:extLst>
                </a:gridCol>
                <a:gridCol w="632814">
                  <a:extLst>
                    <a:ext uri="{9D8B030D-6E8A-4147-A177-3AD203B41FA5}">
                      <a16:colId xmlns:a16="http://schemas.microsoft.com/office/drawing/2014/main" val="229180621"/>
                    </a:ext>
                  </a:extLst>
                </a:gridCol>
                <a:gridCol w="1081405">
                  <a:extLst>
                    <a:ext uri="{9D8B030D-6E8A-4147-A177-3AD203B41FA5}">
                      <a16:colId xmlns:a16="http://schemas.microsoft.com/office/drawing/2014/main" val="331921004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4048918556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522523455"/>
                    </a:ext>
                  </a:extLst>
                </a:gridCol>
                <a:gridCol w="759143">
                  <a:extLst>
                    <a:ext uri="{9D8B030D-6E8A-4147-A177-3AD203B41FA5}">
                      <a16:colId xmlns:a16="http://schemas.microsoft.com/office/drawing/2014/main" val="2162001719"/>
                    </a:ext>
                  </a:extLst>
                </a:gridCol>
                <a:gridCol w="694055">
                  <a:extLst>
                    <a:ext uri="{9D8B030D-6E8A-4147-A177-3AD203B41FA5}">
                      <a16:colId xmlns:a16="http://schemas.microsoft.com/office/drawing/2014/main" val="3386356491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409928634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108181778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2662403286"/>
                    </a:ext>
                  </a:extLst>
                </a:gridCol>
                <a:gridCol w="597095">
                  <a:extLst>
                    <a:ext uri="{9D8B030D-6E8A-4147-A177-3AD203B41FA5}">
                      <a16:colId xmlns:a16="http://schemas.microsoft.com/office/drawing/2014/main" val="180591977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time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성남북초교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광주시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남한산초교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대장동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구미초교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/>
                        <a:t>한국학중앙연구원</a:t>
                      </a:r>
                      <a:r>
                        <a:rPr lang="en-US" altLang="ko-KR" sz="800" dirty="0"/>
                        <a:t>)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성남시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)_WL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/>
                        <a:t>서울시</a:t>
                      </a:r>
                      <a:endParaRPr lang="en-US" altLang="ko-KR" sz="800" dirty="0"/>
                    </a:p>
                    <a:p>
                      <a:pPr latinLnBrk="1"/>
                      <a:r>
                        <a:rPr lang="en-US" altLang="ko-KR" sz="800" dirty="0"/>
                        <a:t>(</a:t>
                      </a:r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)_Q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en-US" altLang="ko-KR" sz="800" dirty="0" err="1"/>
                        <a:t>Ti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대곡교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800" dirty="0" err="1"/>
                        <a:t>궁내교</a:t>
                      </a:r>
                      <a:r>
                        <a:rPr lang="en-US" altLang="ko-KR" sz="800" dirty="0"/>
                        <a:t>_</a:t>
                      </a:r>
                      <a:r>
                        <a:rPr lang="ko-KR" altLang="en-US" sz="800" dirty="0" err="1"/>
                        <a:t>누적강우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92177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2014-07-24 15:30:00</a:t>
                      </a:r>
                    </a:p>
                    <a:p>
                      <a:pPr latinLnBrk="1"/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kumimoji="0" lang="en-US" altLang="ko-KR" sz="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1.12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5.11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2.17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40.56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800" dirty="0"/>
                        <a:t>0.0</a:t>
                      </a:r>
                      <a:endParaRPr lang="ko-KR" altLang="en-US" sz="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74084008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53AAD899-9E1E-4F1D-9D67-D7818219E8D5}"/>
              </a:ext>
            </a:extLst>
          </p:cNvPr>
          <p:cNvSpPr txBox="1"/>
          <p:nvPr/>
        </p:nvSpPr>
        <p:spPr>
          <a:xfrm>
            <a:off x="1109130" y="2157561"/>
            <a:ext cx="8949270" cy="677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ko-KR" altLang="en-US" sz="1600" dirty="0"/>
              <a:t>홍수통제소 </a:t>
            </a:r>
            <a:r>
              <a:rPr lang="en-US" altLang="ko-KR" sz="1600" dirty="0"/>
              <a:t>API </a:t>
            </a:r>
            <a:r>
              <a:rPr lang="ko-KR" altLang="en-US" sz="1600" dirty="0"/>
              <a:t>호출 → </a:t>
            </a:r>
            <a:r>
              <a:rPr lang="en-US" altLang="ko-KR" sz="1600" dirty="0"/>
              <a:t>MIET</a:t>
            </a:r>
            <a:r>
              <a:rPr lang="ko-KR" altLang="en-US" sz="1600" dirty="0"/>
              <a:t> 활용 강우 이벤트 추출 →</a:t>
            </a:r>
            <a:r>
              <a:rPr lang="en-US" altLang="ko-KR" sz="1600" dirty="0"/>
              <a:t> </a:t>
            </a:r>
            <a:r>
              <a:rPr lang="ko-KR" altLang="en-US" sz="1600" dirty="0"/>
              <a:t>관심 수위 이상 추출</a:t>
            </a:r>
            <a:endParaRPr lang="en-US" altLang="ko-KR" sz="1600" dirty="0"/>
          </a:p>
          <a:p>
            <a:pPr>
              <a:lnSpc>
                <a:spcPct val="150000"/>
              </a:lnSpc>
            </a:pPr>
            <a:r>
              <a:rPr lang="en-US" altLang="ko-KR" sz="1050" dirty="0"/>
              <a:t>( </a:t>
            </a:r>
            <a:r>
              <a:rPr lang="ko-KR" altLang="en-US" sz="1050" dirty="0"/>
              <a:t>누적 강우  →  학습과 예측에 사용 </a:t>
            </a:r>
            <a:r>
              <a:rPr lang="en-US" altLang="ko-KR" sz="1050" dirty="0"/>
              <a:t>)</a:t>
            </a:r>
            <a:endParaRPr lang="ko-KR" altLang="en-US" sz="105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8BA47AD-0990-45A0-AE11-480760BE19D1}"/>
              </a:ext>
            </a:extLst>
          </p:cNvPr>
          <p:cNvSpPr txBox="1"/>
          <p:nvPr/>
        </p:nvSpPr>
        <p:spPr>
          <a:xfrm>
            <a:off x="1109130" y="5289148"/>
            <a:ext cx="79755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600" dirty="0"/>
              <a:t>학습 </a:t>
            </a:r>
            <a:r>
              <a:rPr lang="en-US" altLang="ko-KR" sz="1600" dirty="0"/>
              <a:t>, </a:t>
            </a:r>
            <a:r>
              <a:rPr lang="ko-KR" altLang="en-US" sz="1600" dirty="0"/>
              <a:t>검증 </a:t>
            </a:r>
            <a:r>
              <a:rPr lang="en-US" altLang="ko-KR" sz="1600" dirty="0"/>
              <a:t>: </a:t>
            </a:r>
            <a:r>
              <a:rPr lang="ko-KR" altLang="en-US" sz="1600" dirty="0"/>
              <a:t>총 </a:t>
            </a:r>
            <a:r>
              <a:rPr lang="en-US" altLang="ko-KR" sz="1600" dirty="0"/>
              <a:t>40</a:t>
            </a:r>
            <a:r>
              <a:rPr lang="ko-KR" altLang="en-US" sz="1600" dirty="0"/>
              <a:t>개 中 </a:t>
            </a:r>
            <a:r>
              <a:rPr lang="en-US" altLang="ko-KR" sz="1600" dirty="0"/>
              <a:t>35</a:t>
            </a:r>
            <a:r>
              <a:rPr lang="ko-KR" altLang="en-US" sz="1600" dirty="0"/>
              <a:t>개 데이터 파일</a:t>
            </a:r>
            <a:r>
              <a:rPr lang="en-US" altLang="ko-KR" sz="1600" dirty="0"/>
              <a:t> </a:t>
            </a:r>
            <a:r>
              <a:rPr lang="ko-KR" altLang="en-US" sz="1600" dirty="0"/>
              <a:t>사용</a:t>
            </a:r>
            <a:endParaRPr lang="en-US" altLang="ko-KR" sz="1600" dirty="0"/>
          </a:p>
          <a:p>
            <a:br>
              <a:rPr lang="en-US" altLang="ko-KR" sz="1600" dirty="0"/>
            </a:br>
            <a:r>
              <a:rPr lang="ko-KR" altLang="en-US" sz="1600" dirty="0"/>
              <a:t>테스트  </a:t>
            </a:r>
            <a:r>
              <a:rPr lang="en-US" altLang="ko-KR" sz="1600" dirty="0"/>
              <a:t>: </a:t>
            </a:r>
            <a:r>
              <a:rPr lang="ko-KR" altLang="en-US" sz="1600" dirty="0"/>
              <a:t>학습 데이터에서 제외한 </a:t>
            </a:r>
            <a:r>
              <a:rPr lang="en-US" altLang="ko-KR" sz="1600" dirty="0"/>
              <a:t>5</a:t>
            </a:r>
            <a:r>
              <a:rPr lang="ko-KR" altLang="en-US" sz="1600" dirty="0"/>
              <a:t>개 데이터 파일 </a:t>
            </a:r>
            <a:r>
              <a:rPr lang="en-US" altLang="ko-KR" sz="1600" dirty="0"/>
              <a:t>( 4</a:t>
            </a:r>
            <a:r>
              <a:rPr lang="ko-KR" altLang="en-US" sz="1600" dirty="0"/>
              <a:t>개 이벤트 </a:t>
            </a:r>
            <a:r>
              <a:rPr lang="en-US" altLang="ko-KR" sz="1600" dirty="0"/>
              <a:t>)</a:t>
            </a:r>
          </a:p>
          <a:p>
            <a:r>
              <a:rPr lang="ko-KR" altLang="en-US" sz="1600" dirty="0"/>
              <a:t> </a:t>
            </a:r>
            <a:endParaRPr lang="en-US" altLang="ko-KR" sz="1600" dirty="0"/>
          </a:p>
          <a:p>
            <a:r>
              <a:rPr lang="en-US" altLang="ko-KR" sz="1600" dirty="0"/>
              <a:t>	+ </a:t>
            </a:r>
            <a:r>
              <a:rPr lang="ko-KR" altLang="en-US" sz="1600" dirty="0"/>
              <a:t>학습에서 검증에 사용된 </a:t>
            </a:r>
            <a:r>
              <a:rPr lang="en-US" altLang="ko-KR" sz="1600" dirty="0"/>
              <a:t>2</a:t>
            </a:r>
            <a:r>
              <a:rPr lang="ko-KR" altLang="en-US" sz="1600" dirty="0"/>
              <a:t>개 이벤트 사용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286E06-873F-4900-8D69-44EA679B3BA9}"/>
              </a:ext>
            </a:extLst>
          </p:cNvPr>
          <p:cNvSpPr txBox="1"/>
          <p:nvPr/>
        </p:nvSpPr>
        <p:spPr>
          <a:xfrm>
            <a:off x="8729133" y="5102419"/>
            <a:ext cx="3462867" cy="879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</a:t>
            </a:r>
            <a:r>
              <a:rPr lang="en-US" altLang="ko-KR" sz="900" b="1" dirty="0">
                <a:latin typeface="+mn-ea"/>
              </a:rPr>
              <a:t>: 2020 ~ 20240920 ( 25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 ( </a:t>
            </a:r>
            <a:r>
              <a:rPr lang="ko-KR" altLang="en-US" sz="900" b="1" dirty="0" err="1">
                <a:latin typeface="+mn-ea"/>
              </a:rPr>
              <a:t>학습이벤트순서섞어서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검증 </a:t>
            </a:r>
            <a:r>
              <a:rPr lang="en-US" altLang="ko-KR" sz="900" b="1" dirty="0">
                <a:latin typeface="+mn-ea"/>
              </a:rPr>
              <a:t>: 20240921 ~ 250919 85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( 7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테스트 </a:t>
            </a:r>
            <a:r>
              <a:rPr lang="en-US" altLang="ko-KR" sz="900" b="1" dirty="0">
                <a:latin typeface="+mn-ea"/>
              </a:rPr>
              <a:t>: 250919 86</a:t>
            </a:r>
            <a:r>
              <a:rPr lang="ko-KR" altLang="en-US" sz="900" b="1" dirty="0">
                <a:latin typeface="+mn-ea"/>
              </a:rPr>
              <a:t>번</a:t>
            </a:r>
            <a:r>
              <a:rPr lang="en-US" altLang="ko-KR" sz="900" b="1" dirty="0">
                <a:latin typeface="+mn-ea"/>
              </a:rPr>
              <a:t> ~ 251006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</a:t>
            </a:r>
            <a:r>
              <a:rPr lang="ko-KR" altLang="en-US" sz="900" b="1" dirty="0">
                <a:latin typeface="+mn-ea"/>
              </a:rPr>
              <a:t>개 </a:t>
            </a:r>
            <a:r>
              <a:rPr lang="en-US" altLang="ko-KR" sz="900" b="1" dirty="0">
                <a:latin typeface="+mn-ea"/>
              </a:rPr>
              <a:t>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657E065-223C-423F-98ED-0A8C3FF4E9AF}"/>
              </a:ext>
            </a:extLst>
          </p:cNvPr>
          <p:cNvSpPr txBox="1"/>
          <p:nvPr/>
        </p:nvSpPr>
        <p:spPr>
          <a:xfrm>
            <a:off x="8051800" y="126666"/>
            <a:ext cx="4013201" cy="2541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관심 수위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( 2 ) 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( 3.8 )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그래프 스케일 고정 </a:t>
            </a:r>
            <a:r>
              <a:rPr lang="en-US" altLang="ko-KR" sz="900" b="1" dirty="0">
                <a:latin typeface="+mn-ea"/>
              </a:rPr>
              <a:t>: </a:t>
            </a:r>
            <a:r>
              <a:rPr lang="ko-KR" altLang="en-US" sz="900" b="1" dirty="0" err="1">
                <a:latin typeface="+mn-ea"/>
              </a:rPr>
              <a:t>궁내교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( 0.7 - 3 ) </a:t>
            </a:r>
            <a:r>
              <a:rPr lang="ko-KR" altLang="en-US" sz="900" b="1" dirty="0" err="1">
                <a:latin typeface="+mn-ea"/>
              </a:rPr>
              <a:t>대곡교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( 1.5 – 5.5 )</a:t>
            </a:r>
          </a:p>
          <a:p>
            <a:pPr>
              <a:lnSpc>
                <a:spcPct val="200000"/>
              </a:lnSpc>
            </a:pPr>
            <a:r>
              <a:rPr lang="en-US" altLang="ko-KR" sz="900" b="1" dirty="0">
                <a:latin typeface="+mn-ea"/>
              </a:rPr>
              <a:t>--------------------------------------------------------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loss_function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MSE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learning_rate</a:t>
            </a:r>
            <a:r>
              <a:rPr lang="en-US" altLang="ko-KR" sz="900" b="1" dirty="0">
                <a:latin typeface="+mn-ea"/>
              </a:rPr>
              <a:t> = 0.0003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dropout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=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0.0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 err="1">
                <a:latin typeface="+mn-ea"/>
              </a:rPr>
              <a:t>seq_length</a:t>
            </a:r>
            <a:r>
              <a:rPr lang="en-US" altLang="ko-KR" sz="900" b="1" dirty="0">
                <a:latin typeface="+mn-ea"/>
              </a:rPr>
              <a:t>   = 36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altLang="ko-KR" sz="900" b="1" dirty="0">
                <a:latin typeface="+mn-ea"/>
              </a:rPr>
              <a:t>Dense = 1 (</a:t>
            </a:r>
            <a:r>
              <a:rPr lang="ko-KR" altLang="en-US" sz="900" b="1" dirty="0">
                <a:latin typeface="+mn-ea"/>
              </a:rPr>
              <a:t> </a:t>
            </a:r>
            <a:r>
              <a:rPr lang="en-US" altLang="ko-KR" sz="900" b="1" dirty="0">
                <a:latin typeface="+mn-ea"/>
              </a:rPr>
              <a:t>36</a:t>
            </a:r>
            <a:r>
              <a:rPr lang="ko-KR" altLang="en-US" sz="900" b="1" dirty="0">
                <a:latin typeface="+mn-ea"/>
              </a:rPr>
              <a:t>번 처리 </a:t>
            </a:r>
            <a:r>
              <a:rPr lang="en-US" altLang="ko-KR" sz="900" b="1" dirty="0">
                <a:latin typeface="+mn-ea"/>
              </a:rPr>
              <a:t>) </a:t>
            </a:r>
          </a:p>
          <a:p>
            <a:pPr marL="171450" indent="-1714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ko-KR" altLang="en-US" sz="900" b="1" dirty="0">
                <a:latin typeface="+mn-ea"/>
              </a:rPr>
              <a:t>학습 이벤트 순서 </a:t>
            </a:r>
            <a:r>
              <a:rPr lang="en-US" altLang="ko-KR" sz="900" b="1" dirty="0">
                <a:latin typeface="+mn-ea"/>
              </a:rPr>
              <a:t>shuffle</a:t>
            </a:r>
          </a:p>
        </p:txBody>
      </p:sp>
    </p:spTree>
    <p:extLst>
      <p:ext uri="{BB962C8B-B14F-4D97-AF65-F5344CB8AC3E}">
        <p14:creationId xmlns:p14="http://schemas.microsoft.com/office/powerpoint/2010/main" val="282726550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 </a:t>
            </a:r>
            <a:r>
              <a:rPr lang="en-US" altLang="ko-KR" sz="2000" b="1" dirty="0">
                <a:latin typeface="+mj-ea"/>
              </a:rPr>
              <a:t>+ 2020</a:t>
            </a:r>
            <a:r>
              <a:rPr lang="ko-KR" altLang="en-US" sz="2000" b="1" dirty="0">
                <a:latin typeface="+mj-ea"/>
              </a:rPr>
              <a:t>년 이후 데이터 학습</a:t>
            </a:r>
            <a:r>
              <a:rPr lang="en-US" altLang="ko-KR" sz="2000" b="1" dirty="0">
                <a:latin typeface="+mj-ea"/>
              </a:rPr>
              <a:t> + </a:t>
            </a:r>
            <a:r>
              <a:rPr lang="ko-KR" altLang="en-US" sz="2000" b="1" dirty="0">
                <a:latin typeface="+mj-ea"/>
              </a:rPr>
              <a:t>누적 강우 추가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455503"/>
              </p:ext>
            </p:extLst>
          </p:nvPr>
        </p:nvGraphicFramePr>
        <p:xfrm>
          <a:off x="494706" y="3387772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0.9407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0.1010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0.9719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0.0171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0.1040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0.1309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rgbClr val="FF0000"/>
                          </a:solidFill>
                        </a:rPr>
                        <a:t>0.2055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0.1775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0.5927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0.1987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0.2388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0.6441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0.0996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0.2819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0.3156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0.7324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0.2436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0.3876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0.4936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0.6904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0.0250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0.1010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0.1583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0.3858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0.0292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0.1709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rgbClr val="FF0000"/>
                          </a:solidFill>
                        </a:rPr>
                        <a:t>0.7551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0.1311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0.1567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0.9196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0.0371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0.1666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0.9146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0.0060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0.0616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0.0776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0.9006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0.1452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0.1857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3966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0000" y="3743079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최근 패턴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적응률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높음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궁내교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평균 성능 하락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대곡교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고수위 이벤트에서 안정적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400" b="1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데이터수</a:t>
            </a:r>
            <a:r>
              <a:rPr lang="ko-KR" altLang="en-US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감소 </a:t>
            </a:r>
            <a:r>
              <a:rPr lang="en-US" altLang="ko-KR" sz="1400" b="1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+  feature 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증가 → </a:t>
            </a:r>
            <a:r>
              <a:rPr lang="ko-KR" altLang="en-US" dirty="0" err="1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과적합</a:t>
            </a:r>
            <a:r>
              <a:rPr lang="ko-KR" altLang="en-US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위험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4625" indent="0">
              <a:buNone/>
            </a:pP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133630-FB2D-41DD-A286-A0C97A4C9F7A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-3.08 %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-6.01 %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6156EADD-D4E0-482E-B851-9EDEE4B3C949}"/>
              </a:ext>
            </a:extLst>
          </p:cNvPr>
          <p:cNvSpPr txBox="1"/>
          <p:nvPr/>
        </p:nvSpPr>
        <p:spPr>
          <a:xfrm>
            <a:off x="7060247" y="2916612"/>
            <a:ext cx="3297682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7" name="표 16">
            <a:extLst>
              <a:ext uri="{FF2B5EF4-FFF2-40B4-BE49-F238E27FC236}">
                <a16:creationId xmlns:a16="http://schemas.microsoft.com/office/drawing/2014/main" id="{DF094C11-ADD8-41D9-BECD-A92B4A9481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44468626"/>
              </p:ext>
            </p:extLst>
          </p:nvPr>
        </p:nvGraphicFramePr>
        <p:xfrm>
          <a:off x="7060247" y="3387772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( 93.1 %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( 94.5 %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( 89.4 %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( 90 % 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( 96.7 %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-0.27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( 86.1 %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0.46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( 75.3 %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( 92.8 %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0.05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( 98.8 %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-0.18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( 89.2 %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( 97.3 %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( 95.7 %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-0.15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( 94.9 %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-0.16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( 86.6 %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( 84.6 %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-0.17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( 95.5 %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0.12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( 90.5 %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-0.09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( 94.1 %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-0.4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( 85.9 %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0.22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( 92.1 % 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64B6F85-1357-4BE9-9C46-221462FFD297}"/>
              </a:ext>
            </a:extLst>
          </p:cNvPr>
          <p:cNvSpPr txBox="1"/>
          <p:nvPr/>
        </p:nvSpPr>
        <p:spPr>
          <a:xfrm>
            <a:off x="8118580" y="6336712"/>
            <a:ext cx="3751686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42792182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0.9146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0.7551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0.6904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4" y="1280084"/>
            <a:ext cx="3159109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3286680"/>
            <a:ext cx="3159109" cy="126364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2163" y="5317705"/>
            <a:ext cx="3159109" cy="1263644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1280084"/>
            <a:ext cx="3159109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3286680"/>
            <a:ext cx="3159109" cy="126364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0.6441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0.2055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0.9407</a:t>
              </a:r>
              <a:endParaRPr lang="ko-KR" altLang="en-US" sz="1200" b="1" dirty="0"/>
            </a:p>
          </p:txBody>
        </p:sp>
      </p:grpSp>
      <p:pic>
        <p:nvPicPr>
          <p:cNvPr id="33" name="그림 32">
            <a:extLst>
              <a:ext uri="{FF2B5EF4-FFF2-40B4-BE49-F238E27FC236}">
                <a16:creationId xmlns:a16="http://schemas.microsoft.com/office/drawing/2014/main" id="{74A75D3F-9220-497E-9869-54399B35E0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52" y="5310949"/>
            <a:ext cx="3192889" cy="1277156"/>
          </a:xfrm>
          <a:prstGeom prst="rect">
            <a:avLst/>
          </a:prstGeom>
        </p:spPr>
      </p:pic>
      <p:pic>
        <p:nvPicPr>
          <p:cNvPr id="31" name="그림 30">
            <a:extLst>
              <a:ext uri="{FF2B5EF4-FFF2-40B4-BE49-F238E27FC236}">
                <a16:creationId xmlns:a16="http://schemas.microsoft.com/office/drawing/2014/main" id="{181FA7FA-DE3D-4CCE-850D-CA118039758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689483"/>
            <a:ext cx="3193671" cy="542588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AAD2037F-DF4F-4342-BE96-B2AC03983B2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7601" y="2689402"/>
            <a:ext cx="3193671" cy="551047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9C19C334-D124-4905-996E-534B71F080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4721949"/>
            <a:ext cx="3227450" cy="549525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D01F57E0-CDE7-44EB-891C-A0C7E98A3A85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2" y="716172"/>
            <a:ext cx="3227450" cy="49277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C2E71C2E-7FE6-4714-9296-CF68E43F628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002" y="2712227"/>
            <a:ext cx="3193671" cy="50539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2D10959B-B62D-471F-A785-0519BB7F9FC5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4747938"/>
            <a:ext cx="3227450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1833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0.9006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0.9196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0.3858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1260196"/>
            <a:ext cx="3227449" cy="129098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3279924"/>
            <a:ext cx="3192889" cy="1277156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5310949"/>
            <a:ext cx="3192889" cy="1277156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4" y="1276655"/>
            <a:ext cx="3176254" cy="1270502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2" y="3190530"/>
            <a:ext cx="3192891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8783" y="5314276"/>
            <a:ext cx="3176254" cy="1270502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0.7324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0.5927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0.9719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31" name="그림 30">
            <a:extLst>
              <a:ext uri="{FF2B5EF4-FFF2-40B4-BE49-F238E27FC236}">
                <a16:creationId xmlns:a16="http://schemas.microsoft.com/office/drawing/2014/main" id="{B2122BB9-47FB-45EC-90F8-4D047CB2E50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707985"/>
            <a:ext cx="3227450" cy="493143"/>
          </a:xfrm>
          <a:prstGeom prst="rect">
            <a:avLst/>
          </a:prstGeom>
        </p:spPr>
      </p:pic>
      <p:pic>
        <p:nvPicPr>
          <p:cNvPr id="32" name="그림 31">
            <a:extLst>
              <a:ext uri="{FF2B5EF4-FFF2-40B4-BE49-F238E27FC236}">
                <a16:creationId xmlns:a16="http://schemas.microsoft.com/office/drawing/2014/main" id="{C064F5C2-DC10-4883-BBF0-744C9D0E928E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2" y="2716152"/>
            <a:ext cx="3227450" cy="497547"/>
          </a:xfrm>
          <a:prstGeom prst="rect">
            <a:avLst/>
          </a:prstGeom>
        </p:spPr>
      </p:pic>
      <p:pic>
        <p:nvPicPr>
          <p:cNvPr id="33" name="그림 32">
            <a:extLst>
              <a:ext uri="{FF2B5EF4-FFF2-40B4-BE49-F238E27FC236}">
                <a16:creationId xmlns:a16="http://schemas.microsoft.com/office/drawing/2014/main" id="{559091C5-CC1F-4DED-BFEA-603FD5BE45FA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1" y="4747938"/>
            <a:ext cx="3192891" cy="497547"/>
          </a:xfrm>
          <a:prstGeom prst="rect">
            <a:avLst/>
          </a:prstGeom>
        </p:spPr>
      </p:pic>
      <p:pic>
        <p:nvPicPr>
          <p:cNvPr id="34" name="그림 33">
            <a:extLst>
              <a:ext uri="{FF2B5EF4-FFF2-40B4-BE49-F238E27FC236}">
                <a16:creationId xmlns:a16="http://schemas.microsoft.com/office/drawing/2014/main" id="{B8C6CD84-7FCB-4BB0-8CF0-D7A73E43F21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716406"/>
            <a:ext cx="3227450" cy="488741"/>
          </a:xfrm>
          <a:prstGeom prst="rect">
            <a:avLst/>
          </a:prstGeom>
        </p:spPr>
      </p:pic>
      <p:pic>
        <p:nvPicPr>
          <p:cNvPr id="36" name="그림 35">
            <a:extLst>
              <a:ext uri="{FF2B5EF4-FFF2-40B4-BE49-F238E27FC236}">
                <a16:creationId xmlns:a16="http://schemas.microsoft.com/office/drawing/2014/main" id="{C785F6AC-F365-4F4B-A4CA-619DB8C42FA5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89" y="2716152"/>
            <a:ext cx="3227450" cy="497547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B4019152-7D26-4B31-9503-DA6DD83D4E7F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2147" y="4747938"/>
            <a:ext cx="3192891" cy="4975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894754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36C450E-78D8-4916-AA72-7CF5D3B171E9}"/>
              </a:ext>
            </a:extLst>
          </p:cNvPr>
          <p:cNvSpPr txBox="1"/>
          <p:nvPr/>
        </p:nvSpPr>
        <p:spPr>
          <a:xfrm>
            <a:off x="3378243" y="3044279"/>
            <a:ext cx="543551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4400" b="1" dirty="0" err="1">
                <a:latin typeface="+mj-ea"/>
                <a:ea typeface="+mj-ea"/>
              </a:rPr>
              <a:t>전체강우</a:t>
            </a:r>
            <a:endParaRPr lang="en-US" altLang="ko-KR" sz="4400" b="1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152579993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622385" y="850612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>
                <a:latin typeface="+mj-ea"/>
              </a:rPr>
              <a:t>관심수위</a:t>
            </a:r>
            <a:endParaRPr lang="en-US" altLang="ko-KR" sz="2000" b="1" dirty="0">
              <a:latin typeface="+mj-ea"/>
            </a:endParaRPr>
          </a:p>
        </p:txBody>
      </p:sp>
      <p:graphicFrame>
        <p:nvGraphicFramePr>
          <p:cNvPr id="27" name="표 26">
            <a:extLst>
              <a:ext uri="{FF2B5EF4-FFF2-40B4-BE49-F238E27FC236}">
                <a16:creationId xmlns:a16="http://schemas.microsoft.com/office/drawing/2014/main" id="{3747BCBE-DBB3-4BB6-B6CC-E2C31426A4A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75141903"/>
              </p:ext>
            </p:extLst>
          </p:nvPr>
        </p:nvGraphicFramePr>
        <p:xfrm>
          <a:off x="499533" y="3429000"/>
          <a:ext cx="6023226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772414">
                  <a:extLst>
                    <a:ext uri="{9D8B030D-6E8A-4147-A177-3AD203B41FA5}">
                      <a16:colId xmlns:a16="http://schemas.microsoft.com/office/drawing/2014/main" val="2562803118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089401187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576727695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2478809025"/>
                    </a:ext>
                  </a:extLst>
                </a:gridCol>
                <a:gridCol w="690880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1418825472"/>
                    </a:ext>
                  </a:extLst>
                </a:gridCol>
                <a:gridCol w="644842">
                  <a:extLst>
                    <a:ext uri="{9D8B030D-6E8A-4147-A177-3AD203B41FA5}">
                      <a16:colId xmlns:a16="http://schemas.microsoft.com/office/drawing/2014/main" val="3977166896"/>
                    </a:ext>
                  </a:extLst>
                </a:gridCol>
              </a:tblGrid>
              <a:tr h="353060">
                <a:tc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/>
                        <a:t>궁내교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2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Test data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mse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mae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1" dirty="0"/>
                        <a:t>rmse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20.08.02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0.9541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0.0097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0.0643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0.0985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0.8737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0.0771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0.2243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0.2777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22.07.12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dirty="0">
                          <a:solidFill>
                            <a:schemeClr val="tx1"/>
                          </a:solidFill>
                        </a:rPr>
                        <a:t>0.9273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0.0029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0.0469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0.0537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0.7555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0.0342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0.1470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0.1850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23.07.11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0.9329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0.0188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0.1370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0.7992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0.1827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0.3313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0.4275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>
                          <a:solidFill>
                            <a:schemeClr val="tx1"/>
                          </a:solidFill>
                        </a:rPr>
                        <a:t>24.07.23</a:t>
                      </a:r>
                      <a:endParaRPr lang="ko-KR" altLang="en-US" sz="12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altLang="ko-KR" sz="1200" b="0" dirty="0">
                          <a:solidFill>
                            <a:srgbClr val="FF0000"/>
                          </a:solidFill>
                        </a:rPr>
                        <a:t>0.6838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0.0256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0.1009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0.1599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0.1336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0.0412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0.1724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0.2030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25.07.16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rgbClr val="FF0000"/>
                          </a:solidFill>
                        </a:rPr>
                        <a:t>0.4005</a:t>
                      </a:r>
                      <a:endParaRPr lang="ko-KR" alt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0.0601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0.1829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0.2452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0.8864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0.0525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0.1855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0.2291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1" dirty="0"/>
                        <a:t>25.08.14</a:t>
                      </a:r>
                      <a:endParaRPr lang="ko-KR" altLang="en-US" sz="120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pt-BR" altLang="ko-KR" sz="1200" dirty="0">
                          <a:solidFill>
                            <a:schemeClr val="tx1"/>
                          </a:solidFill>
                        </a:rPr>
                        <a:t>0.8120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0.0133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0.0815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0.1151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0.8356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0.0571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0.1902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200" b="0" dirty="0">
                          <a:solidFill>
                            <a:schemeClr val="tx1"/>
                          </a:solidFill>
                        </a:rPr>
                        <a:t>0.2389</a:t>
                      </a:r>
                      <a:endParaRPr lang="ko-KR" alt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2" name="직사각형 1">
            <a:extLst>
              <a:ext uri="{FF2B5EF4-FFF2-40B4-BE49-F238E27FC236}">
                <a16:creationId xmlns:a16="http://schemas.microsoft.com/office/drawing/2014/main" id="{7C7C8689-51FA-4BB5-B8CA-1248B18E2970}"/>
              </a:ext>
            </a:extLst>
          </p:cNvPr>
          <p:cNvSpPr/>
          <p:nvPr/>
        </p:nvSpPr>
        <p:spPr>
          <a:xfrm>
            <a:off x="3898793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4" name="직사각형 33">
            <a:extLst>
              <a:ext uri="{FF2B5EF4-FFF2-40B4-BE49-F238E27FC236}">
                <a16:creationId xmlns:a16="http://schemas.microsoft.com/office/drawing/2014/main" id="{EEC25476-1371-400F-91BE-B1C9E332F971}"/>
              </a:ext>
            </a:extLst>
          </p:cNvPr>
          <p:cNvSpPr/>
          <p:nvPr/>
        </p:nvSpPr>
        <p:spPr>
          <a:xfrm>
            <a:off x="1274827" y="3784307"/>
            <a:ext cx="660400" cy="259363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9424AF4-E4E9-44A8-8F54-657D9E6CBF3F}"/>
              </a:ext>
            </a:extLst>
          </p:cNvPr>
          <p:cNvSpPr txBox="1"/>
          <p:nvPr/>
        </p:nvSpPr>
        <p:spPr>
          <a:xfrm>
            <a:off x="499533" y="1389410"/>
            <a:ext cx="9037995" cy="142999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bg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?</a:t>
            </a:r>
            <a:endParaRPr lang="en-US" altLang="ko-KR" sz="1400" b="1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093B28-921A-4568-88EC-560FB8A1325A}"/>
              </a:ext>
            </a:extLst>
          </p:cNvPr>
          <p:cNvSpPr txBox="1"/>
          <p:nvPr/>
        </p:nvSpPr>
        <p:spPr>
          <a:xfrm>
            <a:off x="7111047" y="2958088"/>
            <a:ext cx="3297682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altLang="ko-KR" sz="1050" b="1" dirty="0">
                <a:solidFill>
                  <a:schemeClr val="tx2"/>
                </a:solidFill>
              </a:rPr>
              <a:t>+)  1</a:t>
            </a:r>
            <a:r>
              <a:rPr lang="ko-KR" altLang="en-US" sz="1050" b="1" dirty="0">
                <a:solidFill>
                  <a:schemeClr val="tx2"/>
                </a:solidFill>
              </a:rPr>
              <a:t>시간 뒤 </a:t>
            </a:r>
            <a:r>
              <a:rPr lang="en-US" altLang="ko-KR" sz="1050" b="1" dirty="0">
                <a:solidFill>
                  <a:schemeClr val="tx2"/>
                </a:solidFill>
              </a:rPr>
              <a:t>, 3</a:t>
            </a:r>
            <a:r>
              <a:rPr lang="ko-KR" altLang="en-US" sz="1050" b="1" dirty="0">
                <a:solidFill>
                  <a:schemeClr val="tx2"/>
                </a:solidFill>
              </a:rPr>
              <a:t>시간 뒤 시점 예측 결과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( </a:t>
            </a:r>
            <a:r>
              <a:rPr lang="ko-KR" altLang="en-US" sz="1050" b="1" dirty="0">
                <a:solidFill>
                  <a:schemeClr val="tx2"/>
                </a:solidFill>
              </a:rPr>
              <a:t>정확도</a:t>
            </a:r>
            <a:r>
              <a:rPr lang="en-US" altLang="ko-KR" sz="1050" b="1" dirty="0">
                <a:solidFill>
                  <a:schemeClr val="tx2"/>
                </a:solidFill>
              </a:rPr>
              <a:t> )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graphicFrame>
        <p:nvGraphicFramePr>
          <p:cNvPr id="11" name="표 10">
            <a:extLst>
              <a:ext uri="{FF2B5EF4-FFF2-40B4-BE49-F238E27FC236}">
                <a16:creationId xmlns:a16="http://schemas.microsoft.com/office/drawing/2014/main" id="{2C5116E3-D4CD-495A-AE8E-84AF6748AEF2}"/>
              </a:ext>
            </a:extLst>
          </p:cNvPr>
          <p:cNvGraphicFramePr>
            <a:graphicFrameLocks noGrp="1"/>
          </p:cNvGraphicFramePr>
          <p:nvPr>
            <p:extLst/>
          </p:nvPr>
        </p:nvGraphicFramePr>
        <p:xfrm>
          <a:off x="7111047" y="3429248"/>
          <a:ext cx="4560572" cy="2948940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1140143">
                  <a:extLst>
                    <a:ext uri="{9D8B030D-6E8A-4147-A177-3AD203B41FA5}">
                      <a16:colId xmlns:a16="http://schemas.microsoft.com/office/drawing/2014/main" val="1847759405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10044396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3342593832"/>
                    </a:ext>
                  </a:extLst>
                </a:gridCol>
                <a:gridCol w="1140143">
                  <a:extLst>
                    <a:ext uri="{9D8B030D-6E8A-4147-A177-3AD203B41FA5}">
                      <a16:colId xmlns:a16="http://schemas.microsoft.com/office/drawing/2014/main" val="783519574"/>
                    </a:ext>
                  </a:extLst>
                </a:gridCol>
              </a:tblGrid>
              <a:tr h="353060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/>
                        <a:t>궁내교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err="1">
                          <a:solidFill>
                            <a:schemeClr val="bg1"/>
                          </a:solidFill>
                        </a:rPr>
                        <a:t>대곡교</a:t>
                      </a:r>
                      <a:endParaRPr lang="ko-KR" altLang="en-US" sz="11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200" b="1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892646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1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050" b="1" dirty="0"/>
                        <a:t>3</a:t>
                      </a:r>
                      <a:r>
                        <a:rPr lang="ko-KR" altLang="en-US" sz="1050" b="1" dirty="0"/>
                        <a:t>시간</a:t>
                      </a:r>
                      <a:endParaRPr lang="pt-BR" altLang="ko-KR" sz="1050" b="1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711457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108469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7434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86075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96286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9460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  <a:endParaRPr kumimoji="0" lang="pt-BR" altLang="ko-KR" sz="11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0</a:t>
                      </a:r>
                      <a:r>
                        <a:rPr kumimoji="0" lang="pt-BR" altLang="ko-KR" sz="11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/>
                          <a:ea typeface="맑은 고딕" panose="020B0503020000020004" pitchFamily="50" charset="-127"/>
                          <a:cs typeface="+mn-cs"/>
                        </a:rPr>
                        <a:t> ( 0% )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67107547"/>
                  </a:ext>
                </a:extLst>
              </a:tr>
            </a:tbl>
          </a:graphicData>
        </a:graphic>
      </p:graphicFrame>
      <p:sp>
        <p:nvSpPr>
          <p:cNvPr id="12" name="TextBox 11">
            <a:extLst>
              <a:ext uri="{FF2B5EF4-FFF2-40B4-BE49-F238E27FC236}">
                <a16:creationId xmlns:a16="http://schemas.microsoft.com/office/drawing/2014/main" id="{9F3FC340-37AD-4DE7-83A2-71EA83CC6186}"/>
              </a:ext>
            </a:extLst>
          </p:cNvPr>
          <p:cNvSpPr txBox="1"/>
          <p:nvPr/>
        </p:nvSpPr>
        <p:spPr>
          <a:xfrm>
            <a:off x="7111047" y="6378188"/>
            <a:ext cx="4810019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ko-KR" altLang="en-US" sz="1050" b="1" dirty="0">
                <a:solidFill>
                  <a:schemeClr val="tx2"/>
                </a:solidFill>
              </a:rPr>
              <a:t>예측수위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오차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3 </a:t>
            </a:r>
            <a:r>
              <a:rPr lang="ko-KR" altLang="en-US" sz="1050" b="1" dirty="0">
                <a:solidFill>
                  <a:schemeClr val="tx2"/>
                </a:solidFill>
              </a:rPr>
              <a:t>자리 반올림 </a:t>
            </a:r>
            <a:r>
              <a:rPr lang="en-US" altLang="ko-KR" sz="1050" b="1" dirty="0">
                <a:solidFill>
                  <a:schemeClr val="tx2"/>
                </a:solidFill>
              </a:rPr>
              <a:t>, </a:t>
            </a:r>
            <a:r>
              <a:rPr lang="ko-KR" altLang="en-US" sz="1050" b="1" dirty="0">
                <a:solidFill>
                  <a:schemeClr val="tx2"/>
                </a:solidFill>
              </a:rPr>
              <a:t>정확도 </a:t>
            </a:r>
            <a:r>
              <a:rPr lang="en-US" altLang="ko-KR" sz="1050" b="1" dirty="0">
                <a:solidFill>
                  <a:schemeClr val="tx2"/>
                </a:solidFill>
              </a:rPr>
              <a:t>: </a:t>
            </a:r>
            <a:r>
              <a:rPr lang="ko-KR" altLang="en-US" sz="1050" b="1" dirty="0">
                <a:solidFill>
                  <a:schemeClr val="tx2"/>
                </a:solidFill>
              </a:rPr>
              <a:t>소수 </a:t>
            </a:r>
            <a:r>
              <a:rPr lang="en-US" altLang="ko-KR" sz="1050" b="1" dirty="0">
                <a:solidFill>
                  <a:schemeClr val="tx2"/>
                </a:solidFill>
              </a:rPr>
              <a:t>2</a:t>
            </a:r>
            <a:r>
              <a:rPr lang="ko-KR" altLang="en-US" sz="1050" b="1" dirty="0">
                <a:solidFill>
                  <a:schemeClr val="tx2"/>
                </a:solidFill>
              </a:rPr>
              <a:t> 자리에서 반올림</a:t>
            </a:r>
            <a:endParaRPr lang="ko-KR" altLang="en-US" sz="1050" b="1" dirty="0">
              <a:solidFill>
                <a:schemeClr val="tx2"/>
              </a:solidFill>
              <a:latin typeface="+mj-ea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5957C99-B037-494E-8A6A-CDEB61D410BD}"/>
              </a:ext>
            </a:extLst>
          </p:cNvPr>
          <p:cNvSpPr txBox="1"/>
          <p:nvPr/>
        </p:nvSpPr>
        <p:spPr>
          <a:xfrm>
            <a:off x="-171538" y="2873421"/>
            <a:ext cx="6911003" cy="41910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360000" tIns="216000" rtlCol="0" anchor="t"/>
          <a:lstStyle>
            <a:defPPr>
              <a:defRPr lang="en-US"/>
            </a:defPPr>
            <a:lvl1pPr marL="363538" indent="-188913" defTabSz="1166646" eaLnBrk="0" hangingPunct="0">
              <a:spcAft>
                <a:spcPts val="526"/>
              </a:spcAft>
              <a:buSzPct val="100000"/>
              <a:buBlip>
                <a:blip r:embed="rId2"/>
              </a:buBlip>
              <a:defRPr sz="1400" b="1" kern="0" spc="-88">
                <a:ln>
                  <a:solidFill>
                    <a:srgbClr val="44546A">
                      <a:lumMod val="60000"/>
                      <a:lumOff val="40000"/>
                      <a:alpha val="0"/>
                    </a:srgbClr>
                  </a:solidFill>
                </a:ln>
                <a:solidFill>
                  <a:schemeClr val="accent1">
                    <a:lumMod val="50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marL="174625" indent="0">
              <a:buNone/>
            </a:pPr>
            <a:r>
              <a:rPr lang="ko-KR" altLang="en-US" dirty="0"/>
              <a:t>기본 모델 대비 평균 </a:t>
            </a:r>
            <a:r>
              <a:rPr lang="en-US" altLang="ko-KR" dirty="0"/>
              <a:t>R2   :  </a:t>
            </a:r>
            <a:r>
              <a:rPr lang="ko-KR" altLang="en-US" dirty="0" err="1"/>
              <a:t>궁내교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% )  ,  </a:t>
            </a:r>
            <a:r>
              <a:rPr lang="ko-KR" altLang="en-US" dirty="0" err="1"/>
              <a:t>대곡교</a:t>
            </a:r>
            <a:r>
              <a:rPr lang="ko-KR" altLang="en-US" dirty="0"/>
              <a:t> </a:t>
            </a:r>
            <a:r>
              <a:rPr lang="ko-KR" altLang="en-US" dirty="0">
                <a:solidFill>
                  <a:srgbClr val="FF0000"/>
                </a:solidFill>
              </a:rPr>
              <a:t>▼ 저하  </a:t>
            </a:r>
            <a:r>
              <a:rPr lang="en-US" altLang="ko-KR" dirty="0"/>
              <a:t>( - % ) </a:t>
            </a:r>
            <a:endParaRPr lang="en-US" altLang="ko-KR" dirty="0">
              <a:solidFill>
                <a:schemeClr val="bg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A887C720-76AB-428A-ADCA-873E9B8CE3FB}"/>
              </a:ext>
            </a:extLst>
          </p:cNvPr>
          <p:cNvSpPr/>
          <p:nvPr/>
        </p:nvSpPr>
        <p:spPr>
          <a:xfrm>
            <a:off x="6739465" y="2573867"/>
            <a:ext cx="5452535" cy="4284133"/>
          </a:xfrm>
          <a:prstGeom prst="rect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accent5"/>
                </a:solidFill>
              </a:rPr>
              <a:t>오차</a:t>
            </a:r>
          </a:p>
        </p:txBody>
      </p:sp>
    </p:spTree>
    <p:extLst>
      <p:ext uri="{BB962C8B-B14F-4D97-AF65-F5344CB8AC3E}">
        <p14:creationId xmlns:p14="http://schemas.microsoft.com/office/powerpoint/2010/main" val="169308570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Box 19">
            <a:extLst>
              <a:ext uri="{FF2B5EF4-FFF2-40B4-BE49-F238E27FC236}">
                <a16:creationId xmlns:a16="http://schemas.microsoft.com/office/drawing/2014/main" id="{3EE75E94-8FB8-4A98-A686-35BD1C52C7C5}"/>
              </a:ext>
            </a:extLst>
          </p:cNvPr>
          <p:cNvSpPr txBox="1"/>
          <p:nvPr/>
        </p:nvSpPr>
        <p:spPr>
          <a:xfrm>
            <a:off x="270933" y="230419"/>
            <a:ext cx="5689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rgbClr val="FF0000"/>
                </a:solidFill>
                <a:latin typeface="+mj-ea"/>
              </a:rPr>
              <a:t>궁내교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9883" y="689483"/>
            <a:ext cx="3227450" cy="542588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689402"/>
            <a:ext cx="3227450" cy="5510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21949"/>
            <a:ext cx="3227450" cy="549525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FC6DAE30-9462-4ECD-ACBF-CFEBE398D72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0.8120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0.4005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>
                  <a:solidFill>
                    <a:srgbClr val="FF0000"/>
                  </a:solidFill>
                </a:rPr>
                <a:t>0.6838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52520" y="1280084"/>
            <a:ext cx="3159109" cy="1263644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82617" y="3273072"/>
            <a:ext cx="3227149" cy="12908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5778" y="5302821"/>
            <a:ext cx="3233529" cy="1293412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716172"/>
            <a:ext cx="3227450" cy="492774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2227"/>
            <a:ext cx="3227450" cy="50539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5885"/>
            <a:ext cx="3227450" cy="501653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3" y="1280084"/>
            <a:ext cx="3159109" cy="1263644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2564" y="3286680"/>
            <a:ext cx="3159109" cy="1263644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5313745"/>
            <a:ext cx="3178909" cy="1271564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CACBA84A-C766-4A99-A258-0B20ABAE2B3F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0.9329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0.9273</a:t>
              </a:r>
              <a:endParaRPr lang="ko-KR" altLang="en-US" sz="1200" b="1" dirty="0">
                <a:solidFill>
                  <a:srgbClr val="FF0000"/>
                </a:solidFill>
              </a:endParaRP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0.9541</a:t>
              </a:r>
              <a:endParaRPr lang="ko-KR" altLang="en-US" sz="12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6985046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그림 43">
            <a:extLst>
              <a:ext uri="{FF2B5EF4-FFF2-40B4-BE49-F238E27FC236}">
                <a16:creationId xmlns:a16="http://schemas.microsoft.com/office/drawing/2014/main" id="{B677A664-900B-45EC-B7ED-FED2250F1E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707985"/>
            <a:ext cx="3227450" cy="493143"/>
          </a:xfrm>
          <a:prstGeom prst="rect">
            <a:avLst/>
          </a:prstGeom>
        </p:spPr>
      </p:pic>
      <p:pic>
        <p:nvPicPr>
          <p:cNvPr id="45" name="그림 44">
            <a:extLst>
              <a:ext uri="{FF2B5EF4-FFF2-40B4-BE49-F238E27FC236}">
                <a16:creationId xmlns:a16="http://schemas.microsoft.com/office/drawing/2014/main" id="{12E4B6C2-35C2-4C27-9869-ABC58B1417C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3" y="2716152"/>
            <a:ext cx="3227450" cy="497547"/>
          </a:xfrm>
          <a:prstGeom prst="rect">
            <a:avLst/>
          </a:prstGeom>
        </p:spPr>
      </p:pic>
      <p:pic>
        <p:nvPicPr>
          <p:cNvPr id="46" name="그림 45">
            <a:extLst>
              <a:ext uri="{FF2B5EF4-FFF2-40B4-BE49-F238E27FC236}">
                <a16:creationId xmlns:a16="http://schemas.microsoft.com/office/drawing/2014/main" id="{06F1A1F7-B882-4681-B942-265A6276DF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69262" y="4747938"/>
            <a:ext cx="3227450" cy="497547"/>
          </a:xfrm>
          <a:prstGeom prst="rect">
            <a:avLst/>
          </a:prstGeom>
        </p:spPr>
      </p:pic>
      <p:grpSp>
        <p:nvGrpSpPr>
          <p:cNvPr id="6" name="그룹 5">
            <a:extLst>
              <a:ext uri="{FF2B5EF4-FFF2-40B4-BE49-F238E27FC236}">
                <a16:creationId xmlns:a16="http://schemas.microsoft.com/office/drawing/2014/main" id="{A633956A-1F30-42A6-9C2E-8AC72E68C8A0}"/>
              </a:ext>
            </a:extLst>
          </p:cNvPr>
          <p:cNvGrpSpPr/>
          <p:nvPr/>
        </p:nvGrpSpPr>
        <p:grpSpPr>
          <a:xfrm>
            <a:off x="6465564" y="1473154"/>
            <a:ext cx="1391446" cy="4647191"/>
            <a:chOff x="6465564" y="1473154"/>
            <a:chExt cx="1391446" cy="4647191"/>
          </a:xfrm>
        </p:grpSpPr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6FA255B5-0345-410B-80F9-2AFF909E4C46}"/>
                </a:ext>
              </a:extLst>
            </p:cNvPr>
            <p:cNvSpPr txBox="1"/>
            <p:nvPr/>
          </p:nvSpPr>
          <p:spPr>
            <a:xfrm>
              <a:off x="6465564" y="5503969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testdata_250814</a:t>
              </a:r>
              <a:endParaRPr lang="ko-KR" altLang="en-US" sz="1200" b="1" dirty="0"/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3749A747-00BF-4A4A-A0D9-CB38768F9B9A}"/>
                </a:ext>
              </a:extLst>
            </p:cNvPr>
            <p:cNvSpPr txBox="1"/>
            <p:nvPr/>
          </p:nvSpPr>
          <p:spPr>
            <a:xfrm>
              <a:off x="6465564" y="3478697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250716</a:t>
              </a:r>
              <a:endParaRPr lang="ko-KR" altLang="en-US" sz="1200" b="1" dirty="0"/>
            </a:p>
          </p:txBody>
        </p: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83780478-A6EF-4462-AD5A-1F9DE5B39403}"/>
                </a:ext>
              </a:extLst>
            </p:cNvPr>
            <p:cNvSpPr txBox="1"/>
            <p:nvPr/>
          </p:nvSpPr>
          <p:spPr>
            <a:xfrm>
              <a:off x="6472432" y="147315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240723</a:t>
              </a:r>
              <a:endParaRPr lang="ko-KR" altLang="en-US" sz="1200" b="1" dirty="0"/>
            </a:p>
          </p:txBody>
        </p: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CD13AD81-9D77-4840-BEEF-57179F7C5A87}"/>
                </a:ext>
              </a:extLst>
            </p:cNvPr>
            <p:cNvSpPr txBox="1"/>
            <p:nvPr/>
          </p:nvSpPr>
          <p:spPr>
            <a:xfrm>
              <a:off x="6465564" y="5843346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0.8356</a:t>
              </a:r>
              <a:endParaRPr lang="ko-KR" altLang="en-US" sz="1200" b="1" dirty="0"/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9A42ED54-E154-45FD-9E22-F3DB582A0E2E}"/>
                </a:ext>
              </a:extLst>
            </p:cNvPr>
            <p:cNvSpPr txBox="1"/>
            <p:nvPr/>
          </p:nvSpPr>
          <p:spPr>
            <a:xfrm>
              <a:off x="6465564" y="3818074"/>
              <a:ext cx="138457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/>
                <a:t>0.8864</a:t>
              </a:r>
              <a:endParaRPr lang="ko-KR" altLang="en-US" sz="1200" b="1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DFE82EB6-8861-41EE-940F-7D3C39D3265A}"/>
                </a:ext>
              </a:extLst>
            </p:cNvPr>
            <p:cNvSpPr txBox="1"/>
            <p:nvPr/>
          </p:nvSpPr>
          <p:spPr>
            <a:xfrm>
              <a:off x="6472432" y="1812531"/>
              <a:ext cx="1384578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0.1336</a:t>
              </a:r>
              <a:endParaRPr lang="pt-BR" altLang="ko-KR" sz="1200" dirty="0"/>
            </a:p>
            <a:p>
              <a:pPr algn="ctr" latinLnBrk="1"/>
              <a:endParaRPr lang="ko-KR" altLang="en-US" sz="1200" b="1" dirty="0"/>
            </a:p>
          </p:txBody>
        </p:sp>
      </p:grpSp>
      <p:pic>
        <p:nvPicPr>
          <p:cNvPr id="2" name="그림 1">
            <a:extLst>
              <a:ext uri="{FF2B5EF4-FFF2-40B4-BE49-F238E27FC236}">
                <a16:creationId xmlns:a16="http://schemas.microsoft.com/office/drawing/2014/main" id="{B0427AF8-A21B-40FF-AA58-919893C336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3" y="1267108"/>
            <a:ext cx="3192889" cy="1277156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C8E7FF9E-DE29-4AC0-8F82-3948FDDFEB1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38384" y="3279925"/>
            <a:ext cx="3192887" cy="127715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DA0938AC-6E22-4385-9FDE-48F6D147DC7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03824" y="5310950"/>
            <a:ext cx="3192887" cy="1277155"/>
          </a:xfrm>
          <a:prstGeom prst="rect">
            <a:avLst/>
          </a:prstGeom>
        </p:spPr>
      </p:pic>
      <p:pic>
        <p:nvPicPr>
          <p:cNvPr id="35" name="그림 34">
            <a:extLst>
              <a:ext uri="{FF2B5EF4-FFF2-40B4-BE49-F238E27FC236}">
                <a16:creationId xmlns:a16="http://schemas.microsoft.com/office/drawing/2014/main" id="{73A9FA09-4C55-4047-B157-8A89D4BA73F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27591" y="716406"/>
            <a:ext cx="3227450" cy="488741"/>
          </a:xfrm>
          <a:prstGeom prst="rect">
            <a:avLst/>
          </a:prstGeom>
        </p:spPr>
      </p:pic>
      <p:pic>
        <p:nvPicPr>
          <p:cNvPr id="37" name="그림 36">
            <a:extLst>
              <a:ext uri="{FF2B5EF4-FFF2-40B4-BE49-F238E27FC236}">
                <a16:creationId xmlns:a16="http://schemas.microsoft.com/office/drawing/2014/main" id="{9FB5B3B8-D3C4-426E-A3EB-702A5203B4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44223" y="2716152"/>
            <a:ext cx="3227450" cy="497547"/>
          </a:xfrm>
          <a:prstGeom prst="rect">
            <a:avLst/>
          </a:prstGeom>
        </p:spPr>
      </p:pic>
      <p:pic>
        <p:nvPicPr>
          <p:cNvPr id="38" name="그림 37">
            <a:extLst>
              <a:ext uri="{FF2B5EF4-FFF2-40B4-BE49-F238E27FC236}">
                <a16:creationId xmlns:a16="http://schemas.microsoft.com/office/drawing/2014/main" id="{6006C84D-618D-4489-8E29-C63A6FBD5D6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09662" y="4747938"/>
            <a:ext cx="3227450" cy="497547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B9D11161-F507-458B-AD75-9380CEEBB71E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1273328"/>
            <a:ext cx="3192889" cy="1277156"/>
          </a:xfrm>
          <a:prstGeom prst="rect">
            <a:avLst/>
          </a:prstGeom>
        </p:spPr>
      </p:pic>
      <p:pic>
        <p:nvPicPr>
          <p:cNvPr id="40" name="그림 39">
            <a:extLst>
              <a:ext uri="{FF2B5EF4-FFF2-40B4-BE49-F238E27FC236}">
                <a16:creationId xmlns:a16="http://schemas.microsoft.com/office/drawing/2014/main" id="{6992310A-AF00-4935-B2D8-4BBC37A613DE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3279924"/>
            <a:ext cx="3192889" cy="1277156"/>
          </a:xfrm>
          <a:prstGeom prst="rect">
            <a:avLst/>
          </a:prstGeom>
        </p:spPr>
      </p:pic>
      <p:pic>
        <p:nvPicPr>
          <p:cNvPr id="42" name="그림 41">
            <a:extLst>
              <a:ext uri="{FF2B5EF4-FFF2-40B4-BE49-F238E27FC236}">
                <a16:creationId xmlns:a16="http://schemas.microsoft.com/office/drawing/2014/main" id="{5414DBF1-66B4-428D-8122-CBEC2AC62B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57278" y="5310949"/>
            <a:ext cx="3192889" cy="1277156"/>
          </a:xfrm>
          <a:prstGeom prst="rect">
            <a:avLst/>
          </a:prstGeom>
        </p:spPr>
      </p:pic>
      <p:grpSp>
        <p:nvGrpSpPr>
          <p:cNvPr id="5" name="그룹 4">
            <a:extLst>
              <a:ext uri="{FF2B5EF4-FFF2-40B4-BE49-F238E27FC236}">
                <a16:creationId xmlns:a16="http://schemas.microsoft.com/office/drawing/2014/main" id="{037FCAF9-66BE-4633-BC24-599FA03657E0}"/>
              </a:ext>
            </a:extLst>
          </p:cNvPr>
          <p:cNvGrpSpPr/>
          <p:nvPr/>
        </p:nvGrpSpPr>
        <p:grpSpPr>
          <a:xfrm>
            <a:off x="668867" y="1566310"/>
            <a:ext cx="1290420" cy="4587791"/>
            <a:chOff x="668867" y="1566310"/>
            <a:chExt cx="1290420" cy="4587791"/>
          </a:xfrm>
        </p:grpSpPr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DFE13151-BA46-4219-A32A-22942F00BBFD}"/>
                </a:ext>
              </a:extLst>
            </p:cNvPr>
            <p:cNvSpPr txBox="1"/>
            <p:nvPr/>
          </p:nvSpPr>
          <p:spPr>
            <a:xfrm>
              <a:off x="668867" y="5537725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testdata_230711</a:t>
              </a:r>
              <a:endParaRPr lang="ko-KR" altLang="en-US" sz="1200" b="1" dirty="0"/>
            </a:p>
          </p:txBody>
        </p:sp>
        <p:sp>
          <p:nvSpPr>
            <p:cNvPr id="54" name="TextBox 53">
              <a:extLst>
                <a:ext uri="{FF2B5EF4-FFF2-40B4-BE49-F238E27FC236}">
                  <a16:creationId xmlns:a16="http://schemas.microsoft.com/office/drawing/2014/main" id="{ADEB3EAB-0072-4095-8733-FFDDAD956D2E}"/>
                </a:ext>
              </a:extLst>
            </p:cNvPr>
            <p:cNvSpPr txBox="1"/>
            <p:nvPr/>
          </p:nvSpPr>
          <p:spPr>
            <a:xfrm>
              <a:off x="672354" y="35521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220712</a:t>
              </a:r>
              <a:endParaRPr lang="ko-KR" altLang="en-US" sz="1200" b="1" dirty="0"/>
            </a:p>
          </p:txBody>
        </p:sp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800CA63C-8DB7-46FE-A1FF-5C3332D9E9F6}"/>
                </a:ext>
              </a:extLst>
            </p:cNvPr>
            <p:cNvSpPr txBox="1"/>
            <p:nvPr/>
          </p:nvSpPr>
          <p:spPr>
            <a:xfrm>
              <a:off x="668867" y="1566310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 err="1"/>
                <a:t>testdata</a:t>
              </a:r>
              <a:r>
                <a:rPr lang="en-US" altLang="ko-KR" sz="1200" b="1" dirty="0"/>
                <a:t>_ 200802</a:t>
              </a:r>
              <a:endParaRPr lang="ko-KR" altLang="en-US" sz="1200" b="1" dirty="0"/>
            </a:p>
          </p:txBody>
        </p:sp>
        <p:sp>
          <p:nvSpPr>
            <p:cNvPr id="56" name="TextBox 55">
              <a:extLst>
                <a:ext uri="{FF2B5EF4-FFF2-40B4-BE49-F238E27FC236}">
                  <a16:creationId xmlns:a16="http://schemas.microsoft.com/office/drawing/2014/main" id="{F471D7EC-A786-472B-86DD-C4736DB62A39}"/>
                </a:ext>
              </a:extLst>
            </p:cNvPr>
            <p:cNvSpPr txBox="1"/>
            <p:nvPr/>
          </p:nvSpPr>
          <p:spPr>
            <a:xfrm>
              <a:off x="668867" y="5877102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0.7992</a:t>
              </a:r>
              <a:endParaRPr lang="ko-KR" altLang="en-US" sz="1200" b="1" dirty="0"/>
            </a:p>
          </p:txBody>
        </p: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CD3DAA8C-A351-4E6A-A57B-AB46DE11A446}"/>
                </a:ext>
              </a:extLst>
            </p:cNvPr>
            <p:cNvSpPr txBox="1"/>
            <p:nvPr/>
          </p:nvSpPr>
          <p:spPr>
            <a:xfrm>
              <a:off x="672354" y="38914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en-US" altLang="ko-KR" sz="1200" dirty="0">
                  <a:solidFill>
                    <a:srgbClr val="FF0000"/>
                  </a:solidFill>
                </a:rPr>
                <a:t>0.7555</a:t>
              </a:r>
              <a:endParaRPr lang="ko-KR" altLang="en-US" sz="1200" b="1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3BFEBD7-87B5-494C-9DF1-3F7DF03D47F4}"/>
                </a:ext>
              </a:extLst>
            </p:cNvPr>
            <p:cNvSpPr txBox="1"/>
            <p:nvPr/>
          </p:nvSpPr>
          <p:spPr>
            <a:xfrm>
              <a:off x="668867" y="1905687"/>
              <a:ext cx="12869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latinLnBrk="1"/>
              <a:r>
                <a:rPr lang="en-US" altLang="ko-KR" sz="1200" b="1" dirty="0"/>
                <a:t>R2 : </a:t>
              </a:r>
              <a:r>
                <a:rPr lang="pt-BR" altLang="ko-KR" sz="1200" dirty="0"/>
                <a:t>0.8737</a:t>
              </a:r>
              <a:endParaRPr lang="ko-KR" altLang="en-US" sz="1200" b="1" dirty="0"/>
            </a:p>
          </p:txBody>
        </p:sp>
      </p:grpSp>
      <p:sp>
        <p:nvSpPr>
          <p:cNvPr id="29" name="TextBox 28">
            <a:extLst>
              <a:ext uri="{FF2B5EF4-FFF2-40B4-BE49-F238E27FC236}">
                <a16:creationId xmlns:a16="http://schemas.microsoft.com/office/drawing/2014/main" id="{299677C7-71CB-488B-B73B-00A215738C6E}"/>
              </a:ext>
            </a:extLst>
          </p:cNvPr>
          <p:cNvSpPr txBox="1"/>
          <p:nvPr/>
        </p:nvSpPr>
        <p:spPr>
          <a:xfrm>
            <a:off x="270933" y="230419"/>
            <a:ext cx="78996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000" b="1" dirty="0" err="1">
                <a:solidFill>
                  <a:schemeClr val="accent5"/>
                </a:solidFill>
                <a:latin typeface="+mj-ea"/>
              </a:rPr>
              <a:t>대곡교</a:t>
            </a:r>
            <a:r>
              <a:rPr lang="ko-KR" altLang="en-US" sz="2000" b="1" dirty="0">
                <a:solidFill>
                  <a:srgbClr val="FF0000"/>
                </a:solidFill>
                <a:latin typeface="+mj-ea"/>
                <a:ea typeface="+mj-ea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8520277"/>
      </p:ext>
    </p:extLst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10065</TotalTime>
  <Words>2696</Words>
  <Application>Microsoft Office PowerPoint</Application>
  <PresentationFormat>와이드스크린</PresentationFormat>
  <Paragraphs>881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33" baseType="lpstr">
      <vt:lpstr>나눔고딕</vt:lpstr>
      <vt:lpstr>맑은 고딕</vt:lpstr>
      <vt:lpstr>Arial</vt:lpstr>
      <vt:lpstr>Calibri</vt:lpstr>
      <vt:lpstr>Calibri Light</vt:lpstr>
      <vt:lpstr>Wingdings 2</vt:lpstr>
      <vt:lpstr>HDOfficeLightV0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magpie</dc:creator>
  <cp:lastModifiedBy>magpie</cp:lastModifiedBy>
  <cp:revision>1324</cp:revision>
  <dcterms:created xsi:type="dcterms:W3CDTF">2025-11-18T00:02:37Z</dcterms:created>
  <dcterms:modified xsi:type="dcterms:W3CDTF">2026-01-30T07:02:53Z</dcterms:modified>
</cp:coreProperties>
</file>